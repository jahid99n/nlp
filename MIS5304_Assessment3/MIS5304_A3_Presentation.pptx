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Good morning. In 2022 and 2023, three of Australia’s biggest data breaches exposed the details of millions of customers. My argument today is simple: in at least one case, the security tools raised the alarm. The failure was in what happened next. I’ll show what went wrong, which investigation tools actually help, and four actions I recommend for 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threat is growing. ASD responded to over 1,200 incidents last year, up 11%, and warned organisations of malicious activity 83% more often. The three breaches I’m looking at affected roughly 9.5 million, 9.7 million and 14 million records. Two now face civil penalty action by the privacy regulator, and Latitude reported about 76 million dollars in costs. This is a board-level financial and legal risk, not just an IT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Each breach failed differently. At Optus, the regulator alleges a coding error left an old, internet-facing system unprotected for years. At Medibank, a contractor’s stolen login worked on the VPN because there was no multi-factor authentication. At Latitude, attackers got in through a vendor’s credentials and reached customer records going back to 2005. Note that these are allegations or reported facts; Latitude’s investigation is still open. I don’t claim any company used a particular tool unless a source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This is the most important slide. According to the regulator, the attacker’s activity triggered alerts on 24 and 25 August. Those alerts landed in an inbox and weren’t acted on. The attacker then took about 520 gigabytes over seven weeks, and the incident was only triaged on 11 October. So buying more technology would not have solved this. Someone had to own the alerts. Research shows analysts see most alerts as false alarms, so without good tuning and clear ownership, real alerts get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Here are the four tool types in plain terms. SIEM is the central log system: broad coverage, but expensive and only as accurate as its tuning. EDR watches devices and can isolate them fast, but it can’t see systems it isn’t installed on, like an exposed API or a contractor’s personal laptop. Forensics tools explain what happened and who must be notified, but the skills are rare, so most organisations keep a firm on retainer. Threat intelligence is useful, but only once the basics work. My conclusion: SIEM plus EDR is the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I mapped the tools to the NIST Cybersecurity Framework, which many Australian organisations use. The tools cover detect and respond well. But look at the first column, Govern: no tool covers it. Governance means deciding who owns alerts, what risk we accept, and funding basics like multi-factor authentication. That is the board’s job. NIST’s 2025 incident response guidance makes the same point: response is part of everyday risk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On the left are facts from regulators and official reporting. On the right is my own analysis. For Optus, knowing every system exposed to the internet, and testing it, would probably have found the weak API. For Medibank, multi-factor authentication and clear ownership of alerts would likely have stopped or shortened the attack. For Latitude, watching vendor accounts for unusual behaviour, and deleting data no longer needed, would have reduced the impact. The pattern: these were problems of visibility, identity and ownership, more than missing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Four trends. First, AI: attackers use it for scams, and defenders can use it to sort alerts, but its findings must be explainable if they end up in court. Second, identity: stolen logins and vendor access mean investigations now depend on identity and cloud logs, which are often only kept briefly. Third, regulation: ransomware payments must now be reported within 72 hours, and individuals can sue for serious invasions of privacy. Fourth, the skills shortage means most organisations will need a managed monitoring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My four recommendations, in priority order. First, and cheapest: make someone accountable for every alert, and enforce multi-factor authentication on remote access. This directly addresses Medibank. Second, connect SIEM and EDR so identity, cloud, API and device logs are watched together, which addresses the Optus and Latitude patterns. Third, be ready to investigate: keep a forensics firm on retainer, keep logs long enough, and rehearse. Fourth, only then add threat intelligence. Each has an owner and timeframe, and the investment levels can be turned into dollar figures using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To close, three questions any executive can ask on Monday. Who owns our alerts at 2 am on a Sunday? Does every remote login, including contractors and vendors, need multi-factor authentication? And if we were breached today, could we tell regulators quickly what was taken? The bottom line: tools matter, but ownership, identity controls and readiness matter more.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640080" y="731520"/>
            <a:ext cx="7315200" cy="320040"/>
          </a:xfrm>
          <a:prstGeom prst="rect">
            <a:avLst/>
          </a:prstGeom>
          <a:noFill/>
          <a:ln/>
        </p:spPr>
        <p:txBody>
          <a:bodyPr wrap="square" lIns="0" tIns="0" rIns="0" bIns="0" rtlCol="0" anchor="ctr"/>
          <a:lstStyle/>
          <a:p>
            <a:pPr indent="0" marL="0">
              <a:buNone/>
            </a:pPr>
            <a:r>
              <a:rPr lang="en-US" sz="1300" b="1" spc="150" kern="0" dirty="0">
                <a:solidFill>
                  <a:srgbClr val="C9D6E3"/>
                </a:solidFill>
                <a:latin typeface="Calibri" pitchFamily="34" charset="0"/>
                <a:ea typeface="Calibri" pitchFamily="34" charset="-122"/>
                <a:cs typeface="Calibri" pitchFamily="34" charset="-120"/>
              </a:rPr>
              <a:t>MIS5304 CYBER SECURITY RISK MANAGEMENT  ·  ASSESSMENT 3</a:t>
            </a:r>
            <a:endParaRPr lang="en-US" sz="1300" dirty="0"/>
          </a:p>
        </p:txBody>
      </p:sp>
      <p:sp>
        <p:nvSpPr>
          <p:cNvPr id="3" name="Text 1"/>
          <p:cNvSpPr txBox="1"/>
          <p:nvPr/>
        </p:nvSpPr>
        <p:spPr>
          <a:xfrm>
            <a:off x="640080" y="1325880"/>
            <a:ext cx="7132320" cy="16459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The tools saw it coming.</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Why didn’t anyone act?</a:t>
            </a:r>
            <a:endParaRPr lang="en-US" sz="4000" dirty="0"/>
          </a:p>
        </p:txBody>
      </p:sp>
      <p:sp>
        <p:nvSpPr>
          <p:cNvPr id="4" name="Text 2"/>
          <p:cNvSpPr txBox="1"/>
          <p:nvPr/>
        </p:nvSpPr>
        <p:spPr>
          <a:xfrm>
            <a:off x="640080" y="3108960"/>
            <a:ext cx="6766560" cy="822960"/>
          </a:xfrm>
          <a:prstGeom prst="rect">
            <a:avLst/>
          </a:prstGeom>
          <a:noFill/>
          <a:ln/>
        </p:spPr>
        <p:txBody>
          <a:bodyPr wrap="square" lIns="0" tIns="0" rIns="0" bIns="0" rtlCol="0" anchor="ctr"/>
          <a:lstStyle/>
          <a:p>
            <a:pPr indent="0" marL="0">
              <a:buNone/>
            </a:pPr>
            <a:r>
              <a:rPr lang="en-US" sz="2000" dirty="0">
                <a:solidFill>
                  <a:srgbClr val="C9D6E3"/>
                </a:solidFill>
                <a:latin typeface="Calibri" pitchFamily="34" charset="0"/>
                <a:ea typeface="Calibri" pitchFamily="34" charset="-122"/>
                <a:cs typeface="Calibri" pitchFamily="34" charset="-120"/>
              </a:rPr>
              <a:t>Lessons for Australian boards from the Optus, Medibank and Latitude Financial breaches</a:t>
            </a:r>
            <a:endParaRPr lang="en-US" sz="2000" dirty="0"/>
          </a:p>
        </p:txBody>
      </p:sp>
      <p:sp>
        <p:nvSpPr>
          <p:cNvPr id="5" name="Text 3"/>
          <p:cNvSpPr txBox="1"/>
          <p:nvPr/>
        </p:nvSpPr>
        <p:spPr>
          <a:xfrm>
            <a:off x="640080" y="5669280"/>
            <a:ext cx="7315200" cy="365760"/>
          </a:xfrm>
          <a:prstGeom prst="rect">
            <a:avLst/>
          </a:prstGeom>
          <a:noFill/>
          <a:ln/>
        </p:spPr>
        <p:txBody>
          <a:bodyPr wrap="square" lIns="0" tIns="0" rIns="0" bIns="0" rtlCol="0" anchor="ctr"/>
          <a:lstStyle/>
          <a:p>
            <a:pPr indent="0" marL="0">
              <a:buNone/>
            </a:pPr>
            <a:r>
              <a:rPr lang="en-US" sz="1300" dirty="0">
                <a:solidFill>
                  <a:srgbClr val="C9D6E3"/>
                </a:solidFill>
                <a:latin typeface="Calibri" pitchFamily="34" charset="0"/>
                <a:ea typeface="Calibri" pitchFamily="34" charset="-122"/>
                <a:cs typeface="Calibri" pitchFamily="34" charset="-120"/>
              </a:rPr>
              <a:t>[Student name]  ·  [Student ID]  ·  Week 6 tutorial, October 2026</a:t>
            </a:r>
            <a:endParaRPr lang="en-US" sz="1300" dirty="0"/>
          </a:p>
        </p:txBody>
      </p:sp>
      <p:sp>
        <p:nvSpPr>
          <p:cNvPr id="6" name="Shape 4"/>
          <p:cNvSpPr/>
          <p:nvPr/>
        </p:nvSpPr>
        <p:spPr>
          <a:xfrm>
            <a:off x="8503920" y="1280160"/>
            <a:ext cx="3017520" cy="3017520"/>
          </a:xfrm>
          <a:prstGeom prst="ellipse">
            <a:avLst/>
          </a:prstGeom>
          <a:solidFill>
            <a:srgbClr val="324A5F"/>
          </a:solidFill>
          <a:ln w="12700">
            <a:solidFill>
              <a:srgbClr val="324A5F"/>
            </a:solidFill>
            <a:prstDash val="solid"/>
          </a:ln>
        </p:spPr>
      </p:sp>
      <p:pic>
        <p:nvPicPr>
          <p:cNvPr id="7" name="Image 0" descr="preencoded.png">    </p:cNvPr>
          <p:cNvPicPr>
            <a:picLocks noChangeAspect="1"/>
          </p:cNvPicPr>
          <p:nvPr/>
        </p:nvPicPr>
        <p:blipFill>
          <a:blip r:embed="rId1"/>
          <a:stretch>
            <a:fillRect/>
          </a:stretch>
        </p:blipFill>
        <p:spPr>
          <a:xfrm>
            <a:off x="9281160" y="2057400"/>
            <a:ext cx="1463040" cy="1463040"/>
          </a:xfrm>
          <a:prstGeom prst="rect">
            <a:avLst/>
          </a:prstGeom>
        </p:spPr>
      </p:pic>
      <p:sp>
        <p:nvSpPr>
          <p:cNvPr id="8" name="Shape 5"/>
          <p:cNvSpPr/>
          <p:nvPr/>
        </p:nvSpPr>
        <p:spPr>
          <a:xfrm>
            <a:off x="8275320" y="3520440"/>
            <a:ext cx="914400" cy="914400"/>
          </a:xfrm>
          <a:prstGeom prst="ellipse">
            <a:avLst/>
          </a:prstGeom>
          <a:solidFill>
            <a:srgbClr val="B03A2E"/>
          </a:solidFill>
          <a:ln w="12700">
            <a:solidFill>
              <a:srgbClr val="B03A2E"/>
            </a:solidFill>
            <a:prstDash val="solid"/>
          </a:ln>
        </p:spPr>
      </p:sp>
      <p:pic>
        <p:nvPicPr>
          <p:cNvPr id="9" name="Image 1" descr="preencoded.png">    </p:cNvPr>
          <p:cNvPicPr>
            <a:picLocks noChangeAspect="1"/>
          </p:cNvPicPr>
          <p:nvPr/>
        </p:nvPicPr>
        <p:blipFill>
          <a:blip r:embed="rId2"/>
          <a:stretch>
            <a:fillRect/>
          </a:stretch>
        </p:blipFill>
        <p:spPr>
          <a:xfrm>
            <a:off x="8513064" y="3758184"/>
            <a:ext cx="438912" cy="4389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B2A41"/>
                </a:solidFill>
                <a:latin typeface="Calibri" pitchFamily="34" charset="0"/>
                <a:ea typeface="Calibri" pitchFamily="34" charset="-122"/>
                <a:cs typeface="Calibri" pitchFamily="34" charset="-120"/>
              </a:rPr>
              <a:t>Why this matters now</a:t>
            </a:r>
            <a:endParaRPr lang="en-US" sz="3200" dirty="0"/>
          </a:p>
        </p:txBody>
      </p:sp>
      <p:sp>
        <p:nvSpPr>
          <p:cNvPr id="3" name="Text 1"/>
          <p:cNvSpPr txBox="1"/>
          <p:nvPr/>
        </p:nvSpPr>
        <p:spPr>
          <a:xfrm>
            <a:off x="548640" y="1005840"/>
            <a:ext cx="11064240" cy="384048"/>
          </a:xfrm>
          <a:prstGeom prst="rect">
            <a:avLst/>
          </a:prstGeom>
          <a:noFill/>
          <a:ln/>
        </p:spPr>
        <p:txBody>
          <a:bodyPr wrap="square" lIns="0" tIns="0" rIns="0" bIns="0" rtlCol="0" anchor="ctr"/>
          <a:lstStyle/>
          <a:p>
            <a:pPr indent="0" marL="0">
              <a:buNone/>
            </a:pPr>
            <a:r>
              <a:rPr lang="en-US" sz="1600" dirty="0">
                <a:solidFill>
                  <a:srgbClr val="5F6B76"/>
                </a:solidFill>
                <a:latin typeface="Calibri" pitchFamily="34" charset="0"/>
                <a:ea typeface="Calibri" pitchFamily="34" charset="-122"/>
                <a:cs typeface="Calibri" pitchFamily="34" charset="-120"/>
              </a:rPr>
              <a:t>Incidents are rising, and the 2022–23 breaches showed what one failure can cost</a:t>
            </a:r>
            <a:endParaRPr lang="en-US" sz="1600" dirty="0"/>
          </a:p>
        </p:txBody>
      </p:sp>
      <p:sp>
        <p:nvSpPr>
          <p:cNvPr id="4" name="Shape 2"/>
          <p:cNvSpPr/>
          <p:nvPr/>
        </p:nvSpPr>
        <p:spPr>
          <a:xfrm>
            <a:off x="548640" y="1691640"/>
            <a:ext cx="3520440" cy="1874520"/>
          </a:xfrm>
          <a:prstGeom prst="roundRect">
            <a:avLst>
              <a:gd name="adj" fmla="val 3902"/>
            </a:avLst>
          </a:prstGeom>
          <a:solidFill>
            <a:srgbClr val="F2F4F7"/>
          </a:solidFill>
          <a:ln w="12700">
            <a:solidFill>
              <a:srgbClr val="F2F4F7"/>
            </a:solidFill>
            <a:prstDash val="solid"/>
          </a:ln>
        </p:spPr>
      </p:sp>
      <p:sp>
        <p:nvSpPr>
          <p:cNvPr id="5" name="Text 3"/>
          <p:cNvSpPr txBox="1"/>
          <p:nvPr/>
        </p:nvSpPr>
        <p:spPr>
          <a:xfrm>
            <a:off x="822960" y="1828800"/>
            <a:ext cx="3017520" cy="777240"/>
          </a:xfrm>
          <a:prstGeom prst="rect">
            <a:avLst/>
          </a:prstGeom>
          <a:noFill/>
          <a:ln/>
        </p:spPr>
        <p:txBody>
          <a:bodyPr wrap="square" lIns="0" tIns="0" rIns="0" bIns="0" rtlCol="0" anchor="ctr"/>
          <a:lstStyle/>
          <a:p>
            <a:pPr indent="0" marL="0">
              <a:buNone/>
            </a:pPr>
            <a:r>
              <a:rPr lang="en-US" sz="4000" b="1" dirty="0">
                <a:solidFill>
                  <a:srgbClr val="1B2A41"/>
                </a:solidFill>
                <a:latin typeface="Calibri" pitchFamily="34" charset="0"/>
                <a:ea typeface="Calibri" pitchFamily="34" charset="-122"/>
                <a:cs typeface="Calibri" pitchFamily="34" charset="-120"/>
              </a:rPr>
              <a:t>1,200+</a:t>
            </a:r>
            <a:endParaRPr lang="en-US" sz="4000" dirty="0"/>
          </a:p>
        </p:txBody>
      </p:sp>
      <p:sp>
        <p:nvSpPr>
          <p:cNvPr id="6" name="Text 4"/>
          <p:cNvSpPr txBox="1"/>
          <p:nvPr/>
        </p:nvSpPr>
        <p:spPr>
          <a:xfrm>
            <a:off x="822960" y="2606040"/>
            <a:ext cx="3017520" cy="54864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incidents ASD responded to in 2024–25</a:t>
            </a:r>
            <a:endParaRPr lang="en-US" sz="1400" dirty="0"/>
          </a:p>
        </p:txBody>
      </p:sp>
      <p:sp>
        <p:nvSpPr>
          <p:cNvPr id="7" name="Text 5"/>
          <p:cNvSpPr txBox="1"/>
          <p:nvPr/>
        </p:nvSpPr>
        <p:spPr>
          <a:xfrm>
            <a:off x="822960" y="3127248"/>
            <a:ext cx="3017520" cy="320040"/>
          </a:xfrm>
          <a:prstGeom prst="rect">
            <a:avLst/>
          </a:prstGeom>
          <a:noFill/>
          <a:ln/>
        </p:spPr>
        <p:txBody>
          <a:bodyPr wrap="square" lIns="0" tIns="0" rIns="0" bIns="0" rtlCol="0" anchor="ctr"/>
          <a:lstStyle/>
          <a:p>
            <a:pPr indent="0" marL="0">
              <a:buNone/>
            </a:pPr>
            <a:r>
              <a:rPr lang="en-US" sz="1300" b="1" dirty="0">
                <a:solidFill>
                  <a:srgbClr val="B03A2E"/>
                </a:solidFill>
                <a:latin typeface="Calibri" pitchFamily="34" charset="0"/>
                <a:ea typeface="Calibri" pitchFamily="34" charset="-122"/>
                <a:cs typeface="Calibri" pitchFamily="34" charset="-120"/>
              </a:rPr>
              <a:t>+11% on the previous year</a:t>
            </a:r>
            <a:endParaRPr lang="en-US" sz="1300" dirty="0"/>
          </a:p>
        </p:txBody>
      </p:sp>
      <p:sp>
        <p:nvSpPr>
          <p:cNvPr id="8" name="Shape 6"/>
          <p:cNvSpPr/>
          <p:nvPr/>
        </p:nvSpPr>
        <p:spPr>
          <a:xfrm>
            <a:off x="4297680" y="1691640"/>
            <a:ext cx="3520440" cy="1874520"/>
          </a:xfrm>
          <a:prstGeom prst="roundRect">
            <a:avLst>
              <a:gd name="adj" fmla="val 3902"/>
            </a:avLst>
          </a:prstGeom>
          <a:solidFill>
            <a:srgbClr val="F2F4F7"/>
          </a:solidFill>
          <a:ln w="12700">
            <a:solidFill>
              <a:srgbClr val="F2F4F7"/>
            </a:solidFill>
            <a:prstDash val="solid"/>
          </a:ln>
        </p:spPr>
      </p:sp>
      <p:sp>
        <p:nvSpPr>
          <p:cNvPr id="9" name="Text 7"/>
          <p:cNvSpPr txBox="1"/>
          <p:nvPr/>
        </p:nvSpPr>
        <p:spPr>
          <a:xfrm>
            <a:off x="4572000" y="1828800"/>
            <a:ext cx="3017520" cy="777240"/>
          </a:xfrm>
          <a:prstGeom prst="rect">
            <a:avLst/>
          </a:prstGeom>
          <a:noFill/>
          <a:ln/>
        </p:spPr>
        <p:txBody>
          <a:bodyPr wrap="square" lIns="0" tIns="0" rIns="0" bIns="0" rtlCol="0" anchor="ctr"/>
          <a:lstStyle/>
          <a:p>
            <a:pPr indent="0" marL="0">
              <a:buNone/>
            </a:pPr>
            <a:r>
              <a:rPr lang="en-US" sz="4000" b="1" dirty="0">
                <a:solidFill>
                  <a:srgbClr val="1B2A41"/>
                </a:solidFill>
                <a:latin typeface="Calibri" pitchFamily="34" charset="0"/>
                <a:ea typeface="Calibri" pitchFamily="34" charset="-122"/>
                <a:cs typeface="Calibri" pitchFamily="34" charset="-120"/>
              </a:rPr>
              <a:t>42,500+</a:t>
            </a:r>
            <a:endParaRPr lang="en-US" sz="4000" dirty="0"/>
          </a:p>
        </p:txBody>
      </p:sp>
      <p:sp>
        <p:nvSpPr>
          <p:cNvPr id="10" name="Text 8"/>
          <p:cNvSpPr txBox="1"/>
          <p:nvPr/>
        </p:nvSpPr>
        <p:spPr>
          <a:xfrm>
            <a:off x="4572000" y="2606040"/>
            <a:ext cx="3017520" cy="54864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calls to ASD’s cyber hotline</a:t>
            </a:r>
            <a:endParaRPr lang="en-US" sz="1400" dirty="0"/>
          </a:p>
        </p:txBody>
      </p:sp>
      <p:sp>
        <p:nvSpPr>
          <p:cNvPr id="11" name="Text 9"/>
          <p:cNvSpPr txBox="1"/>
          <p:nvPr/>
        </p:nvSpPr>
        <p:spPr>
          <a:xfrm>
            <a:off x="4572000" y="3127248"/>
            <a:ext cx="3017520" cy="320040"/>
          </a:xfrm>
          <a:prstGeom prst="rect">
            <a:avLst/>
          </a:prstGeom>
          <a:noFill/>
          <a:ln/>
        </p:spPr>
        <p:txBody>
          <a:bodyPr wrap="square" lIns="0" tIns="0" rIns="0" bIns="0" rtlCol="0" anchor="ctr"/>
          <a:lstStyle/>
          <a:p>
            <a:pPr indent="0" marL="0">
              <a:buNone/>
            </a:pPr>
            <a:r>
              <a:rPr lang="en-US" sz="1300" b="1" dirty="0">
                <a:solidFill>
                  <a:srgbClr val="B03A2E"/>
                </a:solidFill>
                <a:latin typeface="Calibri" pitchFamily="34" charset="0"/>
                <a:ea typeface="Calibri" pitchFamily="34" charset="-122"/>
                <a:cs typeface="Calibri" pitchFamily="34" charset="-120"/>
              </a:rPr>
              <a:t>+16%</a:t>
            </a:r>
            <a:endParaRPr lang="en-US" sz="1300" dirty="0"/>
          </a:p>
        </p:txBody>
      </p:sp>
      <p:sp>
        <p:nvSpPr>
          <p:cNvPr id="12" name="Shape 10"/>
          <p:cNvSpPr/>
          <p:nvPr/>
        </p:nvSpPr>
        <p:spPr>
          <a:xfrm>
            <a:off x="8046720" y="1691640"/>
            <a:ext cx="3520440" cy="1874520"/>
          </a:xfrm>
          <a:prstGeom prst="roundRect">
            <a:avLst>
              <a:gd name="adj" fmla="val 3902"/>
            </a:avLst>
          </a:prstGeom>
          <a:solidFill>
            <a:srgbClr val="F2F4F7"/>
          </a:solidFill>
          <a:ln w="12700">
            <a:solidFill>
              <a:srgbClr val="F2F4F7"/>
            </a:solidFill>
            <a:prstDash val="solid"/>
          </a:ln>
        </p:spPr>
      </p:sp>
      <p:sp>
        <p:nvSpPr>
          <p:cNvPr id="13" name="Text 11"/>
          <p:cNvSpPr txBox="1"/>
          <p:nvPr/>
        </p:nvSpPr>
        <p:spPr>
          <a:xfrm>
            <a:off x="8321040" y="1828800"/>
            <a:ext cx="3017520" cy="777240"/>
          </a:xfrm>
          <a:prstGeom prst="rect">
            <a:avLst/>
          </a:prstGeom>
          <a:noFill/>
          <a:ln/>
        </p:spPr>
        <p:txBody>
          <a:bodyPr wrap="square" lIns="0" tIns="0" rIns="0" bIns="0" rtlCol="0" anchor="ctr"/>
          <a:lstStyle/>
          <a:p>
            <a:pPr indent="0" marL="0">
              <a:buNone/>
            </a:pPr>
            <a:r>
              <a:rPr lang="en-US" sz="4000" b="1" dirty="0">
                <a:solidFill>
                  <a:srgbClr val="1B2A41"/>
                </a:solidFill>
                <a:latin typeface="Calibri" pitchFamily="34" charset="0"/>
                <a:ea typeface="Calibri" pitchFamily="34" charset="-122"/>
                <a:cs typeface="Calibri" pitchFamily="34" charset="-120"/>
              </a:rPr>
              <a:t>1,700+</a:t>
            </a:r>
            <a:endParaRPr lang="en-US" sz="4000" dirty="0"/>
          </a:p>
        </p:txBody>
      </p:sp>
      <p:sp>
        <p:nvSpPr>
          <p:cNvPr id="14" name="Text 12"/>
          <p:cNvSpPr txBox="1"/>
          <p:nvPr/>
        </p:nvSpPr>
        <p:spPr>
          <a:xfrm>
            <a:off x="8321040" y="2606040"/>
            <a:ext cx="3017520" cy="54864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times ASD warned organisations of malicious activity</a:t>
            </a:r>
            <a:endParaRPr lang="en-US" sz="1400" dirty="0"/>
          </a:p>
        </p:txBody>
      </p:sp>
      <p:sp>
        <p:nvSpPr>
          <p:cNvPr id="15" name="Text 13"/>
          <p:cNvSpPr txBox="1"/>
          <p:nvPr/>
        </p:nvSpPr>
        <p:spPr>
          <a:xfrm>
            <a:off x="8321040" y="3127248"/>
            <a:ext cx="3017520" cy="320040"/>
          </a:xfrm>
          <a:prstGeom prst="rect">
            <a:avLst/>
          </a:prstGeom>
          <a:noFill/>
          <a:ln/>
        </p:spPr>
        <p:txBody>
          <a:bodyPr wrap="square" lIns="0" tIns="0" rIns="0" bIns="0" rtlCol="0" anchor="ctr"/>
          <a:lstStyle/>
          <a:p>
            <a:pPr indent="0" marL="0">
              <a:buNone/>
            </a:pPr>
            <a:r>
              <a:rPr lang="en-US" sz="1300" b="1" dirty="0">
                <a:solidFill>
                  <a:srgbClr val="B03A2E"/>
                </a:solidFill>
                <a:latin typeface="Calibri" pitchFamily="34" charset="0"/>
                <a:ea typeface="Calibri" pitchFamily="34" charset="-122"/>
                <a:cs typeface="Calibri" pitchFamily="34" charset="-120"/>
              </a:rPr>
              <a:t>+83%</a:t>
            </a:r>
            <a:endParaRPr lang="en-US" sz="1300" dirty="0"/>
          </a:p>
        </p:txBody>
      </p:sp>
      <p:sp>
        <p:nvSpPr>
          <p:cNvPr id="16" name="Text 14"/>
          <p:cNvSpPr txBox="1"/>
          <p:nvPr/>
        </p:nvSpPr>
        <p:spPr>
          <a:xfrm>
            <a:off x="548640" y="3886200"/>
            <a:ext cx="7315200" cy="365760"/>
          </a:xfrm>
          <a:prstGeom prst="rect">
            <a:avLst/>
          </a:prstGeom>
          <a:noFill/>
          <a:ln/>
        </p:spPr>
        <p:txBody>
          <a:bodyPr wrap="square" lIns="0" tIns="0" rIns="0" bIns="0" rtlCol="0" anchor="ctr"/>
          <a:lstStyle/>
          <a:p>
            <a:pPr indent="0" marL="0">
              <a:buNone/>
            </a:pPr>
            <a:r>
              <a:rPr lang="en-US" sz="1600" b="1" dirty="0">
                <a:solidFill>
                  <a:srgbClr val="1B2A41"/>
                </a:solidFill>
                <a:latin typeface="Calibri" pitchFamily="34" charset="0"/>
                <a:ea typeface="Calibri" pitchFamily="34" charset="-122"/>
                <a:cs typeface="Calibri" pitchFamily="34" charset="-120"/>
              </a:rPr>
              <a:t>Three breaches, millions of Australians affected</a:t>
            </a:r>
            <a:endParaRPr lang="en-US" sz="1600" dirty="0"/>
          </a:p>
        </p:txBody>
      </p:sp>
      <p:sp>
        <p:nvSpPr>
          <p:cNvPr id="17" name="Shape 15"/>
          <p:cNvSpPr/>
          <p:nvPr/>
        </p:nvSpPr>
        <p:spPr>
          <a:xfrm>
            <a:off x="548640" y="4434840"/>
            <a:ext cx="640080" cy="640080"/>
          </a:xfrm>
          <a:prstGeom prst="ellipse">
            <a:avLst/>
          </a:prstGeom>
          <a:solidFill>
            <a:srgbClr val="324A5F"/>
          </a:solidFill>
          <a:ln w="12700">
            <a:solidFill>
              <a:srgbClr val="324A5F"/>
            </a:solidFill>
            <a:prstDash val="solid"/>
          </a:ln>
        </p:spPr>
      </p:sp>
      <p:pic>
        <p:nvPicPr>
          <p:cNvPr id="18" name="Image 0" descr="preencoded.png">    </p:cNvPr>
          <p:cNvPicPr>
            <a:picLocks noChangeAspect="1"/>
          </p:cNvPicPr>
          <p:nvPr/>
        </p:nvPicPr>
        <p:blipFill>
          <a:blip r:embed="rId1"/>
          <a:stretch>
            <a:fillRect/>
          </a:stretch>
        </p:blipFill>
        <p:spPr>
          <a:xfrm>
            <a:off x="715061" y="4601261"/>
            <a:ext cx="307238" cy="307238"/>
          </a:xfrm>
          <a:prstGeom prst="rect">
            <a:avLst/>
          </a:prstGeom>
        </p:spPr>
      </p:pic>
      <p:sp>
        <p:nvSpPr>
          <p:cNvPr id="19" name="Text 16"/>
          <p:cNvSpPr txBox="1"/>
          <p:nvPr/>
        </p:nvSpPr>
        <p:spPr>
          <a:xfrm>
            <a:off x="1325880" y="4389120"/>
            <a:ext cx="2834640" cy="32004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Optus (2022)</a:t>
            </a:r>
            <a:endParaRPr lang="en-US" sz="1500" dirty="0"/>
          </a:p>
        </p:txBody>
      </p:sp>
      <p:sp>
        <p:nvSpPr>
          <p:cNvPr id="20" name="Text 17"/>
          <p:cNvSpPr txBox="1"/>
          <p:nvPr/>
        </p:nvSpPr>
        <p:spPr>
          <a:xfrm>
            <a:off x="1325880" y="4709160"/>
            <a:ext cx="2834640" cy="32004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~9.5 million people</a:t>
            </a:r>
            <a:endParaRPr lang="en-US" sz="1400" dirty="0"/>
          </a:p>
        </p:txBody>
      </p:sp>
      <p:sp>
        <p:nvSpPr>
          <p:cNvPr id="21" name="Text 18"/>
          <p:cNvSpPr txBox="1"/>
          <p:nvPr/>
        </p:nvSpPr>
        <p:spPr>
          <a:xfrm>
            <a:off x="1325880" y="5029200"/>
            <a:ext cx="2834640" cy="54864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OAIC civil penalty action, 2025</a:t>
            </a:r>
            <a:endParaRPr lang="en-US" sz="1200" dirty="0"/>
          </a:p>
        </p:txBody>
      </p:sp>
      <p:sp>
        <p:nvSpPr>
          <p:cNvPr id="22" name="Shape 19"/>
          <p:cNvSpPr/>
          <p:nvPr/>
        </p:nvSpPr>
        <p:spPr>
          <a:xfrm>
            <a:off x="4297680" y="4434840"/>
            <a:ext cx="640080" cy="640080"/>
          </a:xfrm>
          <a:prstGeom prst="ellipse">
            <a:avLst/>
          </a:prstGeom>
          <a:solidFill>
            <a:srgbClr val="324A5F"/>
          </a:solidFill>
          <a:ln w="12700">
            <a:solidFill>
              <a:srgbClr val="324A5F"/>
            </a:solidFill>
            <a:prstDash val="solid"/>
          </a:ln>
        </p:spPr>
      </p:sp>
      <p:pic>
        <p:nvPicPr>
          <p:cNvPr id="23" name="Image 1" descr="preencoded.png">    </p:cNvPr>
          <p:cNvPicPr>
            <a:picLocks noChangeAspect="1"/>
          </p:cNvPicPr>
          <p:nvPr/>
        </p:nvPicPr>
        <p:blipFill>
          <a:blip r:embed="rId2"/>
          <a:stretch>
            <a:fillRect/>
          </a:stretch>
        </p:blipFill>
        <p:spPr>
          <a:xfrm>
            <a:off x="4464101" y="4601261"/>
            <a:ext cx="307238" cy="307238"/>
          </a:xfrm>
          <a:prstGeom prst="rect">
            <a:avLst/>
          </a:prstGeom>
        </p:spPr>
      </p:pic>
      <p:sp>
        <p:nvSpPr>
          <p:cNvPr id="24" name="Text 20"/>
          <p:cNvSpPr txBox="1"/>
          <p:nvPr/>
        </p:nvSpPr>
        <p:spPr>
          <a:xfrm>
            <a:off x="5074920" y="4389120"/>
            <a:ext cx="2834640" cy="32004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Medibank (2022)</a:t>
            </a:r>
            <a:endParaRPr lang="en-US" sz="1500" dirty="0"/>
          </a:p>
        </p:txBody>
      </p:sp>
      <p:sp>
        <p:nvSpPr>
          <p:cNvPr id="25" name="Text 21"/>
          <p:cNvSpPr txBox="1"/>
          <p:nvPr/>
        </p:nvSpPr>
        <p:spPr>
          <a:xfrm>
            <a:off x="5074920" y="4709160"/>
            <a:ext cx="2834640" cy="32004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~9.7 million people</a:t>
            </a:r>
            <a:endParaRPr lang="en-US" sz="1400" dirty="0"/>
          </a:p>
        </p:txBody>
      </p:sp>
      <p:sp>
        <p:nvSpPr>
          <p:cNvPr id="26" name="Text 22"/>
          <p:cNvSpPr txBox="1"/>
          <p:nvPr/>
        </p:nvSpPr>
        <p:spPr>
          <a:xfrm>
            <a:off x="5074920" y="5029200"/>
            <a:ext cx="2834640" cy="54864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OAIC civil penalty action, 2024</a:t>
            </a:r>
            <a:endParaRPr lang="en-US" sz="1200" dirty="0"/>
          </a:p>
        </p:txBody>
      </p:sp>
      <p:sp>
        <p:nvSpPr>
          <p:cNvPr id="27" name="Shape 23"/>
          <p:cNvSpPr/>
          <p:nvPr/>
        </p:nvSpPr>
        <p:spPr>
          <a:xfrm>
            <a:off x="8046720" y="4434840"/>
            <a:ext cx="640080" cy="640080"/>
          </a:xfrm>
          <a:prstGeom prst="ellipse">
            <a:avLst/>
          </a:prstGeom>
          <a:solidFill>
            <a:srgbClr val="B03A2E"/>
          </a:solidFill>
          <a:ln w="12700">
            <a:solidFill>
              <a:srgbClr val="B03A2E"/>
            </a:solidFill>
            <a:prstDash val="solid"/>
          </a:ln>
        </p:spPr>
      </p:sp>
      <p:pic>
        <p:nvPicPr>
          <p:cNvPr id="28" name="Image 2" descr="preencoded.png">    </p:cNvPr>
          <p:cNvPicPr>
            <a:picLocks noChangeAspect="1"/>
          </p:cNvPicPr>
          <p:nvPr/>
        </p:nvPicPr>
        <p:blipFill>
          <a:blip r:embed="rId3"/>
          <a:stretch>
            <a:fillRect/>
          </a:stretch>
        </p:blipFill>
        <p:spPr>
          <a:xfrm>
            <a:off x="8213141" y="4601261"/>
            <a:ext cx="307238" cy="307238"/>
          </a:xfrm>
          <a:prstGeom prst="rect">
            <a:avLst/>
          </a:prstGeom>
        </p:spPr>
      </p:pic>
      <p:sp>
        <p:nvSpPr>
          <p:cNvPr id="29" name="Text 24"/>
          <p:cNvSpPr txBox="1"/>
          <p:nvPr/>
        </p:nvSpPr>
        <p:spPr>
          <a:xfrm>
            <a:off x="8823960" y="4389120"/>
            <a:ext cx="2834640" cy="32004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Latitude (2023)</a:t>
            </a:r>
            <a:endParaRPr lang="en-US" sz="1500" dirty="0"/>
          </a:p>
        </p:txBody>
      </p:sp>
      <p:sp>
        <p:nvSpPr>
          <p:cNvPr id="30" name="Text 25"/>
          <p:cNvSpPr txBox="1"/>
          <p:nvPr/>
        </p:nvSpPr>
        <p:spPr>
          <a:xfrm>
            <a:off x="8823960" y="4709160"/>
            <a:ext cx="2834640" cy="32004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~14 million records</a:t>
            </a:r>
            <a:endParaRPr lang="en-US" sz="1400" dirty="0"/>
          </a:p>
        </p:txBody>
      </p:sp>
      <p:sp>
        <p:nvSpPr>
          <p:cNvPr id="31" name="Text 26"/>
          <p:cNvSpPr txBox="1"/>
          <p:nvPr/>
        </p:nvSpPr>
        <p:spPr>
          <a:xfrm>
            <a:off x="8823960" y="5029200"/>
            <a:ext cx="2834640" cy="54864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OAIC investigation ongoing; ~$76m cost</a:t>
            </a:r>
            <a:endParaRPr lang="en-US" sz="1200" dirty="0"/>
          </a:p>
        </p:txBody>
      </p:sp>
      <p:sp>
        <p:nvSpPr>
          <p:cNvPr id="32" name="Text 27"/>
          <p:cNvSpPr txBox="1"/>
          <p:nvPr/>
        </p:nvSpPr>
        <p:spPr>
          <a:xfrm>
            <a:off x="548640" y="6355080"/>
            <a:ext cx="9692640" cy="320040"/>
          </a:xfrm>
          <a:prstGeom prst="rect">
            <a:avLst/>
          </a:prstGeom>
          <a:noFill/>
          <a:ln/>
        </p:spPr>
        <p:txBody>
          <a:bodyPr wrap="square" lIns="0" tIns="0" rIns="0" bIns="0" rtlCol="0" anchor="b"/>
          <a:lstStyle/>
          <a:p>
            <a:pPr indent="0" marL="0">
              <a:buNone/>
            </a:pPr>
            <a:r>
              <a:rPr lang="en-US" sz="950" dirty="0">
                <a:solidFill>
                  <a:srgbClr val="5F6B76"/>
                </a:solidFill>
                <a:latin typeface="Calibri" pitchFamily="34" charset="0"/>
                <a:ea typeface="Calibri" pitchFamily="34" charset="-122"/>
                <a:cs typeface="Calibri" pitchFamily="34" charset="-120"/>
              </a:rPr>
              <a:t>Sources: ASD (2025) Annual Cyber Threat Report 2024–25; OAIC (2024, 2025); SecurityWeek (2023); ACS Information Age (2023).</a:t>
            </a:r>
            <a:endParaRPr lang="en-US" sz="950" dirty="0"/>
          </a:p>
        </p:txBody>
      </p:sp>
      <p:sp>
        <p:nvSpPr>
          <p:cNvPr id="33" name="Text 28"/>
          <p:cNvSpPr txBox="1"/>
          <p:nvPr/>
        </p:nvSpPr>
        <p:spPr>
          <a:xfrm>
            <a:off x="11155680" y="6355080"/>
            <a:ext cx="457200" cy="320040"/>
          </a:xfrm>
          <a:prstGeom prst="rect">
            <a:avLst/>
          </a:prstGeom>
          <a:noFill/>
          <a:ln/>
        </p:spPr>
        <p:txBody>
          <a:bodyPr wrap="square" lIns="0" tIns="0" rIns="0" bIns="0" rtlCol="0" anchor="b"/>
          <a:lstStyle/>
          <a:p>
            <a:pPr algn="r" indent="0" marL="0">
              <a:buNone/>
            </a:pPr>
            <a:r>
              <a:rPr lang="en-US" sz="1000" dirty="0">
                <a:solidFill>
                  <a:srgbClr val="5F6B7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B2A41"/>
                </a:solidFill>
                <a:latin typeface="Calibri" pitchFamily="34" charset="0"/>
                <a:ea typeface="Calibri" pitchFamily="34" charset="-122"/>
                <a:cs typeface="Calibri" pitchFamily="34" charset="-120"/>
              </a:rPr>
              <a:t>Three breaches, three different failures</a:t>
            </a:r>
            <a:endParaRPr lang="en-US" sz="3200" dirty="0"/>
          </a:p>
        </p:txBody>
      </p:sp>
      <p:sp>
        <p:nvSpPr>
          <p:cNvPr id="3" name="Text 1"/>
          <p:cNvSpPr txBox="1"/>
          <p:nvPr/>
        </p:nvSpPr>
        <p:spPr>
          <a:xfrm>
            <a:off x="548640" y="1005840"/>
            <a:ext cx="11064240" cy="384048"/>
          </a:xfrm>
          <a:prstGeom prst="rect">
            <a:avLst/>
          </a:prstGeom>
          <a:noFill/>
          <a:ln/>
        </p:spPr>
        <p:txBody>
          <a:bodyPr wrap="square" lIns="0" tIns="0" rIns="0" bIns="0" rtlCol="0" anchor="ctr"/>
          <a:lstStyle/>
          <a:p>
            <a:pPr indent="0" marL="0">
              <a:buNone/>
            </a:pPr>
            <a:r>
              <a:rPr lang="en-US" sz="1600" dirty="0">
                <a:solidFill>
                  <a:srgbClr val="5F6B76"/>
                </a:solidFill>
                <a:latin typeface="Calibri" pitchFamily="34" charset="0"/>
                <a:ea typeface="Calibri" pitchFamily="34" charset="-122"/>
                <a:cs typeface="Calibri" pitchFamily="34" charset="-120"/>
              </a:rPr>
              <a:t>Facts below are as alleged or reported by regulators and official sources</a:t>
            </a:r>
            <a:endParaRPr lang="en-US" sz="1600" dirty="0"/>
          </a:p>
        </p:txBody>
      </p:sp>
      <p:sp>
        <p:nvSpPr>
          <p:cNvPr id="4" name="Shape 2"/>
          <p:cNvSpPr/>
          <p:nvPr/>
        </p:nvSpPr>
        <p:spPr>
          <a:xfrm>
            <a:off x="822960" y="2743200"/>
            <a:ext cx="10515600" cy="0"/>
          </a:xfrm>
          <a:prstGeom prst="line">
            <a:avLst/>
          </a:prstGeom>
          <a:noFill/>
          <a:ln w="38100">
            <a:solidFill>
              <a:srgbClr val="D5DBE1"/>
            </a:solidFill>
            <a:prstDash val="solid"/>
          </a:ln>
        </p:spPr>
      </p:sp>
      <p:sp>
        <p:nvSpPr>
          <p:cNvPr id="5" name="Shape 3"/>
          <p:cNvSpPr/>
          <p:nvPr/>
        </p:nvSpPr>
        <p:spPr>
          <a:xfrm>
            <a:off x="1965960" y="2377440"/>
            <a:ext cx="731520" cy="731520"/>
          </a:xfrm>
          <a:prstGeom prst="ellipse">
            <a:avLst/>
          </a:prstGeom>
          <a:solidFill>
            <a:srgbClr val="1B2A41"/>
          </a:solidFill>
          <a:ln w="12700">
            <a:solidFill>
              <a:srgbClr val="1B2A41"/>
            </a:solidFill>
            <a:prstDash val="solid"/>
          </a:ln>
        </p:spPr>
      </p:sp>
      <p:pic>
        <p:nvPicPr>
          <p:cNvPr id="6" name="Image 0" descr="preencoded.png">    </p:cNvPr>
          <p:cNvPicPr>
            <a:picLocks noChangeAspect="1"/>
          </p:cNvPicPr>
          <p:nvPr/>
        </p:nvPicPr>
        <p:blipFill>
          <a:blip r:embed="rId1"/>
          <a:stretch>
            <a:fillRect/>
          </a:stretch>
        </p:blipFill>
        <p:spPr>
          <a:xfrm>
            <a:off x="2156155" y="2567635"/>
            <a:ext cx="351130" cy="351130"/>
          </a:xfrm>
          <a:prstGeom prst="rect">
            <a:avLst/>
          </a:prstGeom>
        </p:spPr>
      </p:pic>
      <p:sp>
        <p:nvSpPr>
          <p:cNvPr id="7" name="Text 4"/>
          <p:cNvSpPr txBox="1"/>
          <p:nvPr/>
        </p:nvSpPr>
        <p:spPr>
          <a:xfrm>
            <a:off x="548640" y="1691640"/>
            <a:ext cx="3566160" cy="365760"/>
          </a:xfrm>
          <a:prstGeom prst="rect">
            <a:avLst/>
          </a:prstGeom>
          <a:noFill/>
          <a:ln/>
        </p:spPr>
        <p:txBody>
          <a:bodyPr wrap="square" lIns="0" tIns="0" rIns="0" bIns="0" rtlCol="0" anchor="ctr"/>
          <a:lstStyle/>
          <a:p>
            <a:pPr algn="ctr" indent="0" marL="0">
              <a:buNone/>
            </a:pPr>
            <a:r>
              <a:rPr lang="en-US" sz="1400" b="1" dirty="0">
                <a:solidFill>
                  <a:srgbClr val="5F6B76"/>
                </a:solidFill>
                <a:latin typeface="Calibri" pitchFamily="34" charset="0"/>
                <a:ea typeface="Calibri" pitchFamily="34" charset="-122"/>
                <a:cs typeface="Calibri" pitchFamily="34" charset="-120"/>
              </a:rPr>
              <a:t>Sept 2022</a:t>
            </a:r>
            <a:endParaRPr lang="en-US" sz="1400" dirty="0"/>
          </a:p>
        </p:txBody>
      </p:sp>
      <p:sp>
        <p:nvSpPr>
          <p:cNvPr id="8" name="Shape 5"/>
          <p:cNvSpPr/>
          <p:nvPr/>
        </p:nvSpPr>
        <p:spPr>
          <a:xfrm>
            <a:off x="548640" y="3337560"/>
            <a:ext cx="3566160" cy="2606040"/>
          </a:xfrm>
          <a:prstGeom prst="roundRect">
            <a:avLst>
              <a:gd name="adj" fmla="val 2807"/>
            </a:avLst>
          </a:prstGeom>
          <a:solidFill>
            <a:srgbClr val="F2F4F7"/>
          </a:solidFill>
          <a:ln w="12700">
            <a:solidFill>
              <a:srgbClr val="F2F4F7"/>
            </a:solidFill>
            <a:prstDash val="solid"/>
          </a:ln>
        </p:spPr>
      </p:sp>
      <p:sp>
        <p:nvSpPr>
          <p:cNvPr id="9" name="Text 6"/>
          <p:cNvSpPr txBox="1"/>
          <p:nvPr/>
        </p:nvSpPr>
        <p:spPr>
          <a:xfrm>
            <a:off x="777240" y="3474720"/>
            <a:ext cx="3108960" cy="41148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Optus</a:t>
            </a:r>
            <a:endParaRPr lang="en-US" sz="2000" dirty="0"/>
          </a:p>
        </p:txBody>
      </p:sp>
      <p:sp>
        <p:nvSpPr>
          <p:cNvPr id="10" name="Text 7"/>
          <p:cNvSpPr txBox="1"/>
          <p:nvPr/>
        </p:nvSpPr>
        <p:spPr>
          <a:xfrm>
            <a:off x="777240" y="3931920"/>
            <a:ext cx="3108960" cy="132588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Internet-facing API with an access-control coding error (introduced 2018), fixed on the main site but not the subdomain</a:t>
            </a:r>
            <a:endParaRPr lang="en-US" sz="1350" dirty="0"/>
          </a:p>
        </p:txBody>
      </p:sp>
      <p:sp>
        <p:nvSpPr>
          <p:cNvPr id="11" name="Shape 8"/>
          <p:cNvSpPr/>
          <p:nvPr/>
        </p:nvSpPr>
        <p:spPr>
          <a:xfrm>
            <a:off x="777240" y="5349240"/>
            <a:ext cx="3108960" cy="411480"/>
          </a:xfrm>
          <a:prstGeom prst="roundRect">
            <a:avLst>
              <a:gd name="adj" fmla="val 48889"/>
            </a:avLst>
          </a:prstGeom>
          <a:solidFill>
            <a:srgbClr val="FFFFFF"/>
          </a:solidFill>
          <a:ln w="12700">
            <a:solidFill>
              <a:srgbClr val="D5DBE1"/>
            </a:solidFill>
            <a:prstDash val="solid"/>
          </a:ln>
        </p:spPr>
      </p:sp>
      <p:sp>
        <p:nvSpPr>
          <p:cNvPr id="12" name="Text 9"/>
          <p:cNvSpPr txBox="1"/>
          <p:nvPr/>
        </p:nvSpPr>
        <p:spPr>
          <a:xfrm>
            <a:off x="777240" y="5349240"/>
            <a:ext cx="3108960" cy="411480"/>
          </a:xfrm>
          <a:prstGeom prst="rect">
            <a:avLst/>
          </a:prstGeom>
          <a:noFill/>
          <a:ln/>
        </p:spPr>
        <p:txBody>
          <a:bodyPr wrap="square" lIns="0" tIns="0" rIns="0" bIns="0" rtlCol="0" anchor="ctr"/>
          <a:lstStyle/>
          <a:p>
            <a:pPr algn="ctr" indent="0" marL="0">
              <a:buNone/>
            </a:pPr>
            <a:r>
              <a:rPr lang="en-US" sz="1250" b="1" dirty="0">
                <a:solidFill>
                  <a:srgbClr val="324A5F"/>
                </a:solidFill>
                <a:latin typeface="Calibri" pitchFamily="34" charset="0"/>
                <a:ea typeface="Calibri" pitchFamily="34" charset="-122"/>
                <a:cs typeface="Calibri" pitchFamily="34" charset="-120"/>
              </a:rPr>
              <a:t>Way in: exposed system</a:t>
            </a:r>
            <a:endParaRPr lang="en-US" sz="1250" dirty="0"/>
          </a:p>
        </p:txBody>
      </p:sp>
      <p:sp>
        <p:nvSpPr>
          <p:cNvPr id="13" name="Shape 10"/>
          <p:cNvSpPr/>
          <p:nvPr/>
        </p:nvSpPr>
        <p:spPr>
          <a:xfrm>
            <a:off x="5715000" y="2377440"/>
            <a:ext cx="731520" cy="731520"/>
          </a:xfrm>
          <a:prstGeom prst="ellipse">
            <a:avLst/>
          </a:prstGeom>
          <a:solidFill>
            <a:srgbClr val="B03A2E"/>
          </a:solidFill>
          <a:ln w="12700">
            <a:solidFill>
              <a:srgbClr val="B03A2E"/>
            </a:solidFill>
            <a:prstDash val="solid"/>
          </a:ln>
        </p:spPr>
      </p:sp>
      <p:pic>
        <p:nvPicPr>
          <p:cNvPr id="14" name="Image 1" descr="preencoded.png">    </p:cNvPr>
          <p:cNvPicPr>
            <a:picLocks noChangeAspect="1"/>
          </p:cNvPicPr>
          <p:nvPr/>
        </p:nvPicPr>
        <p:blipFill>
          <a:blip r:embed="rId2"/>
          <a:stretch>
            <a:fillRect/>
          </a:stretch>
        </p:blipFill>
        <p:spPr>
          <a:xfrm>
            <a:off x="5905195" y="2567635"/>
            <a:ext cx="351130" cy="351130"/>
          </a:xfrm>
          <a:prstGeom prst="rect">
            <a:avLst/>
          </a:prstGeom>
        </p:spPr>
      </p:pic>
      <p:sp>
        <p:nvSpPr>
          <p:cNvPr id="15" name="Text 11"/>
          <p:cNvSpPr txBox="1"/>
          <p:nvPr/>
        </p:nvSpPr>
        <p:spPr>
          <a:xfrm>
            <a:off x="4297680" y="1691640"/>
            <a:ext cx="3566160" cy="365760"/>
          </a:xfrm>
          <a:prstGeom prst="rect">
            <a:avLst/>
          </a:prstGeom>
          <a:noFill/>
          <a:ln/>
        </p:spPr>
        <p:txBody>
          <a:bodyPr wrap="square" lIns="0" tIns="0" rIns="0" bIns="0" rtlCol="0" anchor="ctr"/>
          <a:lstStyle/>
          <a:p>
            <a:pPr algn="ctr" indent="0" marL="0">
              <a:buNone/>
            </a:pPr>
            <a:r>
              <a:rPr lang="en-US" sz="1400" b="1" dirty="0">
                <a:solidFill>
                  <a:srgbClr val="5F6B76"/>
                </a:solidFill>
                <a:latin typeface="Calibri" pitchFamily="34" charset="0"/>
                <a:ea typeface="Calibri" pitchFamily="34" charset="-122"/>
                <a:cs typeface="Calibri" pitchFamily="34" charset="-120"/>
              </a:rPr>
              <a:t>Aug–Oct 2022</a:t>
            </a:r>
            <a:endParaRPr lang="en-US" sz="1400" dirty="0"/>
          </a:p>
        </p:txBody>
      </p:sp>
      <p:sp>
        <p:nvSpPr>
          <p:cNvPr id="16" name="Shape 12"/>
          <p:cNvSpPr/>
          <p:nvPr/>
        </p:nvSpPr>
        <p:spPr>
          <a:xfrm>
            <a:off x="4297680" y="3337560"/>
            <a:ext cx="3566160" cy="2606040"/>
          </a:xfrm>
          <a:prstGeom prst="roundRect">
            <a:avLst>
              <a:gd name="adj" fmla="val 2807"/>
            </a:avLst>
          </a:prstGeom>
          <a:solidFill>
            <a:srgbClr val="F2F4F7"/>
          </a:solidFill>
          <a:ln w="12700">
            <a:solidFill>
              <a:srgbClr val="F2F4F7"/>
            </a:solidFill>
            <a:prstDash val="solid"/>
          </a:ln>
        </p:spPr>
      </p:sp>
      <p:sp>
        <p:nvSpPr>
          <p:cNvPr id="17" name="Text 13"/>
          <p:cNvSpPr txBox="1"/>
          <p:nvPr/>
        </p:nvSpPr>
        <p:spPr>
          <a:xfrm>
            <a:off x="4526280" y="3474720"/>
            <a:ext cx="3108960" cy="41148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Medibank</a:t>
            </a:r>
            <a:endParaRPr lang="en-US" sz="2000" dirty="0"/>
          </a:p>
        </p:txBody>
      </p:sp>
      <p:sp>
        <p:nvSpPr>
          <p:cNvPr id="18" name="Text 14"/>
          <p:cNvSpPr txBox="1"/>
          <p:nvPr/>
        </p:nvSpPr>
        <p:spPr>
          <a:xfrm>
            <a:off x="4526280" y="3931920"/>
            <a:ext cx="3108960" cy="132588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Contractor’s stolen login used on a VPN with no MFA; security alerts not triaged; ~520 GB taken</a:t>
            </a:r>
            <a:endParaRPr lang="en-US" sz="1350" dirty="0"/>
          </a:p>
        </p:txBody>
      </p:sp>
      <p:sp>
        <p:nvSpPr>
          <p:cNvPr id="19" name="Shape 15"/>
          <p:cNvSpPr/>
          <p:nvPr/>
        </p:nvSpPr>
        <p:spPr>
          <a:xfrm>
            <a:off x="4526280" y="5349240"/>
            <a:ext cx="3108960" cy="411480"/>
          </a:xfrm>
          <a:prstGeom prst="roundRect">
            <a:avLst>
              <a:gd name="adj" fmla="val 48889"/>
            </a:avLst>
          </a:prstGeom>
          <a:solidFill>
            <a:srgbClr val="F6E3E1"/>
          </a:solidFill>
          <a:ln w="12700">
            <a:solidFill>
              <a:srgbClr val="B03A2E"/>
            </a:solidFill>
            <a:prstDash val="solid"/>
          </a:ln>
        </p:spPr>
      </p:sp>
      <p:sp>
        <p:nvSpPr>
          <p:cNvPr id="20" name="Text 16"/>
          <p:cNvSpPr txBox="1"/>
          <p:nvPr/>
        </p:nvSpPr>
        <p:spPr>
          <a:xfrm>
            <a:off x="4526280" y="5349240"/>
            <a:ext cx="3108960" cy="411480"/>
          </a:xfrm>
          <a:prstGeom prst="rect">
            <a:avLst/>
          </a:prstGeom>
          <a:noFill/>
          <a:ln/>
        </p:spPr>
        <p:txBody>
          <a:bodyPr wrap="square" lIns="0" tIns="0" rIns="0" bIns="0" rtlCol="0" anchor="ctr"/>
          <a:lstStyle/>
          <a:p>
            <a:pPr algn="ctr" indent="0" marL="0">
              <a:buNone/>
            </a:pPr>
            <a:r>
              <a:rPr lang="en-US" sz="1250" b="1" dirty="0">
                <a:solidFill>
                  <a:srgbClr val="B03A2E"/>
                </a:solidFill>
                <a:latin typeface="Calibri" pitchFamily="34" charset="0"/>
                <a:ea typeface="Calibri" pitchFamily="34" charset="-122"/>
                <a:cs typeface="Calibri" pitchFamily="34" charset="-120"/>
              </a:rPr>
              <a:t>Way in: stolen credentials</a:t>
            </a:r>
            <a:endParaRPr lang="en-US" sz="1250" dirty="0"/>
          </a:p>
        </p:txBody>
      </p:sp>
      <p:sp>
        <p:nvSpPr>
          <p:cNvPr id="21" name="Shape 17"/>
          <p:cNvSpPr/>
          <p:nvPr/>
        </p:nvSpPr>
        <p:spPr>
          <a:xfrm>
            <a:off x="9464040" y="2377440"/>
            <a:ext cx="731520" cy="731520"/>
          </a:xfrm>
          <a:prstGeom prst="ellipse">
            <a:avLst/>
          </a:prstGeom>
          <a:solidFill>
            <a:srgbClr val="1B2A41"/>
          </a:solidFill>
          <a:ln w="12700">
            <a:solidFill>
              <a:srgbClr val="1B2A41"/>
            </a:solidFill>
            <a:prstDash val="solid"/>
          </a:ln>
        </p:spPr>
      </p:sp>
      <p:pic>
        <p:nvPicPr>
          <p:cNvPr id="22" name="Image 2" descr="preencoded.png">    </p:cNvPr>
          <p:cNvPicPr>
            <a:picLocks noChangeAspect="1"/>
          </p:cNvPicPr>
          <p:nvPr/>
        </p:nvPicPr>
        <p:blipFill>
          <a:blip r:embed="rId3"/>
          <a:stretch>
            <a:fillRect/>
          </a:stretch>
        </p:blipFill>
        <p:spPr>
          <a:xfrm>
            <a:off x="9654235" y="2567635"/>
            <a:ext cx="351130" cy="351130"/>
          </a:xfrm>
          <a:prstGeom prst="rect">
            <a:avLst/>
          </a:prstGeom>
        </p:spPr>
      </p:pic>
      <p:sp>
        <p:nvSpPr>
          <p:cNvPr id="23" name="Text 18"/>
          <p:cNvSpPr txBox="1"/>
          <p:nvPr/>
        </p:nvSpPr>
        <p:spPr>
          <a:xfrm>
            <a:off x="8046720" y="1691640"/>
            <a:ext cx="3566160" cy="365760"/>
          </a:xfrm>
          <a:prstGeom prst="rect">
            <a:avLst/>
          </a:prstGeom>
          <a:noFill/>
          <a:ln/>
        </p:spPr>
        <p:txBody>
          <a:bodyPr wrap="square" lIns="0" tIns="0" rIns="0" bIns="0" rtlCol="0" anchor="ctr"/>
          <a:lstStyle/>
          <a:p>
            <a:pPr algn="ctr" indent="0" marL="0">
              <a:buNone/>
            </a:pPr>
            <a:r>
              <a:rPr lang="en-US" sz="1400" b="1" dirty="0">
                <a:solidFill>
                  <a:srgbClr val="5F6B76"/>
                </a:solidFill>
                <a:latin typeface="Calibri" pitchFamily="34" charset="0"/>
                <a:ea typeface="Calibri" pitchFamily="34" charset="-122"/>
                <a:cs typeface="Calibri" pitchFamily="34" charset="-120"/>
              </a:rPr>
              <a:t>Mar 2023</a:t>
            </a:r>
            <a:endParaRPr lang="en-US" sz="1400" dirty="0"/>
          </a:p>
        </p:txBody>
      </p:sp>
      <p:sp>
        <p:nvSpPr>
          <p:cNvPr id="24" name="Shape 19"/>
          <p:cNvSpPr/>
          <p:nvPr/>
        </p:nvSpPr>
        <p:spPr>
          <a:xfrm>
            <a:off x="8046720" y="3337560"/>
            <a:ext cx="3566160" cy="2606040"/>
          </a:xfrm>
          <a:prstGeom prst="roundRect">
            <a:avLst>
              <a:gd name="adj" fmla="val 2807"/>
            </a:avLst>
          </a:prstGeom>
          <a:solidFill>
            <a:srgbClr val="F2F4F7"/>
          </a:solidFill>
          <a:ln w="12700">
            <a:solidFill>
              <a:srgbClr val="F2F4F7"/>
            </a:solidFill>
            <a:prstDash val="solid"/>
          </a:ln>
        </p:spPr>
      </p:sp>
      <p:sp>
        <p:nvSpPr>
          <p:cNvPr id="25" name="Text 20"/>
          <p:cNvSpPr txBox="1"/>
          <p:nvPr/>
        </p:nvSpPr>
        <p:spPr>
          <a:xfrm>
            <a:off x="8275320" y="3474720"/>
            <a:ext cx="3108960" cy="41148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Latitude</a:t>
            </a:r>
            <a:endParaRPr lang="en-US" sz="2000" dirty="0"/>
          </a:p>
        </p:txBody>
      </p:sp>
      <p:sp>
        <p:nvSpPr>
          <p:cNvPr id="26" name="Text 21"/>
          <p:cNvSpPr txBox="1"/>
          <p:nvPr/>
        </p:nvSpPr>
        <p:spPr>
          <a:xfrm>
            <a:off x="8275320" y="3931920"/>
            <a:ext cx="3108960" cy="132588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Attack linked to credentials from a major vendor; old customer records dating back to 2005 exposed</a:t>
            </a:r>
            <a:endParaRPr lang="en-US" sz="1350" dirty="0"/>
          </a:p>
        </p:txBody>
      </p:sp>
      <p:sp>
        <p:nvSpPr>
          <p:cNvPr id="27" name="Shape 22"/>
          <p:cNvSpPr/>
          <p:nvPr/>
        </p:nvSpPr>
        <p:spPr>
          <a:xfrm>
            <a:off x="8275320" y="5349240"/>
            <a:ext cx="3108960" cy="411480"/>
          </a:xfrm>
          <a:prstGeom prst="roundRect">
            <a:avLst>
              <a:gd name="adj" fmla="val 48889"/>
            </a:avLst>
          </a:prstGeom>
          <a:solidFill>
            <a:srgbClr val="FFFFFF"/>
          </a:solidFill>
          <a:ln w="12700">
            <a:solidFill>
              <a:srgbClr val="D5DBE1"/>
            </a:solidFill>
            <a:prstDash val="solid"/>
          </a:ln>
        </p:spPr>
      </p:sp>
      <p:sp>
        <p:nvSpPr>
          <p:cNvPr id="28" name="Text 23"/>
          <p:cNvSpPr txBox="1"/>
          <p:nvPr/>
        </p:nvSpPr>
        <p:spPr>
          <a:xfrm>
            <a:off x="8275320" y="5349240"/>
            <a:ext cx="3108960" cy="411480"/>
          </a:xfrm>
          <a:prstGeom prst="rect">
            <a:avLst/>
          </a:prstGeom>
          <a:noFill/>
          <a:ln/>
        </p:spPr>
        <p:txBody>
          <a:bodyPr wrap="square" lIns="0" tIns="0" rIns="0" bIns="0" rtlCol="0" anchor="ctr"/>
          <a:lstStyle/>
          <a:p>
            <a:pPr algn="ctr" indent="0" marL="0">
              <a:buNone/>
            </a:pPr>
            <a:r>
              <a:rPr lang="en-US" sz="1250" b="1" dirty="0">
                <a:solidFill>
                  <a:srgbClr val="324A5F"/>
                </a:solidFill>
                <a:latin typeface="Calibri" pitchFamily="34" charset="0"/>
                <a:ea typeface="Calibri" pitchFamily="34" charset="-122"/>
                <a:cs typeface="Calibri" pitchFamily="34" charset="-120"/>
              </a:rPr>
              <a:t>Way in: third-party access</a:t>
            </a:r>
            <a:endParaRPr lang="en-US" sz="1250" dirty="0"/>
          </a:p>
        </p:txBody>
      </p:sp>
      <p:sp>
        <p:nvSpPr>
          <p:cNvPr id="29" name="Text 24"/>
          <p:cNvSpPr txBox="1"/>
          <p:nvPr/>
        </p:nvSpPr>
        <p:spPr>
          <a:xfrm>
            <a:off x="548640" y="6355080"/>
            <a:ext cx="9692640" cy="320040"/>
          </a:xfrm>
          <a:prstGeom prst="rect">
            <a:avLst/>
          </a:prstGeom>
          <a:noFill/>
          <a:ln/>
        </p:spPr>
        <p:txBody>
          <a:bodyPr wrap="square" lIns="0" tIns="0" rIns="0" bIns="0" rtlCol="0" anchor="b"/>
          <a:lstStyle/>
          <a:p>
            <a:pPr indent="0" marL="0">
              <a:buNone/>
            </a:pPr>
            <a:r>
              <a:rPr lang="en-US" sz="950" dirty="0">
                <a:solidFill>
                  <a:srgbClr val="5F6B76"/>
                </a:solidFill>
                <a:latin typeface="Calibri" pitchFamily="34" charset="0"/>
                <a:ea typeface="Calibri" pitchFamily="34" charset="-122"/>
                <a:cs typeface="Calibri" pitchFamily="34" charset="-120"/>
              </a:rPr>
              <a:t>Sources: iTnews (2024) on ACMA filing; OAIC (2024) Medibank concise statement; SecurityWeek (2023).</a:t>
            </a:r>
            <a:endParaRPr lang="en-US" sz="950" dirty="0"/>
          </a:p>
        </p:txBody>
      </p:sp>
      <p:sp>
        <p:nvSpPr>
          <p:cNvPr id="30" name="Text 25"/>
          <p:cNvSpPr txBox="1"/>
          <p:nvPr/>
        </p:nvSpPr>
        <p:spPr>
          <a:xfrm>
            <a:off x="11155680" y="6355080"/>
            <a:ext cx="457200" cy="320040"/>
          </a:xfrm>
          <a:prstGeom prst="rect">
            <a:avLst/>
          </a:prstGeom>
          <a:noFill/>
          <a:ln/>
        </p:spPr>
        <p:txBody>
          <a:bodyPr wrap="square" lIns="0" tIns="0" rIns="0" bIns="0" rtlCol="0" anchor="b"/>
          <a:lstStyle/>
          <a:p>
            <a:pPr algn="r" indent="0" marL="0">
              <a:buNone/>
            </a:pPr>
            <a:r>
              <a:rPr lang="en-US" sz="1000" dirty="0">
                <a:solidFill>
                  <a:srgbClr val="5F6B7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B2A41"/>
                </a:solidFill>
                <a:latin typeface="Calibri" pitchFamily="34" charset="0"/>
                <a:ea typeface="Calibri" pitchFamily="34" charset="-122"/>
                <a:cs typeface="Calibri" pitchFamily="34" charset="-120"/>
              </a:rPr>
              <a:t>Medibank: the alarm rang, but nobody answered</a:t>
            </a:r>
            <a:endParaRPr lang="en-US" sz="3200" dirty="0"/>
          </a:p>
        </p:txBody>
      </p:sp>
      <p:sp>
        <p:nvSpPr>
          <p:cNvPr id="3" name="Text 1"/>
          <p:cNvSpPr txBox="1"/>
          <p:nvPr/>
        </p:nvSpPr>
        <p:spPr>
          <a:xfrm>
            <a:off x="548640" y="1005840"/>
            <a:ext cx="11064240" cy="384048"/>
          </a:xfrm>
          <a:prstGeom prst="rect">
            <a:avLst/>
          </a:prstGeom>
          <a:noFill/>
          <a:ln/>
        </p:spPr>
        <p:txBody>
          <a:bodyPr wrap="square" lIns="0" tIns="0" rIns="0" bIns="0" rtlCol="0" anchor="ctr"/>
          <a:lstStyle/>
          <a:p>
            <a:pPr indent="0" marL="0">
              <a:buNone/>
            </a:pPr>
            <a:r>
              <a:rPr lang="en-US" sz="1600" dirty="0">
                <a:solidFill>
                  <a:srgbClr val="5F6B76"/>
                </a:solidFill>
                <a:latin typeface="Calibri" pitchFamily="34" charset="0"/>
                <a:ea typeface="Calibri" pitchFamily="34" charset="-122"/>
                <a:cs typeface="Calibri" pitchFamily="34" charset="-120"/>
              </a:rPr>
              <a:t>Alleged timeline from the OAIC’s Federal Court filing</a:t>
            </a:r>
            <a:endParaRPr lang="en-US" sz="1600" dirty="0"/>
          </a:p>
        </p:txBody>
      </p:sp>
      <p:sp>
        <p:nvSpPr>
          <p:cNvPr id="4" name="Shape 2"/>
          <p:cNvSpPr/>
          <p:nvPr/>
        </p:nvSpPr>
        <p:spPr>
          <a:xfrm>
            <a:off x="548640" y="1737360"/>
            <a:ext cx="1737360" cy="2286000"/>
          </a:xfrm>
          <a:prstGeom prst="roundRect">
            <a:avLst>
              <a:gd name="adj" fmla="val 4211"/>
            </a:avLst>
          </a:prstGeom>
          <a:solidFill>
            <a:srgbClr val="F2F4F7"/>
          </a:solidFill>
          <a:ln w="12700">
            <a:solidFill>
              <a:srgbClr val="F2F4F7"/>
            </a:solidFill>
            <a:prstDash val="solid"/>
          </a:ln>
        </p:spPr>
      </p:sp>
      <p:sp>
        <p:nvSpPr>
          <p:cNvPr id="5" name="Text 3"/>
          <p:cNvSpPr txBox="1"/>
          <p:nvPr/>
        </p:nvSpPr>
        <p:spPr>
          <a:xfrm>
            <a:off x="685800" y="1874520"/>
            <a:ext cx="1463040" cy="41148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~7 Aug</a:t>
            </a:r>
            <a:endParaRPr lang="en-US" sz="1500" dirty="0"/>
          </a:p>
        </p:txBody>
      </p:sp>
      <p:sp>
        <p:nvSpPr>
          <p:cNvPr id="6" name="Text 4"/>
          <p:cNvSpPr txBox="1"/>
          <p:nvPr/>
        </p:nvSpPr>
        <p:spPr>
          <a:xfrm>
            <a:off x="685800" y="2331720"/>
            <a:ext cx="1463040" cy="155448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Contractor’s Medibank login stolen by malware</a:t>
            </a:r>
            <a:endParaRPr lang="en-US" sz="1300" dirty="0"/>
          </a:p>
        </p:txBody>
      </p:sp>
      <p:sp>
        <p:nvSpPr>
          <p:cNvPr id="7" name="Shape 5"/>
          <p:cNvSpPr/>
          <p:nvPr/>
        </p:nvSpPr>
        <p:spPr>
          <a:xfrm>
            <a:off x="2295144" y="2743200"/>
            <a:ext cx="128016" cy="274320"/>
          </a:xfrm>
          <a:prstGeom prst="rightArrow">
            <a:avLst/>
          </a:prstGeom>
          <a:solidFill>
            <a:srgbClr val="5F6B76"/>
          </a:solidFill>
          <a:ln w="12700">
            <a:solidFill>
              <a:srgbClr val="5F6B76"/>
            </a:solidFill>
            <a:prstDash val="solid"/>
          </a:ln>
        </p:spPr>
      </p:sp>
      <p:sp>
        <p:nvSpPr>
          <p:cNvPr id="8" name="Shape 6"/>
          <p:cNvSpPr/>
          <p:nvPr/>
        </p:nvSpPr>
        <p:spPr>
          <a:xfrm>
            <a:off x="2432304" y="1737360"/>
            <a:ext cx="1737360" cy="2286000"/>
          </a:xfrm>
          <a:prstGeom prst="roundRect">
            <a:avLst>
              <a:gd name="adj" fmla="val 4211"/>
            </a:avLst>
          </a:prstGeom>
          <a:solidFill>
            <a:srgbClr val="F2F4F7"/>
          </a:solidFill>
          <a:ln w="12700">
            <a:solidFill>
              <a:srgbClr val="F2F4F7"/>
            </a:solidFill>
            <a:prstDash val="solid"/>
          </a:ln>
        </p:spPr>
      </p:sp>
      <p:sp>
        <p:nvSpPr>
          <p:cNvPr id="9" name="Text 7"/>
          <p:cNvSpPr txBox="1"/>
          <p:nvPr/>
        </p:nvSpPr>
        <p:spPr>
          <a:xfrm>
            <a:off x="2569464" y="1874520"/>
            <a:ext cx="1463040" cy="41148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12 Aug</a:t>
            </a:r>
            <a:endParaRPr lang="en-US" sz="1500" dirty="0"/>
          </a:p>
        </p:txBody>
      </p:sp>
      <p:sp>
        <p:nvSpPr>
          <p:cNvPr id="10" name="Text 8"/>
          <p:cNvSpPr txBox="1"/>
          <p:nvPr/>
        </p:nvSpPr>
        <p:spPr>
          <a:xfrm>
            <a:off x="2569464" y="2331720"/>
            <a:ext cx="1463040" cy="155448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Attacker tests the stolen admin login</a:t>
            </a:r>
            <a:endParaRPr lang="en-US" sz="1300" dirty="0"/>
          </a:p>
        </p:txBody>
      </p:sp>
      <p:sp>
        <p:nvSpPr>
          <p:cNvPr id="11" name="Shape 9"/>
          <p:cNvSpPr/>
          <p:nvPr/>
        </p:nvSpPr>
        <p:spPr>
          <a:xfrm>
            <a:off x="4178808" y="2743200"/>
            <a:ext cx="128016" cy="274320"/>
          </a:xfrm>
          <a:prstGeom prst="rightArrow">
            <a:avLst/>
          </a:prstGeom>
          <a:solidFill>
            <a:srgbClr val="5F6B76"/>
          </a:solidFill>
          <a:ln w="12700">
            <a:solidFill>
              <a:srgbClr val="5F6B76"/>
            </a:solidFill>
            <a:prstDash val="solid"/>
          </a:ln>
        </p:spPr>
      </p:sp>
      <p:sp>
        <p:nvSpPr>
          <p:cNvPr id="12" name="Shape 10"/>
          <p:cNvSpPr/>
          <p:nvPr/>
        </p:nvSpPr>
        <p:spPr>
          <a:xfrm>
            <a:off x="4315968" y="1737360"/>
            <a:ext cx="1737360" cy="2286000"/>
          </a:xfrm>
          <a:prstGeom prst="roundRect">
            <a:avLst>
              <a:gd name="adj" fmla="val 4211"/>
            </a:avLst>
          </a:prstGeom>
          <a:solidFill>
            <a:srgbClr val="F2F4F7"/>
          </a:solidFill>
          <a:ln w="12700">
            <a:solidFill>
              <a:srgbClr val="F2F4F7"/>
            </a:solidFill>
            <a:prstDash val="solid"/>
          </a:ln>
        </p:spPr>
      </p:sp>
      <p:sp>
        <p:nvSpPr>
          <p:cNvPr id="13" name="Text 11"/>
          <p:cNvSpPr txBox="1"/>
          <p:nvPr/>
        </p:nvSpPr>
        <p:spPr>
          <a:xfrm>
            <a:off x="4453128" y="1874520"/>
            <a:ext cx="1463040" cy="41148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~23 Aug</a:t>
            </a:r>
            <a:endParaRPr lang="en-US" sz="1500" dirty="0"/>
          </a:p>
        </p:txBody>
      </p:sp>
      <p:sp>
        <p:nvSpPr>
          <p:cNvPr id="14" name="Text 12"/>
          <p:cNvSpPr txBox="1"/>
          <p:nvPr/>
        </p:nvSpPr>
        <p:spPr>
          <a:xfrm>
            <a:off x="4453128" y="2331720"/>
            <a:ext cx="1463040" cy="155448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Logs in to VPN: no MFA required</a:t>
            </a:r>
            <a:endParaRPr lang="en-US" sz="1300" dirty="0"/>
          </a:p>
        </p:txBody>
      </p:sp>
      <p:sp>
        <p:nvSpPr>
          <p:cNvPr id="15" name="Shape 13"/>
          <p:cNvSpPr/>
          <p:nvPr/>
        </p:nvSpPr>
        <p:spPr>
          <a:xfrm>
            <a:off x="6062472" y="2743200"/>
            <a:ext cx="128016" cy="274320"/>
          </a:xfrm>
          <a:prstGeom prst="rightArrow">
            <a:avLst/>
          </a:prstGeom>
          <a:solidFill>
            <a:srgbClr val="5F6B76"/>
          </a:solidFill>
          <a:ln w="12700">
            <a:solidFill>
              <a:srgbClr val="5F6B76"/>
            </a:solidFill>
            <a:prstDash val="solid"/>
          </a:ln>
        </p:spPr>
      </p:sp>
      <p:sp>
        <p:nvSpPr>
          <p:cNvPr id="16" name="Shape 14"/>
          <p:cNvSpPr/>
          <p:nvPr/>
        </p:nvSpPr>
        <p:spPr>
          <a:xfrm>
            <a:off x="6199632" y="1737360"/>
            <a:ext cx="1737360" cy="2286000"/>
          </a:xfrm>
          <a:prstGeom prst="roundRect">
            <a:avLst>
              <a:gd name="adj" fmla="val 4211"/>
            </a:avLst>
          </a:prstGeom>
          <a:solidFill>
            <a:srgbClr val="B03A2E"/>
          </a:solidFill>
          <a:ln w="12700">
            <a:solidFill>
              <a:srgbClr val="B03A2E"/>
            </a:solidFill>
            <a:prstDash val="solid"/>
          </a:ln>
        </p:spPr>
      </p:sp>
      <p:sp>
        <p:nvSpPr>
          <p:cNvPr id="17" name="Text 15"/>
          <p:cNvSpPr txBox="1"/>
          <p:nvPr/>
        </p:nvSpPr>
        <p:spPr>
          <a:xfrm>
            <a:off x="6336792" y="1874520"/>
            <a:ext cx="14630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24–25 Aug</a:t>
            </a:r>
            <a:endParaRPr lang="en-US" sz="1500" dirty="0"/>
          </a:p>
        </p:txBody>
      </p:sp>
      <p:sp>
        <p:nvSpPr>
          <p:cNvPr id="18" name="Text 16"/>
          <p:cNvSpPr txBox="1"/>
          <p:nvPr/>
        </p:nvSpPr>
        <p:spPr>
          <a:xfrm>
            <a:off x="6336792" y="2331720"/>
            <a:ext cx="1463040" cy="15544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Security software raises alerts, which are not triaged</a:t>
            </a:r>
            <a:endParaRPr lang="en-US" sz="1300" dirty="0"/>
          </a:p>
        </p:txBody>
      </p:sp>
      <p:sp>
        <p:nvSpPr>
          <p:cNvPr id="19" name="Shape 17"/>
          <p:cNvSpPr/>
          <p:nvPr/>
        </p:nvSpPr>
        <p:spPr>
          <a:xfrm>
            <a:off x="7946136" y="2743200"/>
            <a:ext cx="128016" cy="274320"/>
          </a:xfrm>
          <a:prstGeom prst="rightArrow">
            <a:avLst/>
          </a:prstGeom>
          <a:solidFill>
            <a:srgbClr val="5F6B76"/>
          </a:solidFill>
          <a:ln w="12700">
            <a:solidFill>
              <a:srgbClr val="5F6B76"/>
            </a:solidFill>
            <a:prstDash val="solid"/>
          </a:ln>
        </p:spPr>
      </p:sp>
      <p:sp>
        <p:nvSpPr>
          <p:cNvPr id="20" name="Shape 18"/>
          <p:cNvSpPr/>
          <p:nvPr/>
        </p:nvSpPr>
        <p:spPr>
          <a:xfrm>
            <a:off x="8083296" y="1737360"/>
            <a:ext cx="1737360" cy="2286000"/>
          </a:xfrm>
          <a:prstGeom prst="roundRect">
            <a:avLst>
              <a:gd name="adj" fmla="val 4211"/>
            </a:avLst>
          </a:prstGeom>
          <a:solidFill>
            <a:srgbClr val="F2F4F7"/>
          </a:solidFill>
          <a:ln w="12700">
            <a:solidFill>
              <a:srgbClr val="F2F4F7"/>
            </a:solidFill>
            <a:prstDash val="solid"/>
          </a:ln>
        </p:spPr>
      </p:sp>
      <p:sp>
        <p:nvSpPr>
          <p:cNvPr id="21" name="Text 19"/>
          <p:cNvSpPr txBox="1"/>
          <p:nvPr/>
        </p:nvSpPr>
        <p:spPr>
          <a:xfrm>
            <a:off x="8220456" y="1874520"/>
            <a:ext cx="1463040" cy="41148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25 Aug – 13 Oct</a:t>
            </a:r>
            <a:endParaRPr lang="en-US" sz="1500" dirty="0"/>
          </a:p>
        </p:txBody>
      </p:sp>
      <p:sp>
        <p:nvSpPr>
          <p:cNvPr id="22" name="Text 20"/>
          <p:cNvSpPr txBox="1"/>
          <p:nvPr/>
        </p:nvSpPr>
        <p:spPr>
          <a:xfrm>
            <a:off x="8220456" y="2331720"/>
            <a:ext cx="1463040" cy="155448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~520 GB of data extracted</a:t>
            </a:r>
            <a:endParaRPr lang="en-US" sz="1300" dirty="0"/>
          </a:p>
        </p:txBody>
      </p:sp>
      <p:sp>
        <p:nvSpPr>
          <p:cNvPr id="23" name="Shape 21"/>
          <p:cNvSpPr/>
          <p:nvPr/>
        </p:nvSpPr>
        <p:spPr>
          <a:xfrm>
            <a:off x="9829800" y="2743200"/>
            <a:ext cx="128016" cy="274320"/>
          </a:xfrm>
          <a:prstGeom prst="rightArrow">
            <a:avLst/>
          </a:prstGeom>
          <a:solidFill>
            <a:srgbClr val="5F6B76"/>
          </a:solidFill>
          <a:ln w="12700">
            <a:solidFill>
              <a:srgbClr val="5F6B76"/>
            </a:solidFill>
            <a:prstDash val="solid"/>
          </a:ln>
        </p:spPr>
      </p:sp>
      <p:sp>
        <p:nvSpPr>
          <p:cNvPr id="24" name="Shape 22"/>
          <p:cNvSpPr/>
          <p:nvPr/>
        </p:nvSpPr>
        <p:spPr>
          <a:xfrm>
            <a:off x="9966960" y="1737360"/>
            <a:ext cx="1737360" cy="2286000"/>
          </a:xfrm>
          <a:prstGeom prst="roundRect">
            <a:avLst>
              <a:gd name="adj" fmla="val 4211"/>
            </a:avLst>
          </a:prstGeom>
          <a:solidFill>
            <a:srgbClr val="F2F4F7"/>
          </a:solidFill>
          <a:ln w="12700">
            <a:solidFill>
              <a:srgbClr val="F2F4F7"/>
            </a:solidFill>
            <a:prstDash val="solid"/>
          </a:ln>
        </p:spPr>
      </p:sp>
      <p:sp>
        <p:nvSpPr>
          <p:cNvPr id="25" name="Text 23"/>
          <p:cNvSpPr txBox="1"/>
          <p:nvPr/>
        </p:nvSpPr>
        <p:spPr>
          <a:xfrm>
            <a:off x="10104120" y="1874520"/>
            <a:ext cx="1463040" cy="41148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11 Oct</a:t>
            </a:r>
            <a:endParaRPr lang="en-US" sz="1500" dirty="0"/>
          </a:p>
        </p:txBody>
      </p:sp>
      <p:sp>
        <p:nvSpPr>
          <p:cNvPr id="26" name="Text 24"/>
          <p:cNvSpPr txBox="1"/>
          <p:nvPr/>
        </p:nvSpPr>
        <p:spPr>
          <a:xfrm>
            <a:off x="10104120" y="2331720"/>
            <a:ext cx="1463040" cy="155448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High-severity incident finally triaged</a:t>
            </a:r>
            <a:endParaRPr lang="en-US" sz="1300" dirty="0"/>
          </a:p>
        </p:txBody>
      </p:sp>
      <p:sp>
        <p:nvSpPr>
          <p:cNvPr id="27" name="Shape 25"/>
          <p:cNvSpPr/>
          <p:nvPr/>
        </p:nvSpPr>
        <p:spPr>
          <a:xfrm>
            <a:off x="548640" y="4343400"/>
            <a:ext cx="11064240" cy="1691640"/>
          </a:xfrm>
          <a:prstGeom prst="roundRect">
            <a:avLst>
              <a:gd name="adj" fmla="val 4324"/>
            </a:avLst>
          </a:prstGeom>
          <a:solidFill>
            <a:srgbClr val="E1EFEA"/>
          </a:solidFill>
          <a:ln w="12700">
            <a:solidFill>
              <a:srgbClr val="E1EFEA"/>
            </a:solidFill>
            <a:prstDash val="solid"/>
          </a:ln>
        </p:spPr>
      </p:sp>
      <p:sp>
        <p:nvSpPr>
          <p:cNvPr id="28" name="Shape 26"/>
          <p:cNvSpPr/>
          <p:nvPr/>
        </p:nvSpPr>
        <p:spPr>
          <a:xfrm>
            <a:off x="777240" y="4709160"/>
            <a:ext cx="868680" cy="868680"/>
          </a:xfrm>
          <a:prstGeom prst="ellipse">
            <a:avLst/>
          </a:prstGeom>
          <a:solidFill>
            <a:srgbClr val="2E6F5E"/>
          </a:solidFill>
          <a:ln w="12700">
            <a:solidFill>
              <a:srgbClr val="2E6F5E"/>
            </a:solidFill>
            <a:prstDash val="solid"/>
          </a:ln>
        </p:spPr>
      </p:sp>
      <p:pic>
        <p:nvPicPr>
          <p:cNvPr id="29" name="Image 0" descr="preencoded.png">    </p:cNvPr>
          <p:cNvPicPr>
            <a:picLocks noChangeAspect="1"/>
          </p:cNvPicPr>
          <p:nvPr/>
        </p:nvPicPr>
        <p:blipFill>
          <a:blip r:embed="rId1"/>
          <a:stretch>
            <a:fillRect/>
          </a:stretch>
        </p:blipFill>
        <p:spPr>
          <a:xfrm>
            <a:off x="1003097" y="4935017"/>
            <a:ext cx="416966" cy="416966"/>
          </a:xfrm>
          <a:prstGeom prst="rect">
            <a:avLst/>
          </a:prstGeom>
        </p:spPr>
      </p:pic>
      <p:sp>
        <p:nvSpPr>
          <p:cNvPr id="30" name="Text 27"/>
          <p:cNvSpPr txBox="1"/>
          <p:nvPr/>
        </p:nvSpPr>
        <p:spPr>
          <a:xfrm>
            <a:off x="1874520" y="4480560"/>
            <a:ext cx="9509760" cy="1463040"/>
          </a:xfrm>
          <a:prstGeom prst="rect">
            <a:avLst/>
          </a:prstGeom>
          <a:noFill/>
          <a:ln/>
        </p:spPr>
        <p:txBody>
          <a:bodyPr wrap="square" lIns="0" tIns="0" rIns="0" bIns="0" rtlCol="0" anchor="ctr"/>
          <a:lstStyle/>
          <a:p>
            <a:pPr indent="0" marL="0">
              <a:buNone/>
            </a:pPr>
            <a:r>
              <a:rPr lang="en-US" sz="1500" b="1" dirty="0">
                <a:solidFill>
                  <a:srgbClr val="2E6F5E"/>
                </a:solidFill>
                <a:latin typeface="Calibri" pitchFamily="34" charset="0"/>
                <a:ea typeface="Calibri" pitchFamily="34" charset="-122"/>
                <a:cs typeface="Calibri" pitchFamily="34" charset="-120"/>
              </a:rPr>
              <a:t>Lesson: detection = tool × process × people.</a:t>
            </a:r>
            <a:endParaRPr lang="en-US" sz="1500" dirty="0"/>
          </a:p>
          <a:p>
            <a:pPr indent="0" marL="0">
              <a:buNone/>
            </a:pPr>
            <a:r>
              <a:rPr lang="en-US" sz="1500" dirty="0">
                <a:solidFill>
                  <a:srgbClr val="1B2A41"/>
                </a:solidFill>
                <a:latin typeface="Calibri" pitchFamily="34" charset="0"/>
                <a:ea typeface="Calibri" pitchFamily="34" charset="-122"/>
                <a:cs typeface="Calibri" pitchFamily="34" charset="-120"/>
              </a:rPr>
              <a:t>The endpoint tool (EDR) did its job. The gap was ownership: alerts went to an inbox, and no one was accountable for acting on them. Research finds analysts see most alerts as false alarms, so alert fatigue is a predictable risk that needs managing (Alahmadi et al., 2022).</a:t>
            </a:r>
            <a:endParaRPr lang="en-US" sz="1500" dirty="0"/>
          </a:p>
        </p:txBody>
      </p:sp>
      <p:sp>
        <p:nvSpPr>
          <p:cNvPr id="31" name="Text 28"/>
          <p:cNvSpPr txBox="1"/>
          <p:nvPr/>
        </p:nvSpPr>
        <p:spPr>
          <a:xfrm>
            <a:off x="548640" y="6355080"/>
            <a:ext cx="9692640" cy="320040"/>
          </a:xfrm>
          <a:prstGeom prst="rect">
            <a:avLst/>
          </a:prstGeom>
          <a:noFill/>
          <a:ln/>
        </p:spPr>
        <p:txBody>
          <a:bodyPr wrap="square" lIns="0" tIns="0" rIns="0" bIns="0" rtlCol="0" anchor="b"/>
          <a:lstStyle/>
          <a:p>
            <a:pPr indent="0" marL="0">
              <a:buNone/>
            </a:pPr>
            <a:r>
              <a:rPr lang="en-US" sz="950" dirty="0">
                <a:solidFill>
                  <a:srgbClr val="5F6B76"/>
                </a:solidFill>
                <a:latin typeface="Calibri" pitchFamily="34" charset="0"/>
                <a:ea typeface="Calibri" pitchFamily="34" charset="-122"/>
                <a:cs typeface="Calibri" pitchFamily="34" charset="-120"/>
              </a:rPr>
              <a:t>Sources: OAIC (2024) Medibank alleged timeline and concise statement; Alahmadi et al. (2022).</a:t>
            </a:r>
            <a:endParaRPr lang="en-US" sz="950" dirty="0"/>
          </a:p>
        </p:txBody>
      </p:sp>
      <p:sp>
        <p:nvSpPr>
          <p:cNvPr id="32" name="Text 29"/>
          <p:cNvSpPr txBox="1"/>
          <p:nvPr/>
        </p:nvSpPr>
        <p:spPr>
          <a:xfrm>
            <a:off x="11155680" y="6355080"/>
            <a:ext cx="457200" cy="320040"/>
          </a:xfrm>
          <a:prstGeom prst="rect">
            <a:avLst/>
          </a:prstGeom>
          <a:noFill/>
          <a:ln/>
        </p:spPr>
        <p:txBody>
          <a:bodyPr wrap="square" lIns="0" tIns="0" rIns="0" bIns="0" rtlCol="0" anchor="b"/>
          <a:lstStyle/>
          <a:p>
            <a:pPr algn="r" indent="0" marL="0">
              <a:buNone/>
            </a:pPr>
            <a:r>
              <a:rPr lang="en-US" sz="1000" dirty="0">
                <a:solidFill>
                  <a:srgbClr val="5F6B7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B2A41"/>
                </a:solidFill>
                <a:latin typeface="Calibri" pitchFamily="34" charset="0"/>
                <a:ea typeface="Calibri" pitchFamily="34" charset="-122"/>
                <a:cs typeface="Calibri" pitchFamily="34" charset="-120"/>
              </a:rPr>
              <a:t>Comparing the four main investigation tools</a:t>
            </a:r>
            <a:endParaRPr lang="en-US" sz="3200" dirty="0"/>
          </a:p>
        </p:txBody>
      </p:sp>
      <p:sp>
        <p:nvSpPr>
          <p:cNvPr id="3" name="Text 1"/>
          <p:cNvSpPr txBox="1"/>
          <p:nvPr/>
        </p:nvSpPr>
        <p:spPr>
          <a:xfrm>
            <a:off x="548640" y="1005840"/>
            <a:ext cx="11064240" cy="384048"/>
          </a:xfrm>
          <a:prstGeom prst="rect">
            <a:avLst/>
          </a:prstGeom>
          <a:noFill/>
          <a:ln/>
        </p:spPr>
        <p:txBody>
          <a:bodyPr wrap="square" lIns="0" tIns="0" rIns="0" bIns="0" rtlCol="0" anchor="ctr"/>
          <a:lstStyle/>
          <a:p>
            <a:pPr indent="0" marL="0">
              <a:buNone/>
            </a:pPr>
            <a:r>
              <a:rPr lang="en-US" sz="1600" dirty="0">
                <a:solidFill>
                  <a:srgbClr val="5F6B76"/>
                </a:solidFill>
                <a:latin typeface="Calibri" pitchFamily="34" charset="0"/>
                <a:ea typeface="Calibri" pitchFamily="34" charset="-122"/>
                <a:cs typeface="Calibri" pitchFamily="34" charset="-120"/>
              </a:rPr>
              <a:t>Shading shows how favourable each rating is for the organisation</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566160"/>
                <a:gridCol w="1051560"/>
                <a:gridCol w="1051560"/>
                <a:gridCol w="1005840"/>
                <a:gridCol w="1143000"/>
                <a:gridCol w="1143000"/>
                <a:gridCol w="1051560"/>
                <a:gridCol w="105156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Tool (what it does)</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Coverage</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Cost</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Skills needed</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Integration</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Prevent</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Respond</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1"/>
                    </a:solidFill>
                  </a:tcPr>
                </a:tc>
              </a:tr>
              <a:tr h="713232">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SIEM: collects and correlates logs from everywhere</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7"/>
                    </a:solidFill>
                  </a:tcPr>
                </a:tc>
                <a:tc>
                  <a:txBody>
                    <a:bodyPr/>
                    <a:lstStyle/>
                    <a:p>
                      <a:pPr algn="ctr" indent="0" marL="0">
                        <a:buNone/>
                      </a:pPr>
                      <a:r>
                        <a:rPr lang="en-US" sz="1300" b="1" dirty="0">
                          <a:solidFill>
                            <a:srgbClr val="2E6F5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EFEA"/>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B03A2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E1"/>
                    </a:solidFill>
                  </a:tcPr>
                </a:tc>
                <a:tc>
                  <a:txBody>
                    <a:bodyPr/>
                    <a:lstStyle/>
                    <a:p>
                      <a:pPr algn="ctr" indent="0" marL="0">
                        <a:buNone/>
                      </a:pPr>
                      <a:r>
                        <a:rPr lang="en-US" sz="1300" b="1" dirty="0">
                          <a:solidFill>
                            <a:srgbClr val="B03A2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E1"/>
                    </a:solidFill>
                  </a:tcPr>
                </a:tc>
                <a:tc>
                  <a:txBody>
                    <a:bodyPr/>
                    <a:lstStyle/>
                    <a:p>
                      <a:pPr algn="ctr" indent="0" marL="0">
                        <a:buNone/>
                      </a:pPr>
                      <a:r>
                        <a:rPr lang="en-US" sz="1300" b="1" dirty="0">
                          <a:solidFill>
                            <a:srgbClr val="2E6F5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EFEA"/>
                    </a:solidFill>
                  </a:tcPr>
                </a:tc>
                <a:tc>
                  <a:txBody>
                    <a:bodyPr/>
                    <a:lstStyle/>
                    <a:p>
                      <a:pPr algn="ctr" indent="0" marL="0">
                        <a:buNone/>
                      </a:pPr>
                      <a:r>
                        <a:rPr lang="en-US" sz="1300" b="1" dirty="0">
                          <a:solidFill>
                            <a:srgbClr val="2E6F5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EFEA"/>
                    </a:solidFill>
                  </a:tcPr>
                </a:tc>
                <a:tc>
                  <a:txBody>
                    <a:bodyPr/>
                    <a:lstStyle/>
                    <a:p>
                      <a:pPr algn="ctr" indent="0" marL="0">
                        <a:buNone/>
                      </a:pPr>
                      <a:r>
                        <a:rPr lang="en-US" sz="1300" b="1" dirty="0">
                          <a:solidFill>
                            <a:srgbClr val="2E6F5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EFEA"/>
                    </a:solidFill>
                  </a:tcPr>
                </a:tc>
              </a:tr>
              <a:tr h="713232">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EDR/XDR: watches and isolates devices</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7"/>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2E6F5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EFEA"/>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2E6F5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EFEA"/>
                    </a:solidFill>
                  </a:tcPr>
                </a:tc>
                <a:tc>
                  <a:txBody>
                    <a:bodyPr/>
                    <a:lstStyle/>
                    <a:p>
                      <a:pPr algn="ctr" indent="0" marL="0">
                        <a:buNone/>
                      </a:pPr>
                      <a:r>
                        <a:rPr lang="en-US" sz="1300" b="1" dirty="0">
                          <a:solidFill>
                            <a:srgbClr val="2E6F5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EFEA"/>
                    </a:solidFill>
                  </a:tcPr>
                </a:tc>
              </a:tr>
              <a:tr h="713232">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Forensics (DFIR): reconstructs what happened</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7"/>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Targeted</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2E6F5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EFEA"/>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B03A2E"/>
                          </a:solidFill>
                          <a:latin typeface="Calibri" pitchFamily="34" charset="0"/>
                          <a:ea typeface="Calibri" pitchFamily="34" charset="-122"/>
                          <a:cs typeface="Calibri" pitchFamily="34" charset="-120"/>
                        </a:rPr>
                        <a:t>Very 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E1"/>
                    </a:solidFill>
                  </a:tcPr>
                </a:tc>
                <a:tc>
                  <a:txBody>
                    <a:bodyPr/>
                    <a:lstStyle/>
                    <a:p>
                      <a:pPr algn="ctr" indent="0" marL="0">
                        <a:buNone/>
                      </a:pPr>
                      <a:r>
                        <a:rPr lang="en-US" sz="1300" b="1" dirty="0">
                          <a:solidFill>
                            <a:srgbClr val="B03A2E"/>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E1"/>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Low–Med</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2E6F5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EFEA"/>
                    </a:solidFill>
                  </a:tcPr>
                </a:tc>
              </a:tr>
              <a:tr h="713232">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Threat intelligence: who is targeting us, and how</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7"/>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External</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Variable</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B03A2E"/>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E1"/>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c>
                  <a:txBody>
                    <a:bodyPr/>
                    <a:lstStyle/>
                    <a:p>
                      <a:pPr algn="ctr" indent="0" marL="0">
                        <a:buNone/>
                      </a:pPr>
                      <a:r>
                        <a:rPr lang="en-US" sz="1300" b="1" dirty="0">
                          <a:solidFill>
                            <a:srgbClr val="8A5A00"/>
                          </a:solidFill>
                          <a:latin typeface="Calibri" pitchFamily="34" charset="0"/>
                          <a:ea typeface="Calibri" pitchFamily="34" charset="-122"/>
                          <a:cs typeface="Calibri" pitchFamily="34" charset="-120"/>
                        </a:rPr>
                        <a:t>Low–Med</a:t>
                      </a:r>
                      <a:endParaRPr lang="en-US" sz="13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1DC"/>
                    </a:solidFill>
                  </a:tcPr>
                </a:tc>
              </a:tr>
            </a:tbl>
          </a:graphicData>
        </a:graphic>
      </p:graphicFrame>
      <p:sp>
        <p:nvSpPr>
          <p:cNvPr id="5" name="Shape 2"/>
          <p:cNvSpPr/>
          <p:nvPr/>
        </p:nvSpPr>
        <p:spPr>
          <a:xfrm>
            <a:off x="548640" y="5074920"/>
            <a:ext cx="274320" cy="274320"/>
          </a:xfrm>
          <a:prstGeom prst="rect">
            <a:avLst/>
          </a:prstGeom>
          <a:solidFill>
            <a:srgbClr val="E1EFEA"/>
          </a:solidFill>
          <a:ln w="12700">
            <a:solidFill>
              <a:srgbClr val="2E6F5E"/>
            </a:solidFill>
            <a:prstDash val="solid"/>
          </a:ln>
        </p:spPr>
      </p:sp>
      <p:sp>
        <p:nvSpPr>
          <p:cNvPr id="6" name="Text 3"/>
          <p:cNvSpPr txBox="1"/>
          <p:nvPr/>
        </p:nvSpPr>
        <p:spPr>
          <a:xfrm>
            <a:off x="914400" y="5074920"/>
            <a:ext cx="1371600" cy="27432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Favourable</a:t>
            </a:r>
            <a:endParaRPr lang="en-US" sz="1200" dirty="0"/>
          </a:p>
        </p:txBody>
      </p:sp>
      <p:sp>
        <p:nvSpPr>
          <p:cNvPr id="7" name="Shape 4"/>
          <p:cNvSpPr/>
          <p:nvPr/>
        </p:nvSpPr>
        <p:spPr>
          <a:xfrm>
            <a:off x="2286000" y="5074920"/>
            <a:ext cx="274320" cy="274320"/>
          </a:xfrm>
          <a:prstGeom prst="rect">
            <a:avLst/>
          </a:prstGeom>
          <a:solidFill>
            <a:srgbClr val="FBF1DC"/>
          </a:solidFill>
          <a:ln w="12700">
            <a:solidFill>
              <a:srgbClr val="8A5A00"/>
            </a:solidFill>
            <a:prstDash val="solid"/>
          </a:ln>
        </p:spPr>
      </p:sp>
      <p:sp>
        <p:nvSpPr>
          <p:cNvPr id="8" name="Text 5"/>
          <p:cNvSpPr txBox="1"/>
          <p:nvPr/>
        </p:nvSpPr>
        <p:spPr>
          <a:xfrm>
            <a:off x="2651760" y="5074920"/>
            <a:ext cx="1371600" cy="27432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Moderate</a:t>
            </a:r>
            <a:endParaRPr lang="en-US" sz="1200" dirty="0"/>
          </a:p>
        </p:txBody>
      </p:sp>
      <p:sp>
        <p:nvSpPr>
          <p:cNvPr id="9" name="Shape 6"/>
          <p:cNvSpPr/>
          <p:nvPr/>
        </p:nvSpPr>
        <p:spPr>
          <a:xfrm>
            <a:off x="4023360" y="5074920"/>
            <a:ext cx="274320" cy="274320"/>
          </a:xfrm>
          <a:prstGeom prst="rect">
            <a:avLst/>
          </a:prstGeom>
          <a:solidFill>
            <a:srgbClr val="F6E3E1"/>
          </a:solidFill>
          <a:ln w="12700">
            <a:solidFill>
              <a:srgbClr val="B03A2E"/>
            </a:solidFill>
            <a:prstDash val="solid"/>
          </a:ln>
        </p:spPr>
      </p:sp>
      <p:sp>
        <p:nvSpPr>
          <p:cNvPr id="10" name="Text 7"/>
          <p:cNvSpPr txBox="1"/>
          <p:nvPr/>
        </p:nvSpPr>
        <p:spPr>
          <a:xfrm>
            <a:off x="4389120" y="5074920"/>
            <a:ext cx="1371600" cy="27432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Unfavourable</a:t>
            </a:r>
            <a:endParaRPr lang="en-US" sz="1200" dirty="0"/>
          </a:p>
        </p:txBody>
      </p:sp>
      <p:sp>
        <p:nvSpPr>
          <p:cNvPr id="11" name="Text 8"/>
          <p:cNvSpPr txBox="1"/>
          <p:nvPr/>
        </p:nvSpPr>
        <p:spPr>
          <a:xfrm>
            <a:off x="5943600" y="4937760"/>
            <a:ext cx="5669280" cy="685800"/>
          </a:xfrm>
          <a:prstGeom prst="rect">
            <a:avLst/>
          </a:prstGeom>
          <a:noFill/>
          <a:ln/>
        </p:spPr>
        <p:txBody>
          <a:bodyPr wrap="square" lIns="0" tIns="0" rIns="0" bIns="0" rtlCol="0" anchor="ctr"/>
          <a:lstStyle/>
          <a:p>
            <a:pPr indent="0" marL="0">
              <a:buNone/>
            </a:pPr>
            <a:r>
              <a:rPr lang="en-US" sz="1400" b="1" dirty="0">
                <a:solidFill>
                  <a:srgbClr val="B03A2E"/>
                </a:solidFill>
                <a:latin typeface="Calibri" pitchFamily="34" charset="0"/>
                <a:ea typeface="Calibri" pitchFamily="34" charset="-122"/>
                <a:cs typeface="Calibri" pitchFamily="34" charset="-120"/>
              </a:rPr>
              <a:t>Takeaway: </a:t>
            </a:r>
            <a:pPr indent="0" marL="0">
              <a:buNone/>
            </a:pPr>
            <a:r>
              <a:rPr lang="en-US" sz="1400" dirty="0">
                <a:solidFill>
                  <a:srgbClr val="1B2A41"/>
                </a:solidFill>
                <a:latin typeface="Calibri" pitchFamily="34" charset="0"/>
                <a:ea typeface="Calibri" pitchFamily="34" charset="-122"/>
                <a:cs typeface="Calibri" pitchFamily="34" charset="-120"/>
              </a:rPr>
              <a:t>SIEM + EDR is the core. Forensics is bought when needed (on retainer). Threat intelligence only pays off once the basics work.</a:t>
            </a:r>
            <a:endParaRPr lang="en-US" sz="1400" dirty="0"/>
          </a:p>
        </p:txBody>
      </p:sp>
      <p:sp>
        <p:nvSpPr>
          <p:cNvPr id="12" name="Text 9"/>
          <p:cNvSpPr txBox="1"/>
          <p:nvPr/>
        </p:nvSpPr>
        <p:spPr>
          <a:xfrm>
            <a:off x="548640" y="6355080"/>
            <a:ext cx="9692640" cy="320040"/>
          </a:xfrm>
          <a:prstGeom prst="rect">
            <a:avLst/>
          </a:prstGeom>
          <a:noFill/>
          <a:ln/>
        </p:spPr>
        <p:txBody>
          <a:bodyPr wrap="square" lIns="0" tIns="0" rIns="0" bIns="0" rtlCol="0" anchor="b"/>
          <a:lstStyle/>
          <a:p>
            <a:pPr indent="0" marL="0">
              <a:buNone/>
            </a:pPr>
            <a:r>
              <a:rPr lang="en-US" sz="950" dirty="0">
                <a:solidFill>
                  <a:srgbClr val="5F6B76"/>
                </a:solidFill>
                <a:latin typeface="Calibri" pitchFamily="34" charset="0"/>
                <a:ea typeface="Calibri" pitchFamily="34" charset="-122"/>
                <a:cs typeface="Calibri" pitchFamily="34" charset="-120"/>
              </a:rPr>
              <a:t>Sources: Author’s assessment informed by ASD’s ACSC et al. (2024); González-Granadillo et al. (2021); Alahmadi et al. (2022).</a:t>
            </a:r>
            <a:endParaRPr lang="en-US" sz="950" dirty="0"/>
          </a:p>
        </p:txBody>
      </p:sp>
      <p:sp>
        <p:nvSpPr>
          <p:cNvPr id="13" name="Text 10"/>
          <p:cNvSpPr txBox="1"/>
          <p:nvPr/>
        </p:nvSpPr>
        <p:spPr>
          <a:xfrm>
            <a:off x="11155680" y="6355080"/>
            <a:ext cx="457200" cy="320040"/>
          </a:xfrm>
          <a:prstGeom prst="rect">
            <a:avLst/>
          </a:prstGeom>
          <a:noFill/>
          <a:ln/>
        </p:spPr>
        <p:txBody>
          <a:bodyPr wrap="square" lIns="0" tIns="0" rIns="0" bIns="0" rtlCol="0" anchor="b"/>
          <a:lstStyle/>
          <a:p>
            <a:pPr algn="r" indent="0" marL="0">
              <a:buNone/>
            </a:pPr>
            <a:r>
              <a:rPr lang="en-US" sz="1000" dirty="0">
                <a:solidFill>
                  <a:srgbClr val="5F6B7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B2A41"/>
                </a:solidFill>
                <a:latin typeface="Calibri" pitchFamily="34" charset="0"/>
                <a:ea typeface="Calibri" pitchFamily="34" charset="-122"/>
                <a:cs typeface="Calibri" pitchFamily="34" charset="-120"/>
              </a:rPr>
              <a:t>Mapped to NIST CSF 2.0: no tool covers "Govern"</a:t>
            </a:r>
            <a:endParaRPr lang="en-US" sz="3200" dirty="0"/>
          </a:p>
        </p:txBody>
      </p:sp>
      <p:sp>
        <p:nvSpPr>
          <p:cNvPr id="3" name="Text 1"/>
          <p:cNvSpPr txBox="1"/>
          <p:nvPr/>
        </p:nvSpPr>
        <p:spPr>
          <a:xfrm>
            <a:off x="548640" y="1005840"/>
            <a:ext cx="11064240" cy="384048"/>
          </a:xfrm>
          <a:prstGeom prst="rect">
            <a:avLst/>
          </a:prstGeom>
          <a:noFill/>
          <a:ln/>
        </p:spPr>
        <p:txBody>
          <a:bodyPr wrap="square" lIns="0" tIns="0" rIns="0" bIns="0" rtlCol="0" anchor="ctr"/>
          <a:lstStyle/>
          <a:p>
            <a:pPr indent="0" marL="0">
              <a:buNone/>
            </a:pPr>
            <a:r>
              <a:rPr lang="en-US" sz="1600" dirty="0">
                <a:solidFill>
                  <a:srgbClr val="5F6B76"/>
                </a:solidFill>
                <a:latin typeface="Calibri" pitchFamily="34" charset="0"/>
                <a:ea typeface="Calibri" pitchFamily="34" charset="-122"/>
                <a:cs typeface="Calibri" pitchFamily="34" charset="-120"/>
              </a:rPr>
              <a:t>Which framework functions each tool supports</a:t>
            </a:r>
            <a:endParaRPr lang="en-US" sz="1600" dirty="0"/>
          </a:p>
        </p:txBody>
      </p:sp>
      <p:sp>
        <p:nvSpPr>
          <p:cNvPr id="4" name="Text 2"/>
          <p:cNvSpPr txBox="1"/>
          <p:nvPr/>
        </p:nvSpPr>
        <p:spPr>
          <a:xfrm>
            <a:off x="2651760" y="1463040"/>
            <a:ext cx="1097280" cy="365760"/>
          </a:xfrm>
          <a:prstGeom prst="rect">
            <a:avLst/>
          </a:prstGeom>
          <a:noFill/>
          <a:ln/>
        </p:spPr>
        <p:txBody>
          <a:bodyPr wrap="square" lIns="0" tIns="0" rIns="0" bIns="0" rtlCol="0" anchor="ctr"/>
          <a:lstStyle/>
          <a:p>
            <a:pPr algn="ctr" indent="0" marL="0">
              <a:buNone/>
            </a:pPr>
            <a:r>
              <a:rPr lang="en-US" sz="1300" b="1" dirty="0">
                <a:solidFill>
                  <a:srgbClr val="B03A2E"/>
                </a:solidFill>
                <a:latin typeface="Calibri" pitchFamily="34" charset="0"/>
                <a:ea typeface="Calibri" pitchFamily="34" charset="-122"/>
                <a:cs typeface="Calibri" pitchFamily="34" charset="-120"/>
              </a:rPr>
              <a:t>Govern</a:t>
            </a:r>
            <a:endParaRPr lang="en-US" sz="1300" dirty="0"/>
          </a:p>
        </p:txBody>
      </p:sp>
      <p:sp>
        <p:nvSpPr>
          <p:cNvPr id="5" name="Text 3"/>
          <p:cNvSpPr txBox="1"/>
          <p:nvPr/>
        </p:nvSpPr>
        <p:spPr>
          <a:xfrm>
            <a:off x="3749040" y="1463040"/>
            <a:ext cx="1097280" cy="365760"/>
          </a:xfrm>
          <a:prstGeom prst="rect">
            <a:avLst/>
          </a:prstGeom>
          <a:noFill/>
          <a:ln/>
        </p:spPr>
        <p:txBody>
          <a:bodyPr wrap="square" lIns="0" tIns="0" rIns="0" bIns="0" rtlCol="0" anchor="ctr"/>
          <a:lstStyle/>
          <a:p>
            <a:pPr algn="ctr" indent="0" marL="0">
              <a:buNone/>
            </a:pPr>
            <a:r>
              <a:rPr lang="en-US" sz="1300" b="1" dirty="0">
                <a:solidFill>
                  <a:srgbClr val="1B2A41"/>
                </a:solidFill>
                <a:latin typeface="Calibri" pitchFamily="34" charset="0"/>
                <a:ea typeface="Calibri" pitchFamily="34" charset="-122"/>
                <a:cs typeface="Calibri" pitchFamily="34" charset="-120"/>
              </a:rPr>
              <a:t>Identify</a:t>
            </a:r>
            <a:endParaRPr lang="en-US" sz="1300" dirty="0"/>
          </a:p>
        </p:txBody>
      </p:sp>
      <p:sp>
        <p:nvSpPr>
          <p:cNvPr id="6" name="Text 4"/>
          <p:cNvSpPr txBox="1"/>
          <p:nvPr/>
        </p:nvSpPr>
        <p:spPr>
          <a:xfrm>
            <a:off x="4846320" y="1463040"/>
            <a:ext cx="1097280" cy="365760"/>
          </a:xfrm>
          <a:prstGeom prst="rect">
            <a:avLst/>
          </a:prstGeom>
          <a:noFill/>
          <a:ln/>
        </p:spPr>
        <p:txBody>
          <a:bodyPr wrap="square" lIns="0" tIns="0" rIns="0" bIns="0" rtlCol="0" anchor="ctr"/>
          <a:lstStyle/>
          <a:p>
            <a:pPr algn="ctr" indent="0" marL="0">
              <a:buNone/>
            </a:pPr>
            <a:r>
              <a:rPr lang="en-US" sz="1300" b="1" dirty="0">
                <a:solidFill>
                  <a:srgbClr val="1B2A41"/>
                </a:solidFill>
                <a:latin typeface="Calibri" pitchFamily="34" charset="0"/>
                <a:ea typeface="Calibri" pitchFamily="34" charset="-122"/>
                <a:cs typeface="Calibri" pitchFamily="34" charset="-120"/>
              </a:rPr>
              <a:t>Protect</a:t>
            </a:r>
            <a:endParaRPr lang="en-US" sz="1300" dirty="0"/>
          </a:p>
        </p:txBody>
      </p:sp>
      <p:sp>
        <p:nvSpPr>
          <p:cNvPr id="7" name="Text 5"/>
          <p:cNvSpPr txBox="1"/>
          <p:nvPr/>
        </p:nvSpPr>
        <p:spPr>
          <a:xfrm>
            <a:off x="5943600" y="1463040"/>
            <a:ext cx="1097280" cy="365760"/>
          </a:xfrm>
          <a:prstGeom prst="rect">
            <a:avLst/>
          </a:prstGeom>
          <a:noFill/>
          <a:ln/>
        </p:spPr>
        <p:txBody>
          <a:bodyPr wrap="square" lIns="0" tIns="0" rIns="0" bIns="0" rtlCol="0" anchor="ctr"/>
          <a:lstStyle/>
          <a:p>
            <a:pPr algn="ctr" indent="0" marL="0">
              <a:buNone/>
            </a:pPr>
            <a:r>
              <a:rPr lang="en-US" sz="1300" b="1" dirty="0">
                <a:solidFill>
                  <a:srgbClr val="1B2A41"/>
                </a:solidFill>
                <a:latin typeface="Calibri" pitchFamily="34" charset="0"/>
                <a:ea typeface="Calibri" pitchFamily="34" charset="-122"/>
                <a:cs typeface="Calibri" pitchFamily="34" charset="-120"/>
              </a:rPr>
              <a:t>Detect</a:t>
            </a:r>
            <a:endParaRPr lang="en-US" sz="1300" dirty="0"/>
          </a:p>
        </p:txBody>
      </p:sp>
      <p:sp>
        <p:nvSpPr>
          <p:cNvPr id="8" name="Text 6"/>
          <p:cNvSpPr txBox="1"/>
          <p:nvPr/>
        </p:nvSpPr>
        <p:spPr>
          <a:xfrm>
            <a:off x="7040880" y="1463040"/>
            <a:ext cx="1097280" cy="365760"/>
          </a:xfrm>
          <a:prstGeom prst="rect">
            <a:avLst/>
          </a:prstGeom>
          <a:noFill/>
          <a:ln/>
        </p:spPr>
        <p:txBody>
          <a:bodyPr wrap="square" lIns="0" tIns="0" rIns="0" bIns="0" rtlCol="0" anchor="ctr"/>
          <a:lstStyle/>
          <a:p>
            <a:pPr algn="ctr" indent="0" marL="0">
              <a:buNone/>
            </a:pPr>
            <a:r>
              <a:rPr lang="en-US" sz="1300" b="1" dirty="0">
                <a:solidFill>
                  <a:srgbClr val="1B2A41"/>
                </a:solidFill>
                <a:latin typeface="Calibri" pitchFamily="34" charset="0"/>
                <a:ea typeface="Calibri" pitchFamily="34" charset="-122"/>
                <a:cs typeface="Calibri" pitchFamily="34" charset="-120"/>
              </a:rPr>
              <a:t>Respond</a:t>
            </a:r>
            <a:endParaRPr lang="en-US" sz="1300" dirty="0"/>
          </a:p>
        </p:txBody>
      </p:sp>
      <p:sp>
        <p:nvSpPr>
          <p:cNvPr id="9" name="Text 7"/>
          <p:cNvSpPr txBox="1"/>
          <p:nvPr/>
        </p:nvSpPr>
        <p:spPr>
          <a:xfrm>
            <a:off x="8138160" y="1463040"/>
            <a:ext cx="1097280" cy="365760"/>
          </a:xfrm>
          <a:prstGeom prst="rect">
            <a:avLst/>
          </a:prstGeom>
          <a:noFill/>
          <a:ln/>
        </p:spPr>
        <p:txBody>
          <a:bodyPr wrap="square" lIns="0" tIns="0" rIns="0" bIns="0" rtlCol="0" anchor="ctr"/>
          <a:lstStyle/>
          <a:p>
            <a:pPr algn="ctr" indent="0" marL="0">
              <a:buNone/>
            </a:pPr>
            <a:r>
              <a:rPr lang="en-US" sz="1300" b="1" dirty="0">
                <a:solidFill>
                  <a:srgbClr val="1B2A41"/>
                </a:solidFill>
                <a:latin typeface="Calibri" pitchFamily="34" charset="0"/>
                <a:ea typeface="Calibri" pitchFamily="34" charset="-122"/>
                <a:cs typeface="Calibri" pitchFamily="34" charset="-120"/>
              </a:rPr>
              <a:t>Recover</a:t>
            </a:r>
            <a:endParaRPr lang="en-US" sz="1300" dirty="0"/>
          </a:p>
        </p:txBody>
      </p:sp>
      <p:sp>
        <p:nvSpPr>
          <p:cNvPr id="10" name="Text 8"/>
          <p:cNvSpPr txBox="1"/>
          <p:nvPr/>
        </p:nvSpPr>
        <p:spPr>
          <a:xfrm>
            <a:off x="548640" y="1874520"/>
            <a:ext cx="2011680" cy="62179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SIEM</a:t>
            </a:r>
            <a:endParaRPr lang="en-US" sz="1400" dirty="0"/>
          </a:p>
        </p:txBody>
      </p:sp>
      <p:sp>
        <p:nvSpPr>
          <p:cNvPr id="11" name="Shape 9"/>
          <p:cNvSpPr/>
          <p:nvPr/>
        </p:nvSpPr>
        <p:spPr>
          <a:xfrm>
            <a:off x="2651760" y="1874520"/>
            <a:ext cx="1097280" cy="621792"/>
          </a:xfrm>
          <a:prstGeom prst="rect">
            <a:avLst/>
          </a:prstGeom>
          <a:solidFill>
            <a:srgbClr val="FFFFFF"/>
          </a:solidFill>
          <a:ln w="19050">
            <a:solidFill>
              <a:srgbClr val="B03A2E"/>
            </a:solidFill>
            <a:prstDash val="solid"/>
          </a:ln>
        </p:spPr>
      </p:sp>
      <p:sp>
        <p:nvSpPr>
          <p:cNvPr id="12" name="Shape 10"/>
          <p:cNvSpPr/>
          <p:nvPr/>
        </p:nvSpPr>
        <p:spPr>
          <a:xfrm>
            <a:off x="3749040" y="1874520"/>
            <a:ext cx="1097280" cy="621792"/>
          </a:xfrm>
          <a:prstGeom prst="rect">
            <a:avLst/>
          </a:prstGeom>
          <a:solidFill>
            <a:srgbClr val="B9C8D6"/>
          </a:solidFill>
          <a:ln w="12700">
            <a:solidFill>
              <a:srgbClr val="D5DBE1"/>
            </a:solidFill>
            <a:prstDash val="solid"/>
          </a:ln>
        </p:spPr>
      </p:sp>
      <p:sp>
        <p:nvSpPr>
          <p:cNvPr id="13" name="Shape 11"/>
          <p:cNvSpPr/>
          <p:nvPr/>
        </p:nvSpPr>
        <p:spPr>
          <a:xfrm>
            <a:off x="4846320" y="1874520"/>
            <a:ext cx="1097280" cy="621792"/>
          </a:xfrm>
          <a:prstGeom prst="rect">
            <a:avLst/>
          </a:prstGeom>
          <a:solidFill>
            <a:srgbClr val="B9C8D6"/>
          </a:solidFill>
          <a:ln w="12700">
            <a:solidFill>
              <a:srgbClr val="D5DBE1"/>
            </a:solidFill>
            <a:prstDash val="solid"/>
          </a:ln>
        </p:spPr>
      </p:sp>
      <p:sp>
        <p:nvSpPr>
          <p:cNvPr id="14" name="Shape 12"/>
          <p:cNvSpPr/>
          <p:nvPr/>
        </p:nvSpPr>
        <p:spPr>
          <a:xfrm>
            <a:off x="5943600" y="1874520"/>
            <a:ext cx="1097280" cy="621792"/>
          </a:xfrm>
          <a:prstGeom prst="rect">
            <a:avLst/>
          </a:prstGeom>
          <a:solidFill>
            <a:srgbClr val="324A5F"/>
          </a:solidFill>
          <a:ln w="12700">
            <a:solidFill>
              <a:srgbClr val="D5DBE1"/>
            </a:solidFill>
            <a:prstDash val="solid"/>
          </a:ln>
        </p:spPr>
      </p:sp>
      <p:sp>
        <p:nvSpPr>
          <p:cNvPr id="15" name="Shape 13"/>
          <p:cNvSpPr/>
          <p:nvPr/>
        </p:nvSpPr>
        <p:spPr>
          <a:xfrm>
            <a:off x="7040880" y="1874520"/>
            <a:ext cx="1097280" cy="621792"/>
          </a:xfrm>
          <a:prstGeom prst="rect">
            <a:avLst/>
          </a:prstGeom>
          <a:solidFill>
            <a:srgbClr val="324A5F"/>
          </a:solidFill>
          <a:ln w="12700">
            <a:solidFill>
              <a:srgbClr val="D5DBE1"/>
            </a:solidFill>
            <a:prstDash val="solid"/>
          </a:ln>
        </p:spPr>
      </p:sp>
      <p:sp>
        <p:nvSpPr>
          <p:cNvPr id="16" name="Shape 14"/>
          <p:cNvSpPr/>
          <p:nvPr/>
        </p:nvSpPr>
        <p:spPr>
          <a:xfrm>
            <a:off x="8138160" y="1874520"/>
            <a:ext cx="1097280" cy="621792"/>
          </a:xfrm>
          <a:prstGeom prst="rect">
            <a:avLst/>
          </a:prstGeom>
          <a:solidFill>
            <a:srgbClr val="B9C8D6"/>
          </a:solidFill>
          <a:ln w="12700">
            <a:solidFill>
              <a:srgbClr val="D5DBE1"/>
            </a:solidFill>
            <a:prstDash val="solid"/>
          </a:ln>
        </p:spPr>
      </p:sp>
      <p:sp>
        <p:nvSpPr>
          <p:cNvPr id="17" name="Text 15"/>
          <p:cNvSpPr txBox="1"/>
          <p:nvPr/>
        </p:nvSpPr>
        <p:spPr>
          <a:xfrm>
            <a:off x="548640" y="2496312"/>
            <a:ext cx="2011680" cy="62179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EDR / XDR</a:t>
            </a:r>
            <a:endParaRPr lang="en-US" sz="1400" dirty="0"/>
          </a:p>
        </p:txBody>
      </p:sp>
      <p:sp>
        <p:nvSpPr>
          <p:cNvPr id="18" name="Shape 16"/>
          <p:cNvSpPr/>
          <p:nvPr/>
        </p:nvSpPr>
        <p:spPr>
          <a:xfrm>
            <a:off x="2651760" y="2496312"/>
            <a:ext cx="1097280" cy="621792"/>
          </a:xfrm>
          <a:prstGeom prst="rect">
            <a:avLst/>
          </a:prstGeom>
          <a:solidFill>
            <a:srgbClr val="FFFFFF"/>
          </a:solidFill>
          <a:ln w="19050">
            <a:solidFill>
              <a:srgbClr val="B03A2E"/>
            </a:solidFill>
            <a:prstDash val="solid"/>
          </a:ln>
        </p:spPr>
      </p:sp>
      <p:sp>
        <p:nvSpPr>
          <p:cNvPr id="19" name="Shape 17"/>
          <p:cNvSpPr/>
          <p:nvPr/>
        </p:nvSpPr>
        <p:spPr>
          <a:xfrm>
            <a:off x="3749040" y="2496312"/>
            <a:ext cx="1097280" cy="621792"/>
          </a:xfrm>
          <a:prstGeom prst="rect">
            <a:avLst/>
          </a:prstGeom>
          <a:solidFill>
            <a:srgbClr val="B9C8D6"/>
          </a:solidFill>
          <a:ln w="12700">
            <a:solidFill>
              <a:srgbClr val="D5DBE1"/>
            </a:solidFill>
            <a:prstDash val="solid"/>
          </a:ln>
        </p:spPr>
      </p:sp>
      <p:sp>
        <p:nvSpPr>
          <p:cNvPr id="20" name="Shape 18"/>
          <p:cNvSpPr/>
          <p:nvPr/>
        </p:nvSpPr>
        <p:spPr>
          <a:xfrm>
            <a:off x="4846320" y="2496312"/>
            <a:ext cx="1097280" cy="621792"/>
          </a:xfrm>
          <a:prstGeom prst="rect">
            <a:avLst/>
          </a:prstGeom>
          <a:solidFill>
            <a:srgbClr val="324A5F"/>
          </a:solidFill>
          <a:ln w="12700">
            <a:solidFill>
              <a:srgbClr val="D5DBE1"/>
            </a:solidFill>
            <a:prstDash val="solid"/>
          </a:ln>
        </p:spPr>
      </p:sp>
      <p:sp>
        <p:nvSpPr>
          <p:cNvPr id="21" name="Shape 19"/>
          <p:cNvSpPr/>
          <p:nvPr/>
        </p:nvSpPr>
        <p:spPr>
          <a:xfrm>
            <a:off x="5943600" y="2496312"/>
            <a:ext cx="1097280" cy="621792"/>
          </a:xfrm>
          <a:prstGeom prst="rect">
            <a:avLst/>
          </a:prstGeom>
          <a:solidFill>
            <a:srgbClr val="324A5F"/>
          </a:solidFill>
          <a:ln w="12700">
            <a:solidFill>
              <a:srgbClr val="D5DBE1"/>
            </a:solidFill>
            <a:prstDash val="solid"/>
          </a:ln>
        </p:spPr>
      </p:sp>
      <p:sp>
        <p:nvSpPr>
          <p:cNvPr id="22" name="Shape 20"/>
          <p:cNvSpPr/>
          <p:nvPr/>
        </p:nvSpPr>
        <p:spPr>
          <a:xfrm>
            <a:off x="7040880" y="2496312"/>
            <a:ext cx="1097280" cy="621792"/>
          </a:xfrm>
          <a:prstGeom prst="rect">
            <a:avLst/>
          </a:prstGeom>
          <a:solidFill>
            <a:srgbClr val="324A5F"/>
          </a:solidFill>
          <a:ln w="12700">
            <a:solidFill>
              <a:srgbClr val="D5DBE1"/>
            </a:solidFill>
            <a:prstDash val="solid"/>
          </a:ln>
        </p:spPr>
      </p:sp>
      <p:sp>
        <p:nvSpPr>
          <p:cNvPr id="23" name="Shape 21"/>
          <p:cNvSpPr/>
          <p:nvPr/>
        </p:nvSpPr>
        <p:spPr>
          <a:xfrm>
            <a:off x="8138160" y="2496312"/>
            <a:ext cx="1097280" cy="621792"/>
          </a:xfrm>
          <a:prstGeom prst="rect">
            <a:avLst/>
          </a:prstGeom>
          <a:solidFill>
            <a:srgbClr val="B9C8D6"/>
          </a:solidFill>
          <a:ln w="12700">
            <a:solidFill>
              <a:srgbClr val="D5DBE1"/>
            </a:solidFill>
            <a:prstDash val="solid"/>
          </a:ln>
        </p:spPr>
      </p:sp>
      <p:sp>
        <p:nvSpPr>
          <p:cNvPr id="24" name="Text 22"/>
          <p:cNvSpPr txBox="1"/>
          <p:nvPr/>
        </p:nvSpPr>
        <p:spPr>
          <a:xfrm>
            <a:off x="548640" y="3118104"/>
            <a:ext cx="2011680" cy="62179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Forensics (DFIR)</a:t>
            </a:r>
            <a:endParaRPr lang="en-US" sz="1400" dirty="0"/>
          </a:p>
        </p:txBody>
      </p:sp>
      <p:sp>
        <p:nvSpPr>
          <p:cNvPr id="25" name="Shape 23"/>
          <p:cNvSpPr/>
          <p:nvPr/>
        </p:nvSpPr>
        <p:spPr>
          <a:xfrm>
            <a:off x="2651760" y="3118104"/>
            <a:ext cx="1097280" cy="621792"/>
          </a:xfrm>
          <a:prstGeom prst="rect">
            <a:avLst/>
          </a:prstGeom>
          <a:solidFill>
            <a:srgbClr val="FFFFFF"/>
          </a:solidFill>
          <a:ln w="19050">
            <a:solidFill>
              <a:srgbClr val="B03A2E"/>
            </a:solidFill>
            <a:prstDash val="solid"/>
          </a:ln>
        </p:spPr>
      </p:sp>
      <p:sp>
        <p:nvSpPr>
          <p:cNvPr id="26" name="Shape 24"/>
          <p:cNvSpPr/>
          <p:nvPr/>
        </p:nvSpPr>
        <p:spPr>
          <a:xfrm>
            <a:off x="3749040" y="3118104"/>
            <a:ext cx="1097280" cy="621792"/>
          </a:xfrm>
          <a:prstGeom prst="rect">
            <a:avLst/>
          </a:prstGeom>
          <a:solidFill>
            <a:srgbClr val="FFFFFF"/>
          </a:solidFill>
          <a:ln w="12700">
            <a:solidFill>
              <a:srgbClr val="D5DBE1"/>
            </a:solidFill>
            <a:prstDash val="solid"/>
          </a:ln>
        </p:spPr>
      </p:sp>
      <p:sp>
        <p:nvSpPr>
          <p:cNvPr id="27" name="Shape 25"/>
          <p:cNvSpPr/>
          <p:nvPr/>
        </p:nvSpPr>
        <p:spPr>
          <a:xfrm>
            <a:off x="4846320" y="3118104"/>
            <a:ext cx="1097280" cy="621792"/>
          </a:xfrm>
          <a:prstGeom prst="rect">
            <a:avLst/>
          </a:prstGeom>
          <a:solidFill>
            <a:srgbClr val="FFFFFF"/>
          </a:solidFill>
          <a:ln w="12700">
            <a:solidFill>
              <a:srgbClr val="D5DBE1"/>
            </a:solidFill>
            <a:prstDash val="solid"/>
          </a:ln>
        </p:spPr>
      </p:sp>
      <p:sp>
        <p:nvSpPr>
          <p:cNvPr id="28" name="Shape 26"/>
          <p:cNvSpPr/>
          <p:nvPr/>
        </p:nvSpPr>
        <p:spPr>
          <a:xfrm>
            <a:off x="5943600" y="3118104"/>
            <a:ext cx="1097280" cy="621792"/>
          </a:xfrm>
          <a:prstGeom prst="rect">
            <a:avLst/>
          </a:prstGeom>
          <a:solidFill>
            <a:srgbClr val="B9C8D6"/>
          </a:solidFill>
          <a:ln w="12700">
            <a:solidFill>
              <a:srgbClr val="D5DBE1"/>
            </a:solidFill>
            <a:prstDash val="solid"/>
          </a:ln>
        </p:spPr>
      </p:sp>
      <p:sp>
        <p:nvSpPr>
          <p:cNvPr id="29" name="Shape 27"/>
          <p:cNvSpPr/>
          <p:nvPr/>
        </p:nvSpPr>
        <p:spPr>
          <a:xfrm>
            <a:off x="7040880" y="3118104"/>
            <a:ext cx="1097280" cy="621792"/>
          </a:xfrm>
          <a:prstGeom prst="rect">
            <a:avLst/>
          </a:prstGeom>
          <a:solidFill>
            <a:srgbClr val="324A5F"/>
          </a:solidFill>
          <a:ln w="12700">
            <a:solidFill>
              <a:srgbClr val="D5DBE1"/>
            </a:solidFill>
            <a:prstDash val="solid"/>
          </a:ln>
        </p:spPr>
      </p:sp>
      <p:sp>
        <p:nvSpPr>
          <p:cNvPr id="30" name="Shape 28"/>
          <p:cNvSpPr/>
          <p:nvPr/>
        </p:nvSpPr>
        <p:spPr>
          <a:xfrm>
            <a:off x="8138160" y="3118104"/>
            <a:ext cx="1097280" cy="621792"/>
          </a:xfrm>
          <a:prstGeom prst="rect">
            <a:avLst/>
          </a:prstGeom>
          <a:solidFill>
            <a:srgbClr val="324A5F"/>
          </a:solidFill>
          <a:ln w="12700">
            <a:solidFill>
              <a:srgbClr val="D5DBE1"/>
            </a:solidFill>
            <a:prstDash val="solid"/>
          </a:ln>
        </p:spPr>
      </p:sp>
      <p:sp>
        <p:nvSpPr>
          <p:cNvPr id="31" name="Text 29"/>
          <p:cNvSpPr txBox="1"/>
          <p:nvPr/>
        </p:nvSpPr>
        <p:spPr>
          <a:xfrm>
            <a:off x="548640" y="3739896"/>
            <a:ext cx="2011680" cy="62179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Threat intelligence</a:t>
            </a:r>
            <a:endParaRPr lang="en-US" sz="1400" dirty="0"/>
          </a:p>
        </p:txBody>
      </p:sp>
      <p:sp>
        <p:nvSpPr>
          <p:cNvPr id="32" name="Shape 30"/>
          <p:cNvSpPr/>
          <p:nvPr/>
        </p:nvSpPr>
        <p:spPr>
          <a:xfrm>
            <a:off x="2651760" y="3739896"/>
            <a:ext cx="1097280" cy="621792"/>
          </a:xfrm>
          <a:prstGeom prst="rect">
            <a:avLst/>
          </a:prstGeom>
          <a:solidFill>
            <a:srgbClr val="FFFFFF"/>
          </a:solidFill>
          <a:ln w="19050">
            <a:solidFill>
              <a:srgbClr val="B03A2E"/>
            </a:solidFill>
            <a:prstDash val="solid"/>
          </a:ln>
        </p:spPr>
      </p:sp>
      <p:sp>
        <p:nvSpPr>
          <p:cNvPr id="33" name="Shape 31"/>
          <p:cNvSpPr/>
          <p:nvPr/>
        </p:nvSpPr>
        <p:spPr>
          <a:xfrm>
            <a:off x="3749040" y="3739896"/>
            <a:ext cx="1097280" cy="621792"/>
          </a:xfrm>
          <a:prstGeom prst="rect">
            <a:avLst/>
          </a:prstGeom>
          <a:solidFill>
            <a:srgbClr val="324A5F"/>
          </a:solidFill>
          <a:ln w="12700">
            <a:solidFill>
              <a:srgbClr val="D5DBE1"/>
            </a:solidFill>
            <a:prstDash val="solid"/>
          </a:ln>
        </p:spPr>
      </p:sp>
      <p:sp>
        <p:nvSpPr>
          <p:cNvPr id="34" name="Shape 32"/>
          <p:cNvSpPr/>
          <p:nvPr/>
        </p:nvSpPr>
        <p:spPr>
          <a:xfrm>
            <a:off x="4846320" y="3739896"/>
            <a:ext cx="1097280" cy="621792"/>
          </a:xfrm>
          <a:prstGeom prst="rect">
            <a:avLst/>
          </a:prstGeom>
          <a:solidFill>
            <a:srgbClr val="B9C8D6"/>
          </a:solidFill>
          <a:ln w="12700">
            <a:solidFill>
              <a:srgbClr val="D5DBE1"/>
            </a:solidFill>
            <a:prstDash val="solid"/>
          </a:ln>
        </p:spPr>
      </p:sp>
      <p:sp>
        <p:nvSpPr>
          <p:cNvPr id="35" name="Shape 33"/>
          <p:cNvSpPr/>
          <p:nvPr/>
        </p:nvSpPr>
        <p:spPr>
          <a:xfrm>
            <a:off x="5943600" y="3739896"/>
            <a:ext cx="1097280" cy="621792"/>
          </a:xfrm>
          <a:prstGeom prst="rect">
            <a:avLst/>
          </a:prstGeom>
          <a:solidFill>
            <a:srgbClr val="B9C8D6"/>
          </a:solidFill>
          <a:ln w="12700">
            <a:solidFill>
              <a:srgbClr val="D5DBE1"/>
            </a:solidFill>
            <a:prstDash val="solid"/>
          </a:ln>
        </p:spPr>
      </p:sp>
      <p:sp>
        <p:nvSpPr>
          <p:cNvPr id="36" name="Shape 34"/>
          <p:cNvSpPr/>
          <p:nvPr/>
        </p:nvSpPr>
        <p:spPr>
          <a:xfrm>
            <a:off x="7040880" y="3739896"/>
            <a:ext cx="1097280" cy="621792"/>
          </a:xfrm>
          <a:prstGeom prst="rect">
            <a:avLst/>
          </a:prstGeom>
          <a:solidFill>
            <a:srgbClr val="B9C8D6"/>
          </a:solidFill>
          <a:ln w="12700">
            <a:solidFill>
              <a:srgbClr val="D5DBE1"/>
            </a:solidFill>
            <a:prstDash val="solid"/>
          </a:ln>
        </p:spPr>
      </p:sp>
      <p:sp>
        <p:nvSpPr>
          <p:cNvPr id="37" name="Shape 35"/>
          <p:cNvSpPr/>
          <p:nvPr/>
        </p:nvSpPr>
        <p:spPr>
          <a:xfrm>
            <a:off x="8138160" y="3739896"/>
            <a:ext cx="1097280" cy="621792"/>
          </a:xfrm>
          <a:prstGeom prst="rect">
            <a:avLst/>
          </a:prstGeom>
          <a:solidFill>
            <a:srgbClr val="FFFFFF"/>
          </a:solidFill>
          <a:ln w="12700">
            <a:solidFill>
              <a:srgbClr val="D5DBE1"/>
            </a:solidFill>
            <a:prstDash val="solid"/>
          </a:ln>
        </p:spPr>
      </p:sp>
      <p:sp>
        <p:nvSpPr>
          <p:cNvPr id="38" name="Shape 36"/>
          <p:cNvSpPr/>
          <p:nvPr/>
        </p:nvSpPr>
        <p:spPr>
          <a:xfrm>
            <a:off x="2651760" y="4572000"/>
            <a:ext cx="274320" cy="274320"/>
          </a:xfrm>
          <a:prstGeom prst="rect">
            <a:avLst/>
          </a:prstGeom>
          <a:solidFill>
            <a:srgbClr val="324A5F"/>
          </a:solidFill>
          <a:ln w="12700">
            <a:solidFill>
              <a:srgbClr val="D5DBE1"/>
            </a:solidFill>
            <a:prstDash val="solid"/>
          </a:ln>
        </p:spPr>
      </p:sp>
      <p:sp>
        <p:nvSpPr>
          <p:cNvPr id="39" name="Text 37"/>
          <p:cNvSpPr txBox="1"/>
          <p:nvPr/>
        </p:nvSpPr>
        <p:spPr>
          <a:xfrm>
            <a:off x="3017520" y="4572000"/>
            <a:ext cx="1188720" cy="27432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Primary</a:t>
            </a:r>
            <a:endParaRPr lang="en-US" sz="1200" dirty="0"/>
          </a:p>
        </p:txBody>
      </p:sp>
      <p:sp>
        <p:nvSpPr>
          <p:cNvPr id="40" name="Shape 38"/>
          <p:cNvSpPr/>
          <p:nvPr/>
        </p:nvSpPr>
        <p:spPr>
          <a:xfrm>
            <a:off x="4251960" y="4572000"/>
            <a:ext cx="274320" cy="274320"/>
          </a:xfrm>
          <a:prstGeom prst="rect">
            <a:avLst/>
          </a:prstGeom>
          <a:solidFill>
            <a:srgbClr val="B9C8D6"/>
          </a:solidFill>
          <a:ln w="12700">
            <a:solidFill>
              <a:srgbClr val="D5DBE1"/>
            </a:solidFill>
            <a:prstDash val="solid"/>
          </a:ln>
        </p:spPr>
      </p:sp>
      <p:sp>
        <p:nvSpPr>
          <p:cNvPr id="41" name="Text 39"/>
          <p:cNvSpPr txBox="1"/>
          <p:nvPr/>
        </p:nvSpPr>
        <p:spPr>
          <a:xfrm>
            <a:off x="4617720" y="4572000"/>
            <a:ext cx="1188720" cy="27432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Supporting</a:t>
            </a:r>
            <a:endParaRPr lang="en-US" sz="1200" dirty="0"/>
          </a:p>
        </p:txBody>
      </p:sp>
      <p:sp>
        <p:nvSpPr>
          <p:cNvPr id="42" name="Shape 40"/>
          <p:cNvSpPr/>
          <p:nvPr/>
        </p:nvSpPr>
        <p:spPr>
          <a:xfrm>
            <a:off x="5852160" y="4572000"/>
            <a:ext cx="274320" cy="274320"/>
          </a:xfrm>
          <a:prstGeom prst="rect">
            <a:avLst/>
          </a:prstGeom>
          <a:solidFill>
            <a:srgbClr val="FFFFFF"/>
          </a:solidFill>
          <a:ln w="12700">
            <a:solidFill>
              <a:srgbClr val="D5DBE1"/>
            </a:solidFill>
            <a:prstDash val="solid"/>
          </a:ln>
        </p:spPr>
      </p:sp>
      <p:sp>
        <p:nvSpPr>
          <p:cNvPr id="43" name="Text 41"/>
          <p:cNvSpPr txBox="1"/>
          <p:nvPr/>
        </p:nvSpPr>
        <p:spPr>
          <a:xfrm>
            <a:off x="6217920" y="4572000"/>
            <a:ext cx="1188720" cy="27432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Little or none</a:t>
            </a:r>
            <a:endParaRPr lang="en-US" sz="1200" dirty="0"/>
          </a:p>
        </p:txBody>
      </p:sp>
      <p:sp>
        <p:nvSpPr>
          <p:cNvPr id="44" name="Shape 42"/>
          <p:cNvSpPr/>
          <p:nvPr/>
        </p:nvSpPr>
        <p:spPr>
          <a:xfrm>
            <a:off x="9509760" y="1463040"/>
            <a:ext cx="2103120" cy="3657600"/>
          </a:xfrm>
          <a:prstGeom prst="roundRect">
            <a:avLst>
              <a:gd name="adj" fmla="val 3478"/>
            </a:avLst>
          </a:prstGeom>
          <a:solidFill>
            <a:srgbClr val="F6E3E1"/>
          </a:solidFill>
          <a:ln w="12700">
            <a:solidFill>
              <a:srgbClr val="F6E3E1"/>
            </a:solidFill>
            <a:prstDash val="solid"/>
          </a:ln>
        </p:spPr>
      </p:sp>
      <p:sp>
        <p:nvSpPr>
          <p:cNvPr id="45" name="Shape 43"/>
          <p:cNvSpPr/>
          <p:nvPr/>
        </p:nvSpPr>
        <p:spPr>
          <a:xfrm>
            <a:off x="10149840" y="1691640"/>
            <a:ext cx="777240" cy="777240"/>
          </a:xfrm>
          <a:prstGeom prst="ellipse">
            <a:avLst/>
          </a:prstGeom>
          <a:solidFill>
            <a:srgbClr val="B03A2E"/>
          </a:solidFill>
          <a:ln w="12700">
            <a:solidFill>
              <a:srgbClr val="B03A2E"/>
            </a:solidFill>
            <a:prstDash val="solid"/>
          </a:ln>
        </p:spPr>
      </p:sp>
      <p:pic>
        <p:nvPicPr>
          <p:cNvPr id="46" name="Image 0" descr="preencoded.png">    </p:cNvPr>
          <p:cNvPicPr>
            <a:picLocks noChangeAspect="1"/>
          </p:cNvPicPr>
          <p:nvPr/>
        </p:nvPicPr>
        <p:blipFill>
          <a:blip r:embed="rId1"/>
          <a:stretch>
            <a:fillRect/>
          </a:stretch>
        </p:blipFill>
        <p:spPr>
          <a:xfrm>
            <a:off x="10351922" y="1893722"/>
            <a:ext cx="373075" cy="373075"/>
          </a:xfrm>
          <a:prstGeom prst="rect">
            <a:avLst/>
          </a:prstGeom>
        </p:spPr>
      </p:pic>
      <p:sp>
        <p:nvSpPr>
          <p:cNvPr id="47" name="Text 44"/>
          <p:cNvSpPr txBox="1"/>
          <p:nvPr/>
        </p:nvSpPr>
        <p:spPr>
          <a:xfrm>
            <a:off x="9692640" y="2606040"/>
            <a:ext cx="1783080" cy="2377440"/>
          </a:xfrm>
          <a:prstGeom prst="rect">
            <a:avLst/>
          </a:prstGeom>
          <a:noFill/>
          <a:ln/>
        </p:spPr>
        <p:txBody>
          <a:bodyPr wrap="square" lIns="0" tIns="0" rIns="0" bIns="0" rtlCol="0" anchor="t"/>
          <a:lstStyle/>
          <a:p>
            <a:pPr indent="0" marL="0">
              <a:buNone/>
            </a:pPr>
            <a:r>
              <a:rPr lang="en-US" sz="1300" b="1" dirty="0">
                <a:solidFill>
                  <a:srgbClr val="B03A2E"/>
                </a:solidFill>
                <a:latin typeface="Calibri" pitchFamily="34" charset="0"/>
                <a:ea typeface="Calibri" pitchFamily="34" charset="-122"/>
                <a:cs typeface="Calibri" pitchFamily="34" charset="-120"/>
              </a:rPr>
              <a:t>Govern is the board’s job</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Set risk appetite, own alert response, fund basics like MFA (Essential Eight). Tools can’t do this for you.</a:t>
            </a:r>
            <a:endParaRPr lang="en-US" sz="1300" dirty="0"/>
          </a:p>
        </p:txBody>
      </p:sp>
      <p:sp>
        <p:nvSpPr>
          <p:cNvPr id="48" name="Text 45"/>
          <p:cNvSpPr txBox="1"/>
          <p:nvPr/>
        </p:nvSpPr>
        <p:spPr>
          <a:xfrm>
            <a:off x="548640" y="5120640"/>
            <a:ext cx="8686800" cy="640080"/>
          </a:xfrm>
          <a:prstGeom prst="rect">
            <a:avLst/>
          </a:prstGeom>
          <a:noFill/>
          <a:ln/>
        </p:spPr>
        <p:txBody>
          <a:bodyPr wrap="square" lIns="0" tIns="0" rIns="0" bIns="0" rtlCol="0" anchor="ctr"/>
          <a:lstStyle/>
          <a:p>
            <a:pPr indent="0" marL="0">
              <a:buNone/>
            </a:pPr>
            <a:r>
              <a:rPr lang="en-US" sz="1400" i="1" dirty="0">
                <a:solidFill>
                  <a:srgbClr val="5F6B76"/>
                </a:solidFill>
                <a:latin typeface="Calibri" pitchFamily="34" charset="0"/>
                <a:ea typeface="Calibri" pitchFamily="34" charset="-122"/>
                <a:cs typeface="Calibri" pitchFamily="34" charset="-120"/>
              </a:rPr>
              <a:t>Incident response is now treated as part of everyday risk management, not a separate emergency activity (NIST SP 800-61r3, 2025).</a:t>
            </a:r>
            <a:endParaRPr lang="en-US" sz="1400" dirty="0"/>
          </a:p>
        </p:txBody>
      </p:sp>
      <p:sp>
        <p:nvSpPr>
          <p:cNvPr id="49" name="Text 46"/>
          <p:cNvSpPr txBox="1"/>
          <p:nvPr/>
        </p:nvSpPr>
        <p:spPr>
          <a:xfrm>
            <a:off x="548640" y="6355080"/>
            <a:ext cx="9692640" cy="320040"/>
          </a:xfrm>
          <a:prstGeom prst="rect">
            <a:avLst/>
          </a:prstGeom>
          <a:noFill/>
          <a:ln/>
        </p:spPr>
        <p:txBody>
          <a:bodyPr wrap="square" lIns="0" tIns="0" rIns="0" bIns="0" rtlCol="0" anchor="b"/>
          <a:lstStyle/>
          <a:p>
            <a:pPr indent="0" marL="0">
              <a:buNone/>
            </a:pPr>
            <a:r>
              <a:rPr lang="en-US" sz="950" dirty="0">
                <a:solidFill>
                  <a:srgbClr val="5F6B76"/>
                </a:solidFill>
                <a:latin typeface="Calibri" pitchFamily="34" charset="0"/>
                <a:ea typeface="Calibri" pitchFamily="34" charset="-122"/>
                <a:cs typeface="Calibri" pitchFamily="34" charset="-120"/>
              </a:rPr>
              <a:t>Sources: NIST (2024) CSF 2.0; Nelson et al. (2025) NIST SP 800-61r3; ASD (2023) Essential Eight.</a:t>
            </a:r>
            <a:endParaRPr lang="en-US" sz="950" dirty="0"/>
          </a:p>
        </p:txBody>
      </p:sp>
      <p:sp>
        <p:nvSpPr>
          <p:cNvPr id="50" name="Text 47"/>
          <p:cNvSpPr txBox="1"/>
          <p:nvPr/>
        </p:nvSpPr>
        <p:spPr>
          <a:xfrm>
            <a:off x="11155680" y="6355080"/>
            <a:ext cx="457200" cy="320040"/>
          </a:xfrm>
          <a:prstGeom prst="rect">
            <a:avLst/>
          </a:prstGeom>
          <a:noFill/>
          <a:ln/>
        </p:spPr>
        <p:txBody>
          <a:bodyPr wrap="square" lIns="0" tIns="0" rIns="0" bIns="0" rtlCol="0" anchor="b"/>
          <a:lstStyle/>
          <a:p>
            <a:pPr algn="r" indent="0" marL="0">
              <a:buNone/>
            </a:pPr>
            <a:r>
              <a:rPr lang="en-US" sz="1000" dirty="0">
                <a:solidFill>
                  <a:srgbClr val="5F6B7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B2A41"/>
                </a:solidFill>
                <a:latin typeface="Calibri" pitchFamily="34" charset="0"/>
                <a:ea typeface="Calibri" pitchFamily="34" charset="-122"/>
                <a:cs typeface="Calibri" pitchFamily="34" charset="-120"/>
              </a:rPr>
              <a:t>What would have changed the outcome?</a:t>
            </a:r>
            <a:endParaRPr lang="en-US" sz="3200" dirty="0"/>
          </a:p>
        </p:txBody>
      </p:sp>
      <p:sp>
        <p:nvSpPr>
          <p:cNvPr id="3" name="Text 1"/>
          <p:cNvSpPr txBox="1"/>
          <p:nvPr/>
        </p:nvSpPr>
        <p:spPr>
          <a:xfrm>
            <a:off x="548640" y="1005840"/>
            <a:ext cx="11064240" cy="384048"/>
          </a:xfrm>
          <a:prstGeom prst="rect">
            <a:avLst/>
          </a:prstGeom>
          <a:noFill/>
          <a:ln/>
        </p:spPr>
        <p:txBody>
          <a:bodyPr wrap="square" lIns="0" tIns="0" rIns="0" bIns="0" rtlCol="0" anchor="ctr"/>
          <a:lstStyle/>
          <a:p>
            <a:pPr indent="0" marL="0">
              <a:buNone/>
            </a:pPr>
            <a:r>
              <a:rPr lang="en-US" sz="1600" dirty="0">
                <a:solidFill>
                  <a:srgbClr val="5F6B76"/>
                </a:solidFill>
                <a:latin typeface="Calibri" pitchFamily="34" charset="0"/>
                <a:ea typeface="Calibri" pitchFamily="34" charset="-122"/>
                <a:cs typeface="Calibri" pitchFamily="34" charset="-120"/>
              </a:rPr>
              <a:t>Left: documented facts.  Right: my analysis of capabilities that could have helped</a:t>
            </a:r>
            <a:endParaRPr lang="en-US" sz="1600" dirty="0"/>
          </a:p>
        </p:txBody>
      </p:sp>
      <p:sp>
        <p:nvSpPr>
          <p:cNvPr id="4" name="Text 2"/>
          <p:cNvSpPr txBox="1"/>
          <p:nvPr/>
        </p:nvSpPr>
        <p:spPr>
          <a:xfrm>
            <a:off x="2148840" y="1554480"/>
            <a:ext cx="4206240" cy="320040"/>
          </a:xfrm>
          <a:prstGeom prst="rect">
            <a:avLst/>
          </a:prstGeom>
          <a:noFill/>
          <a:ln/>
        </p:spPr>
        <p:txBody>
          <a:bodyPr wrap="square" lIns="0" tIns="0" rIns="0" bIns="0" rtlCol="0" anchor="ctr"/>
          <a:lstStyle/>
          <a:p>
            <a:pPr indent="0" marL="0">
              <a:buNone/>
            </a:pPr>
            <a:r>
              <a:rPr lang="en-US" sz="1200" b="1" spc="100" kern="0" dirty="0">
                <a:solidFill>
                  <a:srgbClr val="5F6B76"/>
                </a:solidFill>
                <a:latin typeface="Calibri" pitchFamily="34" charset="0"/>
                <a:ea typeface="Calibri" pitchFamily="34" charset="-122"/>
                <a:cs typeface="Calibri" pitchFamily="34" charset="-120"/>
              </a:rPr>
              <a:t>DOCUMENTED</a:t>
            </a:r>
            <a:endParaRPr lang="en-US" sz="1200" dirty="0"/>
          </a:p>
        </p:txBody>
      </p:sp>
      <p:sp>
        <p:nvSpPr>
          <p:cNvPr id="5" name="Text 3"/>
          <p:cNvSpPr txBox="1"/>
          <p:nvPr/>
        </p:nvSpPr>
        <p:spPr>
          <a:xfrm>
            <a:off x="6949440" y="1554480"/>
            <a:ext cx="4572000" cy="320040"/>
          </a:xfrm>
          <a:prstGeom prst="rect">
            <a:avLst/>
          </a:prstGeom>
          <a:noFill/>
          <a:ln/>
        </p:spPr>
        <p:txBody>
          <a:bodyPr wrap="square" lIns="0" tIns="0" rIns="0" bIns="0" rtlCol="0" anchor="ctr"/>
          <a:lstStyle/>
          <a:p>
            <a:pPr indent="0" marL="0">
              <a:buNone/>
            </a:pPr>
            <a:r>
              <a:rPr lang="en-US" sz="1200" b="1" spc="100" kern="0" dirty="0">
                <a:solidFill>
                  <a:srgbClr val="2E6F5E"/>
                </a:solidFill>
                <a:latin typeface="Calibri" pitchFamily="34" charset="0"/>
                <a:ea typeface="Calibri" pitchFamily="34" charset="-122"/>
                <a:cs typeface="Calibri" pitchFamily="34" charset="-120"/>
              </a:rPr>
              <a:t>MY ANALYSIS</a:t>
            </a:r>
            <a:endParaRPr lang="en-US" sz="1200" dirty="0"/>
          </a:p>
        </p:txBody>
      </p:sp>
      <p:sp>
        <p:nvSpPr>
          <p:cNvPr id="6" name="Text 4"/>
          <p:cNvSpPr txBox="1"/>
          <p:nvPr/>
        </p:nvSpPr>
        <p:spPr>
          <a:xfrm>
            <a:off x="548640" y="1920240"/>
            <a:ext cx="1463040" cy="1143000"/>
          </a:xfrm>
          <a:prstGeom prst="rect">
            <a:avLst/>
          </a:prstGeom>
          <a:noFill/>
          <a:ln/>
        </p:spPr>
        <p:txBody>
          <a:bodyPr wrap="square" lIns="0" tIns="0" rIns="0" bIns="0"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Optus</a:t>
            </a:r>
            <a:endParaRPr lang="en-US" sz="1800" dirty="0"/>
          </a:p>
        </p:txBody>
      </p:sp>
      <p:sp>
        <p:nvSpPr>
          <p:cNvPr id="7" name="Shape 5"/>
          <p:cNvSpPr/>
          <p:nvPr/>
        </p:nvSpPr>
        <p:spPr>
          <a:xfrm>
            <a:off x="2057400" y="1920240"/>
            <a:ext cx="4480560" cy="1143000"/>
          </a:xfrm>
          <a:prstGeom prst="roundRect">
            <a:avLst>
              <a:gd name="adj" fmla="val 6400"/>
            </a:avLst>
          </a:prstGeom>
          <a:solidFill>
            <a:srgbClr val="F2F4F7"/>
          </a:solidFill>
          <a:ln w="12700">
            <a:solidFill>
              <a:srgbClr val="F2F4F7"/>
            </a:solidFill>
            <a:prstDash val="solid"/>
          </a:ln>
        </p:spPr>
      </p:sp>
      <p:sp>
        <p:nvSpPr>
          <p:cNvPr id="8" name="Text 6"/>
          <p:cNvSpPr txBox="1"/>
          <p:nvPr/>
        </p:nvSpPr>
        <p:spPr>
          <a:xfrm>
            <a:off x="2240280" y="1920240"/>
            <a:ext cx="4114800" cy="114300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Coding error left an old internet-facing API unprotected (alleged)</a:t>
            </a:r>
            <a:endParaRPr lang="en-US" sz="1400" dirty="0"/>
          </a:p>
        </p:txBody>
      </p:sp>
      <p:sp>
        <p:nvSpPr>
          <p:cNvPr id="9" name="Shape 7"/>
          <p:cNvSpPr/>
          <p:nvPr/>
        </p:nvSpPr>
        <p:spPr>
          <a:xfrm>
            <a:off x="6601968" y="2331720"/>
            <a:ext cx="274320" cy="320040"/>
          </a:xfrm>
          <a:prstGeom prst="rightArrow">
            <a:avLst/>
          </a:prstGeom>
          <a:solidFill>
            <a:srgbClr val="5F6B76"/>
          </a:solidFill>
          <a:ln w="12700">
            <a:solidFill>
              <a:srgbClr val="5F6B76"/>
            </a:solidFill>
            <a:prstDash val="solid"/>
          </a:ln>
        </p:spPr>
      </p:sp>
      <p:sp>
        <p:nvSpPr>
          <p:cNvPr id="10" name="Shape 8"/>
          <p:cNvSpPr/>
          <p:nvPr/>
        </p:nvSpPr>
        <p:spPr>
          <a:xfrm>
            <a:off x="6949440" y="1920240"/>
            <a:ext cx="4663440" cy="1143000"/>
          </a:xfrm>
          <a:prstGeom prst="roundRect">
            <a:avLst>
              <a:gd name="adj" fmla="val 6400"/>
            </a:avLst>
          </a:prstGeom>
          <a:solidFill>
            <a:srgbClr val="E1EFEA"/>
          </a:solidFill>
          <a:ln w="12700">
            <a:solidFill>
              <a:srgbClr val="E1EFEA"/>
            </a:solidFill>
            <a:prstDash val="solid"/>
          </a:ln>
        </p:spPr>
      </p:sp>
      <p:sp>
        <p:nvSpPr>
          <p:cNvPr id="11" name="Text 9"/>
          <p:cNvSpPr txBox="1"/>
          <p:nvPr/>
        </p:nvSpPr>
        <p:spPr>
          <a:xfrm>
            <a:off x="7132320" y="1920240"/>
            <a:ext cx="4297680" cy="114300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Inventory of all internet-facing systems; API security testing; SIEM alerts on unusual data volumes</a:t>
            </a:r>
            <a:endParaRPr lang="en-US" sz="1400" dirty="0"/>
          </a:p>
        </p:txBody>
      </p:sp>
      <p:sp>
        <p:nvSpPr>
          <p:cNvPr id="12" name="Text 10"/>
          <p:cNvSpPr txBox="1"/>
          <p:nvPr/>
        </p:nvSpPr>
        <p:spPr>
          <a:xfrm>
            <a:off x="548640" y="3246120"/>
            <a:ext cx="1463040" cy="1143000"/>
          </a:xfrm>
          <a:prstGeom prst="rect">
            <a:avLst/>
          </a:prstGeom>
          <a:noFill/>
          <a:ln/>
        </p:spPr>
        <p:txBody>
          <a:bodyPr wrap="square" lIns="0" tIns="0" rIns="0" bIns="0"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Medibank</a:t>
            </a:r>
            <a:endParaRPr lang="en-US" sz="1800" dirty="0"/>
          </a:p>
        </p:txBody>
      </p:sp>
      <p:sp>
        <p:nvSpPr>
          <p:cNvPr id="13" name="Shape 11"/>
          <p:cNvSpPr/>
          <p:nvPr/>
        </p:nvSpPr>
        <p:spPr>
          <a:xfrm>
            <a:off x="2057400" y="3246120"/>
            <a:ext cx="4480560" cy="1143000"/>
          </a:xfrm>
          <a:prstGeom prst="roundRect">
            <a:avLst>
              <a:gd name="adj" fmla="val 6400"/>
            </a:avLst>
          </a:prstGeom>
          <a:solidFill>
            <a:srgbClr val="F2F4F7"/>
          </a:solidFill>
          <a:ln w="12700">
            <a:solidFill>
              <a:srgbClr val="F2F4F7"/>
            </a:solidFill>
            <a:prstDash val="solid"/>
          </a:ln>
        </p:spPr>
      </p:sp>
      <p:sp>
        <p:nvSpPr>
          <p:cNvPr id="14" name="Text 12"/>
          <p:cNvSpPr txBox="1"/>
          <p:nvPr/>
        </p:nvSpPr>
        <p:spPr>
          <a:xfrm>
            <a:off x="2240280" y="3246120"/>
            <a:ext cx="4114800" cy="114300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No MFA on VPN; security alerts not triaged (alleged)</a:t>
            </a:r>
            <a:endParaRPr lang="en-US" sz="1400" dirty="0"/>
          </a:p>
        </p:txBody>
      </p:sp>
      <p:sp>
        <p:nvSpPr>
          <p:cNvPr id="15" name="Shape 13"/>
          <p:cNvSpPr/>
          <p:nvPr/>
        </p:nvSpPr>
        <p:spPr>
          <a:xfrm>
            <a:off x="6601968" y="3657600"/>
            <a:ext cx="274320" cy="320040"/>
          </a:xfrm>
          <a:prstGeom prst="rightArrow">
            <a:avLst/>
          </a:prstGeom>
          <a:solidFill>
            <a:srgbClr val="5F6B76"/>
          </a:solidFill>
          <a:ln w="12700">
            <a:solidFill>
              <a:srgbClr val="5F6B76"/>
            </a:solidFill>
            <a:prstDash val="solid"/>
          </a:ln>
        </p:spPr>
      </p:sp>
      <p:sp>
        <p:nvSpPr>
          <p:cNvPr id="16" name="Shape 14"/>
          <p:cNvSpPr/>
          <p:nvPr/>
        </p:nvSpPr>
        <p:spPr>
          <a:xfrm>
            <a:off x="6949440" y="3246120"/>
            <a:ext cx="4663440" cy="1143000"/>
          </a:xfrm>
          <a:prstGeom prst="roundRect">
            <a:avLst>
              <a:gd name="adj" fmla="val 6400"/>
            </a:avLst>
          </a:prstGeom>
          <a:solidFill>
            <a:srgbClr val="E1EFEA"/>
          </a:solidFill>
          <a:ln w="12700">
            <a:solidFill>
              <a:srgbClr val="E1EFEA"/>
            </a:solidFill>
            <a:prstDash val="solid"/>
          </a:ln>
        </p:spPr>
      </p:sp>
      <p:sp>
        <p:nvSpPr>
          <p:cNvPr id="17" name="Text 15"/>
          <p:cNvSpPr txBox="1"/>
          <p:nvPr/>
        </p:nvSpPr>
        <p:spPr>
          <a:xfrm>
            <a:off x="7132320" y="3246120"/>
            <a:ext cx="4297680" cy="114300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Enforced MFA; 24/7 alert ownership (in-house or managed service); SIEM–EDR correlation</a:t>
            </a:r>
            <a:endParaRPr lang="en-US" sz="1400" dirty="0"/>
          </a:p>
        </p:txBody>
      </p:sp>
      <p:sp>
        <p:nvSpPr>
          <p:cNvPr id="18" name="Text 16"/>
          <p:cNvSpPr txBox="1"/>
          <p:nvPr/>
        </p:nvSpPr>
        <p:spPr>
          <a:xfrm>
            <a:off x="548640" y="4572000"/>
            <a:ext cx="1463040" cy="1143000"/>
          </a:xfrm>
          <a:prstGeom prst="rect">
            <a:avLst/>
          </a:prstGeom>
          <a:noFill/>
          <a:ln/>
        </p:spPr>
        <p:txBody>
          <a:bodyPr wrap="square" lIns="0" tIns="0" rIns="0" bIns="0"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Latitude</a:t>
            </a:r>
            <a:endParaRPr lang="en-US" sz="1800" dirty="0"/>
          </a:p>
        </p:txBody>
      </p:sp>
      <p:sp>
        <p:nvSpPr>
          <p:cNvPr id="19" name="Shape 17"/>
          <p:cNvSpPr/>
          <p:nvPr/>
        </p:nvSpPr>
        <p:spPr>
          <a:xfrm>
            <a:off x="2057400" y="4572000"/>
            <a:ext cx="4480560" cy="1143000"/>
          </a:xfrm>
          <a:prstGeom prst="roundRect">
            <a:avLst>
              <a:gd name="adj" fmla="val 6400"/>
            </a:avLst>
          </a:prstGeom>
          <a:solidFill>
            <a:srgbClr val="F2F4F7"/>
          </a:solidFill>
          <a:ln w="12700">
            <a:solidFill>
              <a:srgbClr val="F2F4F7"/>
            </a:solidFill>
            <a:prstDash val="solid"/>
          </a:ln>
        </p:spPr>
      </p:sp>
      <p:sp>
        <p:nvSpPr>
          <p:cNvPr id="20" name="Text 18"/>
          <p:cNvSpPr txBox="1"/>
          <p:nvPr/>
        </p:nvSpPr>
        <p:spPr>
          <a:xfrm>
            <a:off x="2240280" y="4572000"/>
            <a:ext cx="4114800" cy="114300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Entry via vendor credentials; records kept since 2005</a:t>
            </a:r>
            <a:endParaRPr lang="en-US" sz="1400" dirty="0"/>
          </a:p>
        </p:txBody>
      </p:sp>
      <p:sp>
        <p:nvSpPr>
          <p:cNvPr id="21" name="Shape 19"/>
          <p:cNvSpPr/>
          <p:nvPr/>
        </p:nvSpPr>
        <p:spPr>
          <a:xfrm>
            <a:off x="6601968" y="4983480"/>
            <a:ext cx="274320" cy="320040"/>
          </a:xfrm>
          <a:prstGeom prst="rightArrow">
            <a:avLst/>
          </a:prstGeom>
          <a:solidFill>
            <a:srgbClr val="5F6B76"/>
          </a:solidFill>
          <a:ln w="12700">
            <a:solidFill>
              <a:srgbClr val="5F6B76"/>
            </a:solidFill>
            <a:prstDash val="solid"/>
          </a:ln>
        </p:spPr>
      </p:sp>
      <p:sp>
        <p:nvSpPr>
          <p:cNvPr id="22" name="Shape 20"/>
          <p:cNvSpPr/>
          <p:nvPr/>
        </p:nvSpPr>
        <p:spPr>
          <a:xfrm>
            <a:off x="6949440" y="4572000"/>
            <a:ext cx="4663440" cy="1143000"/>
          </a:xfrm>
          <a:prstGeom prst="roundRect">
            <a:avLst>
              <a:gd name="adj" fmla="val 6400"/>
            </a:avLst>
          </a:prstGeom>
          <a:solidFill>
            <a:srgbClr val="E1EFEA"/>
          </a:solidFill>
          <a:ln w="12700">
            <a:solidFill>
              <a:srgbClr val="E1EFEA"/>
            </a:solidFill>
            <a:prstDash val="solid"/>
          </a:ln>
        </p:spPr>
      </p:sp>
      <p:sp>
        <p:nvSpPr>
          <p:cNvPr id="23" name="Text 21"/>
          <p:cNvSpPr txBox="1"/>
          <p:nvPr/>
        </p:nvSpPr>
        <p:spPr>
          <a:xfrm>
            <a:off x="7132320" y="4572000"/>
            <a:ext cx="4297680" cy="114300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Monitoring of third-party accounts for unusual behaviour; deleting data no longer needed</a:t>
            </a:r>
            <a:endParaRPr lang="en-US" sz="1400" dirty="0"/>
          </a:p>
        </p:txBody>
      </p:sp>
      <p:sp>
        <p:nvSpPr>
          <p:cNvPr id="24" name="Text 22"/>
          <p:cNvSpPr txBox="1"/>
          <p:nvPr/>
        </p:nvSpPr>
        <p:spPr>
          <a:xfrm>
            <a:off x="548640" y="5852160"/>
            <a:ext cx="11064240" cy="411480"/>
          </a:xfrm>
          <a:prstGeom prst="rect">
            <a:avLst/>
          </a:prstGeom>
          <a:noFill/>
          <a:ln/>
        </p:spPr>
        <p:txBody>
          <a:bodyPr wrap="square" lIns="0" tIns="0" rIns="0" bIns="0" rtlCol="0" anchor="ctr"/>
          <a:lstStyle/>
          <a:p>
            <a:pPr indent="0" marL="0">
              <a:buNone/>
            </a:pPr>
            <a:r>
              <a:rPr lang="en-US" sz="1500" b="1" dirty="0">
                <a:solidFill>
                  <a:srgbClr val="B03A2E"/>
                </a:solidFill>
                <a:latin typeface="Calibri" pitchFamily="34" charset="0"/>
                <a:ea typeface="Calibri" pitchFamily="34" charset="-122"/>
                <a:cs typeface="Calibri" pitchFamily="34" charset="-120"/>
              </a:rPr>
              <a:t>Pattern: </a:t>
            </a:r>
            <a:pPr indent="0" marL="0">
              <a:buNone/>
            </a:pPr>
            <a:r>
              <a:rPr lang="en-US" sz="1500" dirty="0">
                <a:solidFill>
                  <a:srgbClr val="1B2A41"/>
                </a:solidFill>
                <a:latin typeface="Calibri" pitchFamily="34" charset="0"/>
                <a:ea typeface="Calibri" pitchFamily="34" charset="-122"/>
                <a:cs typeface="Calibri" pitchFamily="34" charset="-120"/>
              </a:rPr>
              <a:t>none of the three was mainly a "missing tool" problem. Each was about visibility, identity and ownership.</a:t>
            </a:r>
            <a:endParaRPr lang="en-US" sz="1500" dirty="0"/>
          </a:p>
        </p:txBody>
      </p:sp>
      <p:sp>
        <p:nvSpPr>
          <p:cNvPr id="25" name="Text 23"/>
          <p:cNvSpPr txBox="1"/>
          <p:nvPr/>
        </p:nvSpPr>
        <p:spPr>
          <a:xfrm>
            <a:off x="548640" y="6355080"/>
            <a:ext cx="9692640" cy="320040"/>
          </a:xfrm>
          <a:prstGeom prst="rect">
            <a:avLst/>
          </a:prstGeom>
          <a:noFill/>
          <a:ln/>
        </p:spPr>
        <p:txBody>
          <a:bodyPr wrap="square" lIns="0" tIns="0" rIns="0" bIns="0" rtlCol="0" anchor="b"/>
          <a:lstStyle/>
          <a:p>
            <a:pPr indent="0" marL="0">
              <a:buNone/>
            </a:pPr>
            <a:r>
              <a:rPr lang="en-US" sz="950" dirty="0">
                <a:solidFill>
                  <a:srgbClr val="5F6B76"/>
                </a:solidFill>
                <a:latin typeface="Calibri" pitchFamily="34" charset="0"/>
                <a:ea typeface="Calibri" pitchFamily="34" charset="-122"/>
                <a:cs typeface="Calibri" pitchFamily="34" charset="-120"/>
              </a:rPr>
              <a:t>Sources: iTnews (2024); OAIC (2024, 2025); SecurityWeek (2023).</a:t>
            </a:r>
            <a:endParaRPr lang="en-US" sz="950" dirty="0"/>
          </a:p>
        </p:txBody>
      </p:sp>
      <p:sp>
        <p:nvSpPr>
          <p:cNvPr id="26" name="Text 24"/>
          <p:cNvSpPr txBox="1"/>
          <p:nvPr/>
        </p:nvSpPr>
        <p:spPr>
          <a:xfrm>
            <a:off x="11155680" y="6355080"/>
            <a:ext cx="457200" cy="320040"/>
          </a:xfrm>
          <a:prstGeom prst="rect">
            <a:avLst/>
          </a:prstGeom>
          <a:noFill/>
          <a:ln/>
        </p:spPr>
        <p:txBody>
          <a:bodyPr wrap="square" lIns="0" tIns="0" rIns="0" bIns="0" rtlCol="0" anchor="b"/>
          <a:lstStyle/>
          <a:p>
            <a:pPr algn="r" indent="0" marL="0">
              <a:buNone/>
            </a:pPr>
            <a:r>
              <a:rPr lang="en-US" sz="1000" dirty="0">
                <a:solidFill>
                  <a:srgbClr val="5F6B7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B2A41"/>
                </a:solidFill>
                <a:latin typeface="Calibri" pitchFamily="34" charset="0"/>
                <a:ea typeface="Calibri" pitchFamily="34" charset="-122"/>
                <a:cs typeface="Calibri" pitchFamily="34" charset="-120"/>
              </a:rPr>
              <a:t>What is changing for investigations</a:t>
            </a:r>
            <a:endParaRPr lang="en-US" sz="3200" dirty="0"/>
          </a:p>
        </p:txBody>
      </p:sp>
      <p:sp>
        <p:nvSpPr>
          <p:cNvPr id="3" name="Text 1"/>
          <p:cNvSpPr txBox="1"/>
          <p:nvPr/>
        </p:nvSpPr>
        <p:spPr>
          <a:xfrm>
            <a:off x="548640" y="1005840"/>
            <a:ext cx="11064240" cy="384048"/>
          </a:xfrm>
          <a:prstGeom prst="rect">
            <a:avLst/>
          </a:prstGeom>
          <a:noFill/>
          <a:ln/>
        </p:spPr>
        <p:txBody>
          <a:bodyPr wrap="square" lIns="0" tIns="0" rIns="0" bIns="0" rtlCol="0" anchor="ctr"/>
          <a:lstStyle/>
          <a:p>
            <a:pPr indent="0" marL="0">
              <a:buNone/>
            </a:pPr>
            <a:r>
              <a:rPr lang="en-US" sz="1600" dirty="0">
                <a:solidFill>
                  <a:srgbClr val="5F6B76"/>
                </a:solidFill>
                <a:latin typeface="Calibri" pitchFamily="34" charset="0"/>
                <a:ea typeface="Calibri" pitchFamily="34" charset="-122"/>
                <a:cs typeface="Calibri" pitchFamily="34" charset="-120"/>
              </a:rPr>
              <a:t>Four trends boards should plan for</a:t>
            </a:r>
            <a:endParaRPr lang="en-US" sz="1600" dirty="0"/>
          </a:p>
        </p:txBody>
      </p:sp>
      <p:sp>
        <p:nvSpPr>
          <p:cNvPr id="4" name="Shape 2"/>
          <p:cNvSpPr/>
          <p:nvPr/>
        </p:nvSpPr>
        <p:spPr>
          <a:xfrm>
            <a:off x="548640" y="1645920"/>
            <a:ext cx="5440680" cy="1920240"/>
          </a:xfrm>
          <a:prstGeom prst="roundRect">
            <a:avLst>
              <a:gd name="adj" fmla="val 3810"/>
            </a:avLst>
          </a:prstGeom>
          <a:solidFill>
            <a:srgbClr val="F2F4F7"/>
          </a:solidFill>
          <a:ln w="12700">
            <a:solidFill>
              <a:srgbClr val="F2F4F7"/>
            </a:solidFill>
            <a:prstDash val="solid"/>
          </a:ln>
        </p:spPr>
      </p:sp>
      <p:sp>
        <p:nvSpPr>
          <p:cNvPr id="5" name="Shape 3"/>
          <p:cNvSpPr/>
          <p:nvPr/>
        </p:nvSpPr>
        <p:spPr>
          <a:xfrm>
            <a:off x="822960" y="1965960"/>
            <a:ext cx="777240" cy="777240"/>
          </a:xfrm>
          <a:prstGeom prst="ellipse">
            <a:avLst/>
          </a:prstGeom>
          <a:solidFill>
            <a:srgbClr val="324A5F"/>
          </a:solidFill>
          <a:ln w="12700">
            <a:solidFill>
              <a:srgbClr val="324A5F"/>
            </a:solidFill>
            <a:prstDash val="solid"/>
          </a:ln>
        </p:spPr>
      </p:sp>
      <p:pic>
        <p:nvPicPr>
          <p:cNvPr id="6" name="Image 0" descr="preencoded.png">    </p:cNvPr>
          <p:cNvPicPr>
            <a:picLocks noChangeAspect="1"/>
          </p:cNvPicPr>
          <p:nvPr/>
        </p:nvPicPr>
        <p:blipFill>
          <a:blip r:embed="rId1"/>
          <a:stretch>
            <a:fillRect/>
          </a:stretch>
        </p:blipFill>
        <p:spPr>
          <a:xfrm>
            <a:off x="1025042" y="2168042"/>
            <a:ext cx="373075" cy="373075"/>
          </a:xfrm>
          <a:prstGeom prst="rect">
            <a:avLst/>
          </a:prstGeom>
        </p:spPr>
      </p:pic>
      <p:sp>
        <p:nvSpPr>
          <p:cNvPr id="7" name="Text 4"/>
          <p:cNvSpPr txBox="1"/>
          <p:nvPr/>
        </p:nvSpPr>
        <p:spPr>
          <a:xfrm>
            <a:off x="1828800" y="1920240"/>
            <a:ext cx="3977640" cy="411480"/>
          </a:xfrm>
          <a:prstGeom prst="rect">
            <a:avLst/>
          </a:prstGeom>
          <a:noFill/>
          <a:ln/>
        </p:spPr>
        <p:txBody>
          <a:bodyPr wrap="square" lIns="0" tIns="0" rIns="0" bIns="0"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AI on both sides</a:t>
            </a:r>
            <a:endParaRPr lang="en-US" sz="1800" dirty="0"/>
          </a:p>
        </p:txBody>
      </p:sp>
      <p:sp>
        <p:nvSpPr>
          <p:cNvPr id="8" name="Text 5"/>
          <p:cNvSpPr txBox="1"/>
          <p:nvPr/>
        </p:nvSpPr>
        <p:spPr>
          <a:xfrm>
            <a:off x="1828800" y="2377440"/>
            <a:ext cx="3977640" cy="105156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Attackers use AI for scams; AI can help triage alerts, but its findings must be explainable to stand up as evidence.</a:t>
            </a:r>
            <a:endParaRPr lang="en-US" sz="1350" dirty="0"/>
          </a:p>
        </p:txBody>
      </p:sp>
      <p:sp>
        <p:nvSpPr>
          <p:cNvPr id="9" name="Shape 6"/>
          <p:cNvSpPr/>
          <p:nvPr/>
        </p:nvSpPr>
        <p:spPr>
          <a:xfrm>
            <a:off x="6172200" y="1645920"/>
            <a:ext cx="5440680" cy="1920240"/>
          </a:xfrm>
          <a:prstGeom prst="roundRect">
            <a:avLst>
              <a:gd name="adj" fmla="val 3810"/>
            </a:avLst>
          </a:prstGeom>
          <a:solidFill>
            <a:srgbClr val="F2F4F7"/>
          </a:solidFill>
          <a:ln w="12700">
            <a:solidFill>
              <a:srgbClr val="F2F4F7"/>
            </a:solidFill>
            <a:prstDash val="solid"/>
          </a:ln>
        </p:spPr>
      </p:sp>
      <p:sp>
        <p:nvSpPr>
          <p:cNvPr id="10" name="Shape 7"/>
          <p:cNvSpPr/>
          <p:nvPr/>
        </p:nvSpPr>
        <p:spPr>
          <a:xfrm>
            <a:off x="6446520" y="1965960"/>
            <a:ext cx="777240" cy="777240"/>
          </a:xfrm>
          <a:prstGeom prst="ellipse">
            <a:avLst/>
          </a:prstGeom>
          <a:solidFill>
            <a:srgbClr val="324A5F"/>
          </a:solidFill>
          <a:ln w="12700">
            <a:solidFill>
              <a:srgbClr val="324A5F"/>
            </a:solidFill>
            <a:prstDash val="solid"/>
          </a:ln>
        </p:spPr>
      </p:sp>
      <p:pic>
        <p:nvPicPr>
          <p:cNvPr id="11" name="Image 1" descr="preencoded.png">    </p:cNvPr>
          <p:cNvPicPr>
            <a:picLocks noChangeAspect="1"/>
          </p:cNvPicPr>
          <p:nvPr/>
        </p:nvPicPr>
        <p:blipFill>
          <a:blip r:embed="rId2"/>
          <a:stretch>
            <a:fillRect/>
          </a:stretch>
        </p:blipFill>
        <p:spPr>
          <a:xfrm>
            <a:off x="6648602" y="2168042"/>
            <a:ext cx="373075" cy="373075"/>
          </a:xfrm>
          <a:prstGeom prst="rect">
            <a:avLst/>
          </a:prstGeom>
        </p:spPr>
      </p:pic>
      <p:sp>
        <p:nvSpPr>
          <p:cNvPr id="12" name="Text 8"/>
          <p:cNvSpPr txBox="1"/>
          <p:nvPr/>
        </p:nvSpPr>
        <p:spPr>
          <a:xfrm>
            <a:off x="7452360" y="1920240"/>
            <a:ext cx="3977640" cy="411480"/>
          </a:xfrm>
          <a:prstGeom prst="rect">
            <a:avLst/>
          </a:prstGeom>
          <a:noFill/>
          <a:ln/>
        </p:spPr>
        <p:txBody>
          <a:bodyPr wrap="square" lIns="0" tIns="0" rIns="0" bIns="0"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Identity is the new perimeter</a:t>
            </a:r>
            <a:endParaRPr lang="en-US" sz="1800" dirty="0"/>
          </a:p>
        </p:txBody>
      </p:sp>
      <p:sp>
        <p:nvSpPr>
          <p:cNvPr id="13" name="Text 9"/>
          <p:cNvSpPr txBox="1"/>
          <p:nvPr/>
        </p:nvSpPr>
        <p:spPr>
          <a:xfrm>
            <a:off x="7452360" y="2377440"/>
            <a:ext cx="3977640" cy="105156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Stolen logins and vendor access (Medibank, Latitude) move investigations to identity and cloud logs, which are often kept only briefly.</a:t>
            </a:r>
            <a:endParaRPr lang="en-US" sz="1350" dirty="0"/>
          </a:p>
        </p:txBody>
      </p:sp>
      <p:sp>
        <p:nvSpPr>
          <p:cNvPr id="14" name="Shape 10"/>
          <p:cNvSpPr/>
          <p:nvPr/>
        </p:nvSpPr>
        <p:spPr>
          <a:xfrm>
            <a:off x="548640" y="3794760"/>
            <a:ext cx="5440680" cy="1920240"/>
          </a:xfrm>
          <a:prstGeom prst="roundRect">
            <a:avLst>
              <a:gd name="adj" fmla="val 3810"/>
            </a:avLst>
          </a:prstGeom>
          <a:solidFill>
            <a:srgbClr val="F2F4F7"/>
          </a:solidFill>
          <a:ln w="12700">
            <a:solidFill>
              <a:srgbClr val="F2F4F7"/>
            </a:solidFill>
            <a:prstDash val="solid"/>
          </a:ln>
        </p:spPr>
      </p:sp>
      <p:sp>
        <p:nvSpPr>
          <p:cNvPr id="15" name="Shape 11"/>
          <p:cNvSpPr/>
          <p:nvPr/>
        </p:nvSpPr>
        <p:spPr>
          <a:xfrm>
            <a:off x="822960" y="4114800"/>
            <a:ext cx="777240" cy="777240"/>
          </a:xfrm>
          <a:prstGeom prst="ellipse">
            <a:avLst/>
          </a:prstGeom>
          <a:solidFill>
            <a:srgbClr val="B03A2E"/>
          </a:solidFill>
          <a:ln w="12700">
            <a:solidFill>
              <a:srgbClr val="B03A2E"/>
            </a:solidFill>
            <a:prstDash val="solid"/>
          </a:ln>
        </p:spPr>
      </p:sp>
      <p:pic>
        <p:nvPicPr>
          <p:cNvPr id="16" name="Image 2" descr="preencoded.png">    </p:cNvPr>
          <p:cNvPicPr>
            <a:picLocks noChangeAspect="1"/>
          </p:cNvPicPr>
          <p:nvPr/>
        </p:nvPicPr>
        <p:blipFill>
          <a:blip r:embed="rId3"/>
          <a:stretch>
            <a:fillRect/>
          </a:stretch>
        </p:blipFill>
        <p:spPr>
          <a:xfrm>
            <a:off x="1025042" y="4316882"/>
            <a:ext cx="373075" cy="373075"/>
          </a:xfrm>
          <a:prstGeom prst="rect">
            <a:avLst/>
          </a:prstGeom>
        </p:spPr>
      </p:pic>
      <p:sp>
        <p:nvSpPr>
          <p:cNvPr id="17" name="Text 12"/>
          <p:cNvSpPr txBox="1"/>
          <p:nvPr/>
        </p:nvSpPr>
        <p:spPr>
          <a:xfrm>
            <a:off x="1828800" y="4069080"/>
            <a:ext cx="3977640" cy="411480"/>
          </a:xfrm>
          <a:prstGeom prst="rect">
            <a:avLst/>
          </a:prstGeom>
          <a:noFill/>
          <a:ln/>
        </p:spPr>
        <p:txBody>
          <a:bodyPr wrap="square" lIns="0" tIns="0" rIns="0" bIns="0"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Tougher regulation</a:t>
            </a:r>
            <a:endParaRPr lang="en-US" sz="1800" dirty="0"/>
          </a:p>
        </p:txBody>
      </p:sp>
      <p:sp>
        <p:nvSpPr>
          <p:cNvPr id="18" name="Text 13"/>
          <p:cNvSpPr txBox="1"/>
          <p:nvPr/>
        </p:nvSpPr>
        <p:spPr>
          <a:xfrm>
            <a:off x="1828800" y="4526280"/>
            <a:ext cx="3977640" cy="105156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Ransomware payments must be reported within 72 hours (from 30 May 2025). A new privacy tort applies from 10 June 2025.</a:t>
            </a:r>
            <a:endParaRPr lang="en-US" sz="1350" dirty="0"/>
          </a:p>
        </p:txBody>
      </p:sp>
      <p:sp>
        <p:nvSpPr>
          <p:cNvPr id="19" name="Shape 14"/>
          <p:cNvSpPr/>
          <p:nvPr/>
        </p:nvSpPr>
        <p:spPr>
          <a:xfrm>
            <a:off x="6172200" y="3794760"/>
            <a:ext cx="5440680" cy="1920240"/>
          </a:xfrm>
          <a:prstGeom prst="roundRect">
            <a:avLst>
              <a:gd name="adj" fmla="val 3810"/>
            </a:avLst>
          </a:prstGeom>
          <a:solidFill>
            <a:srgbClr val="F2F4F7"/>
          </a:solidFill>
          <a:ln w="12700">
            <a:solidFill>
              <a:srgbClr val="F2F4F7"/>
            </a:solidFill>
            <a:prstDash val="solid"/>
          </a:ln>
        </p:spPr>
      </p:sp>
      <p:sp>
        <p:nvSpPr>
          <p:cNvPr id="20" name="Shape 15"/>
          <p:cNvSpPr/>
          <p:nvPr/>
        </p:nvSpPr>
        <p:spPr>
          <a:xfrm>
            <a:off x="6446520" y="4114800"/>
            <a:ext cx="777240" cy="777240"/>
          </a:xfrm>
          <a:prstGeom prst="ellipse">
            <a:avLst/>
          </a:prstGeom>
          <a:solidFill>
            <a:srgbClr val="324A5F"/>
          </a:solidFill>
          <a:ln w="12700">
            <a:solidFill>
              <a:srgbClr val="324A5F"/>
            </a:solidFill>
            <a:prstDash val="solid"/>
          </a:ln>
        </p:spPr>
      </p:sp>
      <p:pic>
        <p:nvPicPr>
          <p:cNvPr id="21" name="Image 3" descr="preencoded.png">    </p:cNvPr>
          <p:cNvPicPr>
            <a:picLocks noChangeAspect="1"/>
          </p:cNvPicPr>
          <p:nvPr/>
        </p:nvPicPr>
        <p:blipFill>
          <a:blip r:embed="rId4"/>
          <a:stretch>
            <a:fillRect/>
          </a:stretch>
        </p:blipFill>
        <p:spPr>
          <a:xfrm>
            <a:off x="6648602" y="4316882"/>
            <a:ext cx="373075" cy="373075"/>
          </a:xfrm>
          <a:prstGeom prst="rect">
            <a:avLst/>
          </a:prstGeom>
        </p:spPr>
      </p:pic>
      <p:sp>
        <p:nvSpPr>
          <p:cNvPr id="22" name="Text 16"/>
          <p:cNvSpPr txBox="1"/>
          <p:nvPr/>
        </p:nvSpPr>
        <p:spPr>
          <a:xfrm>
            <a:off x="7452360" y="4069080"/>
            <a:ext cx="3977640" cy="411480"/>
          </a:xfrm>
          <a:prstGeom prst="rect">
            <a:avLst/>
          </a:prstGeom>
          <a:noFill/>
          <a:ln/>
        </p:spPr>
        <p:txBody>
          <a:bodyPr wrap="square" lIns="0" tIns="0" rIns="0" bIns="0"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Skills shortage</a:t>
            </a:r>
            <a:endParaRPr lang="en-US" sz="1800" dirty="0"/>
          </a:p>
        </p:txBody>
      </p:sp>
      <p:sp>
        <p:nvSpPr>
          <p:cNvPr id="23" name="Text 17"/>
          <p:cNvSpPr txBox="1"/>
          <p:nvPr/>
        </p:nvSpPr>
        <p:spPr>
          <a:xfrm>
            <a:off x="7452360" y="4526280"/>
            <a:ext cx="3977640" cy="105156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Few organisations can staff 24/7 monitoring, so managed detection and response (MDR) services are growing.</a:t>
            </a:r>
            <a:endParaRPr lang="en-US" sz="1350" dirty="0"/>
          </a:p>
        </p:txBody>
      </p:sp>
      <p:sp>
        <p:nvSpPr>
          <p:cNvPr id="24" name="Text 18"/>
          <p:cNvSpPr txBox="1"/>
          <p:nvPr/>
        </p:nvSpPr>
        <p:spPr>
          <a:xfrm>
            <a:off x="548640" y="6355080"/>
            <a:ext cx="9692640" cy="320040"/>
          </a:xfrm>
          <a:prstGeom prst="rect">
            <a:avLst/>
          </a:prstGeom>
          <a:noFill/>
          <a:ln/>
        </p:spPr>
        <p:txBody>
          <a:bodyPr wrap="square" lIns="0" tIns="0" rIns="0" bIns="0" rtlCol="0" anchor="b"/>
          <a:lstStyle/>
          <a:p>
            <a:pPr indent="0" marL="0">
              <a:buNone/>
            </a:pPr>
            <a:r>
              <a:rPr lang="en-US" sz="950" dirty="0">
                <a:solidFill>
                  <a:srgbClr val="5F6B76"/>
                </a:solidFill>
                <a:latin typeface="Calibri" pitchFamily="34" charset="0"/>
                <a:ea typeface="Calibri" pitchFamily="34" charset="-122"/>
                <a:cs typeface="Calibri" pitchFamily="34" charset="-120"/>
              </a:rPr>
              <a:t>Sources: ASD (2025); Department of Home Affairs (2025); Privacy and Other Legislation Amendment Act 2024 (Cth).</a:t>
            </a:r>
            <a:endParaRPr lang="en-US" sz="950" dirty="0"/>
          </a:p>
        </p:txBody>
      </p:sp>
      <p:sp>
        <p:nvSpPr>
          <p:cNvPr id="25" name="Text 19"/>
          <p:cNvSpPr txBox="1"/>
          <p:nvPr/>
        </p:nvSpPr>
        <p:spPr>
          <a:xfrm>
            <a:off x="11155680" y="6355080"/>
            <a:ext cx="457200" cy="320040"/>
          </a:xfrm>
          <a:prstGeom prst="rect">
            <a:avLst/>
          </a:prstGeom>
          <a:noFill/>
          <a:ln/>
        </p:spPr>
        <p:txBody>
          <a:bodyPr wrap="square" lIns="0" tIns="0" rIns="0" bIns="0" rtlCol="0" anchor="b"/>
          <a:lstStyle/>
          <a:p>
            <a:pPr algn="r" indent="0" marL="0">
              <a:buNone/>
            </a:pPr>
            <a:r>
              <a:rPr lang="en-US" sz="1000" dirty="0">
                <a:solidFill>
                  <a:srgbClr val="5F6B7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B2A41"/>
                </a:solidFill>
                <a:latin typeface="Calibri" pitchFamily="34" charset="0"/>
                <a:ea typeface="Calibri" pitchFamily="34" charset="-122"/>
                <a:cs typeface="Calibri" pitchFamily="34" charset="-120"/>
              </a:rPr>
              <a:t>Four actions, in priority order</a:t>
            </a:r>
            <a:endParaRPr lang="en-US" sz="3200" dirty="0"/>
          </a:p>
        </p:txBody>
      </p:sp>
      <p:sp>
        <p:nvSpPr>
          <p:cNvPr id="3" name="Text 1"/>
          <p:cNvSpPr txBox="1"/>
          <p:nvPr/>
        </p:nvSpPr>
        <p:spPr>
          <a:xfrm>
            <a:off x="548640" y="1005840"/>
            <a:ext cx="11064240" cy="384048"/>
          </a:xfrm>
          <a:prstGeom prst="rect">
            <a:avLst/>
          </a:prstGeom>
          <a:noFill/>
          <a:ln/>
        </p:spPr>
        <p:txBody>
          <a:bodyPr wrap="square" lIns="0" tIns="0" rIns="0" bIns="0" rtlCol="0" anchor="ctr"/>
          <a:lstStyle/>
          <a:p>
            <a:pPr indent="0" marL="0">
              <a:buNone/>
            </a:pPr>
            <a:r>
              <a:rPr lang="en-US" sz="1600" dirty="0">
                <a:solidFill>
                  <a:srgbClr val="5F6B76"/>
                </a:solidFill>
                <a:latin typeface="Calibri" pitchFamily="34" charset="0"/>
                <a:ea typeface="Calibri" pitchFamily="34" charset="-122"/>
                <a:cs typeface="Calibri" pitchFamily="34" charset="-120"/>
              </a:rPr>
              <a:t>Each one fixes a failure seen in the breaches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57200"/>
                <a:gridCol w="2103120"/>
                <a:gridCol w="3657600"/>
                <a:gridCol w="1600200"/>
                <a:gridCol w="1143000"/>
                <a:gridCol w="1097280"/>
                <a:gridCol w="10058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involves</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Investment</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Timeframe</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Fixes</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1B2A41"/>
                    </a:solidFill>
                  </a:tcPr>
                </a:tc>
              </a:tr>
              <a:tr h="8686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B03A2E"/>
                    </a:solidFill>
                  </a:tcPr>
                </a:tc>
                <a:tc>
                  <a:txBody>
                    <a:bodyPr/>
                    <a:lstStyle/>
                    <a:p>
                      <a:pPr algn="l" indent="0" marL="0">
                        <a:buNone/>
                      </a:pPr>
                      <a:r>
                        <a:rPr lang="en-US" sz="1300" b="1" dirty="0">
                          <a:solidFill>
                            <a:srgbClr val="1B2A41"/>
                          </a:solidFill>
                          <a:latin typeface="Calibri" pitchFamily="34" charset="0"/>
                          <a:ea typeface="Calibri" pitchFamily="34" charset="-122"/>
                          <a:cs typeface="Calibri" pitchFamily="34" charset="-120"/>
                        </a:rPr>
                        <a:t>Own every alert and enforce MFA</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2A41"/>
                          </a:solidFill>
                          <a:latin typeface="Calibri" pitchFamily="34" charset="0"/>
                          <a:ea typeface="Calibri" pitchFamily="34" charset="-122"/>
                          <a:cs typeface="Calibri" pitchFamily="34" charset="-120"/>
                        </a:rPr>
                        <a:t>Phishing-resistant MFA on all remote access; 24/7 alert triage with escalation time limits (in-house or MDR)</a:t>
                      </a:r>
                      <a:endParaRPr lang="en-US" sz="12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CISO; board risk committee</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Low–Medium</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0–3 months</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Medibank</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r>
              <a:tr h="8686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324A5F"/>
                    </a:solidFill>
                  </a:tcPr>
                </a:tc>
                <a:tc>
                  <a:txBody>
                    <a:bodyPr/>
                    <a:lstStyle/>
                    <a:p>
                      <a:pPr algn="l" indent="0" marL="0">
                        <a:buNone/>
                      </a:pPr>
                      <a:r>
                        <a:rPr lang="en-US" sz="1300" b="1" dirty="0">
                          <a:solidFill>
                            <a:srgbClr val="1B2A41"/>
                          </a:solidFill>
                          <a:latin typeface="Calibri" pitchFamily="34" charset="0"/>
                          <a:ea typeface="Calibri" pitchFamily="34" charset="-122"/>
                          <a:cs typeface="Calibri" pitchFamily="34" charset="-120"/>
                        </a:rPr>
                        <a:t>Connect SIEM and EDR</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1"/>
                          </a:solidFill>
                          <a:latin typeface="Calibri" pitchFamily="34" charset="0"/>
                          <a:ea typeface="Calibri" pitchFamily="34" charset="-122"/>
                          <a:cs typeface="Calibri" pitchFamily="34" charset="-120"/>
                        </a:rPr>
                        <a:t>Centralise identity, API, cloud and device logs to ASD’s baseline; alerts for login misuse and bulk data access</a:t>
                      </a:r>
                      <a:endParaRPr lang="en-US" sz="12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CISO / CIO</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Medium–High</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3–9 months</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Optus, Latitude</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r>
              <a:tr h="8686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324A5F"/>
                    </a:solidFill>
                  </a:tcPr>
                </a:tc>
                <a:tc>
                  <a:txBody>
                    <a:bodyPr/>
                    <a:lstStyle/>
                    <a:p>
                      <a:pPr algn="l" indent="0" marL="0">
                        <a:buNone/>
                      </a:pPr>
                      <a:r>
                        <a:rPr lang="en-US" sz="1300" b="1" dirty="0">
                          <a:solidFill>
                            <a:srgbClr val="1B2A41"/>
                          </a:solidFill>
                          <a:latin typeface="Calibri" pitchFamily="34" charset="0"/>
                          <a:ea typeface="Calibri" pitchFamily="34" charset="-122"/>
                          <a:cs typeface="Calibri" pitchFamily="34" charset="-120"/>
                        </a:rPr>
                        <a:t>Be ready to investigate</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2A41"/>
                          </a:solidFill>
                          <a:latin typeface="Calibri" pitchFamily="34" charset="0"/>
                          <a:ea typeface="Calibri" pitchFamily="34" charset="-122"/>
                          <a:cs typeface="Calibri" pitchFamily="34" charset="-120"/>
                        </a:rPr>
                        <a:t>Forensics firm on retainer; logs kept long enough to scope a breach; rehearse response plans</a:t>
                      </a:r>
                      <a:endParaRPr lang="en-US" sz="12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CISO; General Counsel</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6–12 months</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Latitude</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2F4F7"/>
                    </a:solidFill>
                  </a:tcPr>
                </a:tc>
              </a:tr>
              <a:tr h="7315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324A5F"/>
                    </a:solidFill>
                  </a:tcPr>
                </a:tc>
                <a:tc>
                  <a:txBody>
                    <a:bodyPr/>
                    <a:lstStyle/>
                    <a:p>
                      <a:pPr algn="l" indent="0" marL="0">
                        <a:buNone/>
                      </a:pPr>
                      <a:r>
                        <a:rPr lang="en-US" sz="1300" b="1" dirty="0">
                          <a:solidFill>
                            <a:srgbClr val="1B2A41"/>
                          </a:solidFill>
                          <a:latin typeface="Calibri" pitchFamily="34" charset="0"/>
                          <a:ea typeface="Calibri" pitchFamily="34" charset="-122"/>
                          <a:cs typeface="Calibri" pitchFamily="34" charset="-120"/>
                        </a:rPr>
                        <a:t>Add threat intelligence last</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1"/>
                          </a:solidFill>
                          <a:latin typeface="Calibri" pitchFamily="34" charset="0"/>
                          <a:ea typeface="Calibri" pitchFamily="34" charset="-122"/>
                          <a:cs typeface="Calibri" pitchFamily="34" charset="-120"/>
                        </a:rPr>
                        <a:t>Only once triage is mature; feed into risk assessment</a:t>
                      </a:r>
                      <a:endParaRPr lang="en-US" sz="12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Security operations lead</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12+ months</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41"/>
                          </a:solidFill>
                          <a:latin typeface="Calibri" pitchFamily="34" charset="0"/>
                          <a:ea typeface="Calibri" pitchFamily="34" charset="-122"/>
                          <a:cs typeface="Calibri" pitchFamily="34" charset="-120"/>
                        </a:rPr>
                        <a:t>All</a:t>
                      </a:r>
                      <a:endParaRPr lang="en-US" sz="1300" dirty="0">
                        <a:latin typeface="Calibri" charset="0"/>
                        <a:ea typeface="Calibri" charset="0"/>
                        <a:cs typeface="Calibri" charset="0"/>
                      </a:endParaRPr>
                    </a:p>
                  </a:txBody>
                  <a:tcPr marL="73152" marR="73152" marT="73152" marB="73152" anchor="ctr">
                    <a:lnL w="12700" cap="flat" cmpd="sng" algn="ctr">
                      <a:solidFill>
                        <a:srgbClr val="D5DBE1"/>
                      </a:solidFill>
                      <a:prstDash val="solid"/>
                      <a:round/>
                      <a:headEnd type="none" w="med" len="med"/>
                      <a:tailEnd type="none" w="med" len="med"/>
                    </a:lnL>
                    <a:lnR w="12700" cap="flat" cmpd="sng" algn="ctr">
                      <a:solidFill>
                        <a:srgbClr val="D5DBE1"/>
                      </a:solidFill>
                      <a:prstDash val="solid"/>
                      <a:round/>
                      <a:headEnd type="none" w="med" len="med"/>
                      <a:tailEnd type="none" w="med" len="med"/>
                    </a:lnR>
                    <a:lnT w="12700" cap="flat" cmpd="sng" algn="ctr">
                      <a:solidFill>
                        <a:srgbClr val="D5DBE1"/>
                      </a:solidFill>
                      <a:prstDash val="solid"/>
                      <a:round/>
                      <a:headEnd type="none" w="med" len="med"/>
                      <a:tailEnd type="none" w="med" len="med"/>
                    </a:lnT>
                    <a:lnB w="12700" cap="flat" cmpd="sng" algn="ctr">
                      <a:solidFill>
                        <a:srgbClr val="D5DB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1250" i="1" dirty="0">
                <a:solidFill>
                  <a:srgbClr val="5F6B76"/>
                </a:solidFill>
                <a:latin typeface="Calibri" pitchFamily="34" charset="0"/>
                <a:ea typeface="Calibri" pitchFamily="34" charset="-122"/>
                <a:cs typeface="Calibri" pitchFamily="34" charset="-120"/>
              </a:rPr>
              <a:t>Investment levels are relative estimates, not quotes. FAIR risk quantification can turn them into dollar figures for the board (Freund &amp; Jones, 2015).</a:t>
            </a:r>
            <a:endParaRPr lang="en-US" sz="1250" dirty="0"/>
          </a:p>
        </p:txBody>
      </p:sp>
      <p:sp>
        <p:nvSpPr>
          <p:cNvPr id="6" name="Text 3"/>
          <p:cNvSpPr txBox="1"/>
          <p:nvPr/>
        </p:nvSpPr>
        <p:spPr>
          <a:xfrm>
            <a:off x="548640" y="6355080"/>
            <a:ext cx="9692640" cy="320040"/>
          </a:xfrm>
          <a:prstGeom prst="rect">
            <a:avLst/>
          </a:prstGeom>
          <a:noFill/>
          <a:ln/>
        </p:spPr>
        <p:txBody>
          <a:bodyPr wrap="square" lIns="0" tIns="0" rIns="0" bIns="0" rtlCol="0" anchor="b"/>
          <a:lstStyle/>
          <a:p>
            <a:pPr indent="0" marL="0">
              <a:buNone/>
            </a:pPr>
            <a:r>
              <a:rPr lang="en-US" sz="950" dirty="0">
                <a:solidFill>
                  <a:srgbClr val="5F6B76"/>
                </a:solidFill>
                <a:latin typeface="Calibri" pitchFamily="34" charset="0"/>
                <a:ea typeface="Calibri" pitchFamily="34" charset="-122"/>
                <a:cs typeface="Calibri" pitchFamily="34" charset="-120"/>
              </a:rPr>
              <a:t>Sources: ASD’s ACSC et al. (2024); ASD (2023) Essential Eight; Nelson et al. (2025); Freund &amp; Jones (2015).</a:t>
            </a:r>
            <a:endParaRPr lang="en-US" sz="950" dirty="0"/>
          </a:p>
        </p:txBody>
      </p:sp>
      <p:sp>
        <p:nvSpPr>
          <p:cNvPr id="7" name="Text 4"/>
          <p:cNvSpPr txBox="1"/>
          <p:nvPr/>
        </p:nvSpPr>
        <p:spPr>
          <a:xfrm>
            <a:off x="11155680" y="6355080"/>
            <a:ext cx="457200" cy="320040"/>
          </a:xfrm>
          <a:prstGeom prst="rect">
            <a:avLst/>
          </a:prstGeom>
          <a:noFill/>
          <a:ln/>
        </p:spPr>
        <p:txBody>
          <a:bodyPr wrap="square" lIns="0" tIns="0" rIns="0" bIns="0" rtlCol="0" anchor="b"/>
          <a:lstStyle/>
          <a:p>
            <a:pPr algn="r" indent="0" marL="0">
              <a:buNone/>
            </a:pPr>
            <a:r>
              <a:rPr lang="en-US" sz="1000" dirty="0">
                <a:solidFill>
                  <a:srgbClr val="5F6B7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640080" y="548640"/>
            <a:ext cx="10972800" cy="6858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Three questions to ask on Monday</a:t>
            </a:r>
            <a:endParaRPr lang="en-US" sz="3400" dirty="0"/>
          </a:p>
        </p:txBody>
      </p:sp>
      <p:sp>
        <p:nvSpPr>
          <p:cNvPr id="3" name="Shape 1"/>
          <p:cNvSpPr/>
          <p:nvPr/>
        </p:nvSpPr>
        <p:spPr>
          <a:xfrm>
            <a:off x="640080" y="1645920"/>
            <a:ext cx="3474720" cy="3017520"/>
          </a:xfrm>
          <a:prstGeom prst="roundRect">
            <a:avLst>
              <a:gd name="adj" fmla="val 2424"/>
            </a:avLst>
          </a:prstGeom>
          <a:solidFill>
            <a:srgbClr val="324A5F"/>
          </a:solidFill>
          <a:ln w="12700">
            <a:solidFill>
              <a:srgbClr val="324A5F"/>
            </a:solidFill>
            <a:prstDash val="solid"/>
          </a:ln>
        </p:spPr>
      </p:sp>
      <p:sp>
        <p:nvSpPr>
          <p:cNvPr id="4" name="Shape 2"/>
          <p:cNvSpPr/>
          <p:nvPr/>
        </p:nvSpPr>
        <p:spPr>
          <a:xfrm>
            <a:off x="914400" y="1920240"/>
            <a:ext cx="822960" cy="822960"/>
          </a:xfrm>
          <a:prstGeom prst="ellipse">
            <a:avLst/>
          </a:prstGeom>
          <a:solidFill>
            <a:srgbClr val="B03A2E"/>
          </a:solidFill>
          <a:ln w="12700">
            <a:solidFill>
              <a:srgbClr val="B03A2E"/>
            </a:solidFill>
            <a:prstDash val="solid"/>
          </a:ln>
        </p:spPr>
      </p:sp>
      <p:pic>
        <p:nvPicPr>
          <p:cNvPr id="5" name="Image 0" descr="preencoded.png">    </p:cNvPr>
          <p:cNvPicPr>
            <a:picLocks noChangeAspect="1"/>
          </p:cNvPicPr>
          <p:nvPr/>
        </p:nvPicPr>
        <p:blipFill>
          <a:blip r:embed="rId1"/>
          <a:stretch>
            <a:fillRect/>
          </a:stretch>
        </p:blipFill>
        <p:spPr>
          <a:xfrm>
            <a:off x="1128370" y="2134210"/>
            <a:ext cx="395021" cy="395021"/>
          </a:xfrm>
          <a:prstGeom prst="rect">
            <a:avLst/>
          </a:prstGeom>
        </p:spPr>
      </p:pic>
      <p:sp>
        <p:nvSpPr>
          <p:cNvPr id="6" name="Text 3"/>
          <p:cNvSpPr txBox="1"/>
          <p:nvPr/>
        </p:nvSpPr>
        <p:spPr>
          <a:xfrm>
            <a:off x="914400" y="2926080"/>
            <a:ext cx="2926080" cy="1554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Who owns our security alerts at 2 am on a Sunday?</a:t>
            </a:r>
            <a:endParaRPr lang="en-US" sz="1800" dirty="0"/>
          </a:p>
        </p:txBody>
      </p:sp>
      <p:sp>
        <p:nvSpPr>
          <p:cNvPr id="7" name="Shape 4"/>
          <p:cNvSpPr/>
          <p:nvPr/>
        </p:nvSpPr>
        <p:spPr>
          <a:xfrm>
            <a:off x="4389120" y="1645920"/>
            <a:ext cx="3474720" cy="3017520"/>
          </a:xfrm>
          <a:prstGeom prst="roundRect">
            <a:avLst>
              <a:gd name="adj" fmla="val 2424"/>
            </a:avLst>
          </a:prstGeom>
          <a:solidFill>
            <a:srgbClr val="324A5F"/>
          </a:solidFill>
          <a:ln w="12700">
            <a:solidFill>
              <a:srgbClr val="324A5F"/>
            </a:solidFill>
            <a:prstDash val="solid"/>
          </a:ln>
        </p:spPr>
      </p:sp>
      <p:sp>
        <p:nvSpPr>
          <p:cNvPr id="8" name="Shape 5"/>
          <p:cNvSpPr/>
          <p:nvPr/>
        </p:nvSpPr>
        <p:spPr>
          <a:xfrm>
            <a:off x="4663440" y="1920240"/>
            <a:ext cx="822960" cy="822960"/>
          </a:xfrm>
          <a:prstGeom prst="ellipse">
            <a:avLst/>
          </a:prstGeom>
          <a:solidFill>
            <a:srgbClr val="4F7CAC"/>
          </a:solidFill>
          <a:ln w="12700">
            <a:solidFill>
              <a:srgbClr val="4F7CAC"/>
            </a:solidFill>
            <a:prstDash val="solid"/>
          </a:ln>
        </p:spPr>
      </p:sp>
      <p:pic>
        <p:nvPicPr>
          <p:cNvPr id="9" name="Image 1" descr="preencoded.png">    </p:cNvPr>
          <p:cNvPicPr>
            <a:picLocks noChangeAspect="1"/>
          </p:cNvPicPr>
          <p:nvPr/>
        </p:nvPicPr>
        <p:blipFill>
          <a:blip r:embed="rId2"/>
          <a:stretch>
            <a:fillRect/>
          </a:stretch>
        </p:blipFill>
        <p:spPr>
          <a:xfrm>
            <a:off x="4877410" y="2134210"/>
            <a:ext cx="395021" cy="395021"/>
          </a:xfrm>
          <a:prstGeom prst="rect">
            <a:avLst/>
          </a:prstGeom>
        </p:spPr>
      </p:pic>
      <p:sp>
        <p:nvSpPr>
          <p:cNvPr id="10" name="Text 6"/>
          <p:cNvSpPr txBox="1"/>
          <p:nvPr/>
        </p:nvSpPr>
        <p:spPr>
          <a:xfrm>
            <a:off x="4663440" y="2926080"/>
            <a:ext cx="2926080" cy="1554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Does every remote login require MFA, including contractors and vendors?</a:t>
            </a:r>
            <a:endParaRPr lang="en-US" sz="1800" dirty="0"/>
          </a:p>
        </p:txBody>
      </p:sp>
      <p:sp>
        <p:nvSpPr>
          <p:cNvPr id="11" name="Shape 7"/>
          <p:cNvSpPr/>
          <p:nvPr/>
        </p:nvSpPr>
        <p:spPr>
          <a:xfrm>
            <a:off x="8138160" y="1645920"/>
            <a:ext cx="3474720" cy="3017520"/>
          </a:xfrm>
          <a:prstGeom prst="roundRect">
            <a:avLst>
              <a:gd name="adj" fmla="val 2424"/>
            </a:avLst>
          </a:prstGeom>
          <a:solidFill>
            <a:srgbClr val="324A5F"/>
          </a:solidFill>
          <a:ln w="12700">
            <a:solidFill>
              <a:srgbClr val="324A5F"/>
            </a:solidFill>
            <a:prstDash val="solid"/>
          </a:ln>
        </p:spPr>
      </p:sp>
      <p:sp>
        <p:nvSpPr>
          <p:cNvPr id="12" name="Shape 8"/>
          <p:cNvSpPr/>
          <p:nvPr/>
        </p:nvSpPr>
        <p:spPr>
          <a:xfrm>
            <a:off x="8412480" y="1920240"/>
            <a:ext cx="822960" cy="822960"/>
          </a:xfrm>
          <a:prstGeom prst="ellipse">
            <a:avLst/>
          </a:prstGeom>
          <a:solidFill>
            <a:srgbClr val="4F7CAC"/>
          </a:solidFill>
          <a:ln w="12700">
            <a:solidFill>
              <a:srgbClr val="4F7CAC"/>
            </a:solidFill>
            <a:prstDash val="solid"/>
          </a:ln>
        </p:spPr>
      </p:sp>
      <p:pic>
        <p:nvPicPr>
          <p:cNvPr id="13" name="Image 2" descr="preencoded.png">    </p:cNvPr>
          <p:cNvPicPr>
            <a:picLocks noChangeAspect="1"/>
          </p:cNvPicPr>
          <p:nvPr/>
        </p:nvPicPr>
        <p:blipFill>
          <a:blip r:embed="rId3"/>
          <a:stretch>
            <a:fillRect/>
          </a:stretch>
        </p:blipFill>
        <p:spPr>
          <a:xfrm>
            <a:off x="8626450" y="2134210"/>
            <a:ext cx="395021" cy="395021"/>
          </a:xfrm>
          <a:prstGeom prst="rect">
            <a:avLst/>
          </a:prstGeom>
        </p:spPr>
      </p:pic>
      <p:sp>
        <p:nvSpPr>
          <p:cNvPr id="14" name="Text 9"/>
          <p:cNvSpPr txBox="1"/>
          <p:nvPr/>
        </p:nvSpPr>
        <p:spPr>
          <a:xfrm>
            <a:off x="8412480" y="2926080"/>
            <a:ext cx="2926080" cy="1554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If we were breached today, could we tell regulators within days what was taken?</a:t>
            </a:r>
            <a:endParaRPr lang="en-US" sz="1800" dirty="0"/>
          </a:p>
        </p:txBody>
      </p:sp>
      <p:sp>
        <p:nvSpPr>
          <p:cNvPr id="15" name="Text 10"/>
          <p:cNvSpPr txBox="1"/>
          <p:nvPr/>
        </p:nvSpPr>
        <p:spPr>
          <a:xfrm>
            <a:off x="640080" y="4983480"/>
            <a:ext cx="1097280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Bottom line: </a:t>
            </a:r>
            <a:pPr indent="0" marL="0">
              <a:buNone/>
            </a:pPr>
            <a:r>
              <a:rPr lang="en-US" sz="1800" dirty="0">
                <a:solidFill>
                  <a:srgbClr val="C9D6E3"/>
                </a:solidFill>
                <a:latin typeface="Calibri" pitchFamily="34" charset="0"/>
                <a:ea typeface="Calibri" pitchFamily="34" charset="-122"/>
                <a:cs typeface="Calibri" pitchFamily="34" charset="-120"/>
              </a:rPr>
              <a:t>the right tools matter, but ownership, identity controls and readiness matter more.</a:t>
            </a:r>
            <a:endParaRPr lang="en-US" sz="1800" dirty="0"/>
          </a:p>
        </p:txBody>
      </p:sp>
      <p:sp>
        <p:nvSpPr>
          <p:cNvPr id="16" name="Text 11"/>
          <p:cNvSpPr txBox="1"/>
          <p:nvPr/>
        </p:nvSpPr>
        <p:spPr>
          <a:xfrm>
            <a:off x="640080" y="5577840"/>
            <a:ext cx="5486400" cy="457200"/>
          </a:xfrm>
          <a:prstGeom prst="rect">
            <a:avLst/>
          </a:prstGeom>
          <a:noFill/>
          <a:ln/>
        </p:spPr>
        <p:txBody>
          <a:bodyPr wrap="square" lIns="0" tIns="0" rIns="0" bIns="0" rtlCol="0" anchor="ctr"/>
          <a:lstStyle/>
          <a:p>
            <a:pPr indent="0" marL="0">
              <a:buNone/>
            </a:pPr>
            <a:r>
              <a:rPr lang="en-US" sz="2000" i="1" dirty="0">
                <a:solidFill>
                  <a:srgbClr val="C9D6E3"/>
                </a:solidFill>
                <a:latin typeface="Calibri" pitchFamily="34" charset="0"/>
                <a:ea typeface="Calibri" pitchFamily="34" charset="-122"/>
                <a:cs typeface="Calibri" pitchFamily="34" charset="-120"/>
              </a:rPr>
              <a:t>Thank you. Questions?</a:t>
            </a:r>
            <a:endParaRPr lang="en-US" sz="2000" dirty="0"/>
          </a:p>
        </p:txBody>
      </p:sp>
      <p:sp>
        <p:nvSpPr>
          <p:cNvPr id="17" name="Text 12"/>
          <p:cNvSpPr txBox="1"/>
          <p:nvPr/>
        </p:nvSpPr>
        <p:spPr>
          <a:xfrm>
            <a:off x="548640" y="6355080"/>
            <a:ext cx="9692640" cy="320040"/>
          </a:xfrm>
          <a:prstGeom prst="rect">
            <a:avLst/>
          </a:prstGeom>
          <a:noFill/>
          <a:ln/>
        </p:spPr>
        <p:txBody>
          <a:bodyPr wrap="square" lIns="0" tIns="0" rIns="0" bIns="0" rtlCol="0" anchor="b"/>
          <a:lstStyle/>
          <a:p>
            <a:pPr indent="0" marL="0">
              <a:buNone/>
            </a:pPr>
            <a:r>
              <a:rPr lang="en-US" sz="950" dirty="0">
                <a:solidFill>
                  <a:srgbClr val="C9D6E3"/>
                </a:solidFill>
                <a:latin typeface="Calibri" pitchFamily="34" charset="0"/>
                <a:ea typeface="Calibri" pitchFamily="34" charset="-122"/>
                <a:cs typeface="Calibri" pitchFamily="34" charset="-120"/>
              </a:rPr>
              <a:t>Sources: Full APA reference list provided in the written report.</a:t>
            </a:r>
            <a:endParaRPr lang="en-US" sz="950" dirty="0"/>
          </a:p>
        </p:txBody>
      </p:sp>
      <p:sp>
        <p:nvSpPr>
          <p:cNvPr id="18" name="Text 13"/>
          <p:cNvSpPr txBox="1"/>
          <p:nvPr/>
        </p:nvSpPr>
        <p:spPr>
          <a:xfrm>
            <a:off x="11155680" y="6355080"/>
            <a:ext cx="457200" cy="320040"/>
          </a:xfrm>
          <a:prstGeom prst="rect">
            <a:avLst/>
          </a:prstGeom>
          <a:noFill/>
          <a:ln/>
        </p:spPr>
        <p:txBody>
          <a:bodyPr wrap="square" lIns="0" tIns="0" rIns="0" bIns="0" rtlCol="0" anchor="b"/>
          <a:lstStyle/>
          <a:p>
            <a:pPr algn="r" indent="0" marL="0">
              <a:buNone/>
            </a:pPr>
            <a:r>
              <a:rPr lang="en-US" sz="1000" dirty="0">
                <a:solidFill>
                  <a:srgbClr val="C9D6E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Investigation Tools in Data Breach Response</dc:title>
  <dc:subject>PptxGenJS Presentation</dc:subject>
  <dc:creator>PptxGenJS</dc:creator>
  <cp:lastModifiedBy>PptxGenJS</cp:lastModifiedBy>
  <cp:revision>1</cp:revision>
  <dcterms:created xsi:type="dcterms:W3CDTF">2026-10-04T03:15:42Z</dcterms:created>
  <dcterms:modified xsi:type="dcterms:W3CDTF">2026-10-04T03:15:42Z</dcterms:modified>
</cp:coreProperties>
</file>