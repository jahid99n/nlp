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6770"/>
                </a:solidFill>
                <a:latin typeface="Arial"/>
              </a:defRPr>
            </a:pPr>
            <a:r>
              <a:rPr sz="1400" b="0" i="0" u="none" strike="noStrike">
                <a:solidFill>
                  <a:srgbClr val="5B6770"/>
                </a:solidFill>
                <a:latin typeface="Arial"/>
              </a:rPr>
              <a:t>Respondents per country (N = 1,017)</a:t>
            </a:r>
          </a:p>
        </c:rich>
      </c:tx>
      <c:layout/>
      <c:overlay val="0"/>
    </c:title>
    <c:autoTitleDeleted val="0"/>
    <c:plotArea>
      <c:layout/>
      <c:barChart>
        <c:barDir val="col"/>
        <c:grouping val="clustered"/>
        <c:varyColors val="0"/>
        <c:ser>
          <c:idx val="0"/>
          <c:order val="0"/>
          <c:tx>
            <c:strRef>
              <c:f>Sheet1!$B$1</c:f>
              <c:strCache>
                <c:ptCount val="1"/>
                <c:pt idx="0">
                  <c:v>Respondents</c:v>
                </c:pt>
              </c:strCache>
            </c:strRef>
          </c:tx>
          <c:spPr>
            <a:solidFill>
              <a:srgbClr val="1F3A5F"/>
            </a:solidFill>
            <a:effectLst/>
          </c:spPr>
          <c:invertIfNegative val="0"/>
          <c:dLbls>
            <c:numFmt formatCode="#,##0" sourceLinked="0"/>
            <c:txPr>
              <a:bodyPr/>
              <a:lstStyle/>
              <a:p>
                <a:pPr>
                  <a:defRPr b="1" i="0" strike="noStrike" sz="1600" u="none">
                    <a:solidFill>
                      <a:srgbClr val="1F3A5F"/>
                    </a:solidFill>
                    <a:latin typeface="Arial"/>
                  </a:defRPr>
                </a:pPr>
              </a:p>
            </c:txPr>
            <c:showLegendKey val="0"/>
            <c:showVal val="1"/>
            <c:showCatName val="0"/>
            <c:showSerName val="0"/>
            <c:showPercent val="0"/>
            <c:showBubbleSize val="0"/>
            <c:showLeaderLines val="0"/>
          </c:dLbls>
          <c:dPt>
            <c:idx val="0"/>
            <c:invertIfNegative val="0"/>
            <c:bubble3D val="0"/>
            <c:spPr>
              <a:solidFill>
                <a:srgbClr val="1F3A5F"/>
              </a:solidFill>
              <a:effectLst/>
            </c:spPr>
          </c:dPt>
          <c:dPt>
            <c:idx val="1"/>
            <c:invertIfNegative val="0"/>
            <c:bubble3D val="0"/>
            <c:spPr>
              <a:solidFill>
                <a:srgbClr val="D1495B"/>
              </a:solidFill>
              <a:effectLst/>
            </c:spPr>
          </c:dPt>
          <c:dPt>
            <c:idx val="2"/>
            <c:invertIfNegative val="0"/>
            <c:bubble3D val="0"/>
            <c:spPr>
              <a:solidFill>
                <a:srgbClr val="1F3A5F"/>
              </a:solidFill>
              <a:effectLst/>
            </c:spPr>
          </c:dPt>
          <c:cat>
            <c:multiLvlStrRef>
              <c:f>Sheet1!$A$2:$A$4</c:f>
              <c:multiLvlStrCache>
                <c:ptCount val="3"/>
                <c:lvl>
                  <c:pt idx="0">
                    <c:v>Germany</c:v>
                  </c:pt>
                  <c:pt idx="1">
                    <c:v>UK</c:v>
                  </c:pt>
                  <c:pt idx="2">
                    <c:v>USA</c:v>
                  </c:pt>
                </c:lvl>
              </c:multiLvlStrCache>
            </c:multiLvlStrRef>
          </c:cat>
          <c:val>
            <c:numRef>
              <c:f>Sheet1!$B$2:$B$4</c:f>
              <c:numCache>
                <c:formatCode>General</c:formatCode>
                <c:ptCount val="3"/>
                <c:pt idx="0">
                  <c:v>306</c:v>
                </c:pt>
                <c:pt idx="1">
                  <c:v>205</c:v>
                </c:pt>
                <c:pt idx="2">
                  <c:v>506</c:v>
                </c:pt>
              </c:numCache>
            </c:numRef>
          </c:val>
        </c:ser>
        <c:dLbls>
          <c:numFmt formatCode="#,##0" sourceLinked="0"/>
          <c:txPr>
            <a:bodyPr/>
            <a:lstStyle/>
            <a:p>
              <a:pPr>
                <a:defRPr b="1" i="0" strike="noStrike" sz="1600" u="none">
                  <a:solidFill>
                    <a:srgbClr val="1F3A5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3A5F"/>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Today I critique Petrič and Just (2025), a quantitative study in the Journal of Cybersecurity about why employees report phishing emails. My overall verdict: the study is theoretically coherent and statistically sophisticated, but its cross-sectional, self-report design limits what it can tell us about causes and actual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Reporting matters because every reported email is an early warning. The authors note that research focuses on who clicks, not who reports. They surveyed 1,017 employees from organisations with 50+ staff in Germany, the UK and the US, testing whether four components of information security culture (policy awareness, communication quality, knowledge and supportive norms) drive reporting through attitudes and a sense of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Here is the model. The four culture components on the left predict attitudes and responsibility, which predict reporting. In Germany attitudes mattered most; in the UK responsibility; in the US neither was strong. The surprising result is communication quality: it increases reporting directly but reduces responsibility and attitudes. The red badges show the four concerns I will unpack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Design: a cross-sectional survey suits theory testing, but the model claims mediation, a causal chain that one time point cannot show. Sampling: an online panel is efficient but non-probability and self-selected; the UK group is less than half the size of the US group, so UK estimates are less precise. Data collection: every construct, including the outcome, comes from one questionnaire, inviting common method and social desirability bias. Statistics are the strongest element: multigroup SEM with invariance testing is exactly what cross-country comparison requires. I would still want HTMT for discriminant validity and a check for suppression effects behind the negative communication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The sample is large, but look at the balance: the UK has 205 respondents against 506 in the US. Panel respondents self-select and may be unusually security-aware. And because culture is an organisational property, measuring it through one person per organisation captures perception, not shared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Strengths: a clear, theory-driven model; a large three-country sample with invariance testing, so the measures mean the same thing across countries; and a nuanced finding on communication. Limitations, by validity type: internally, we cannot rule out reverse causation; for construct validity, saying you report is not the same as reporting; reliability rests on one occasion; with over a thousand respondents, significance is cheap, so effect sizes matter; and the findings generalise only to large Western organisations, with country standing in for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First, measure real behaviour: partner with organisations running phishing simulations and link survey answers to actual report logs, as Lain and colleagues did in a long-term field study. Second, separate the time points so causes come before effects. Third, survey several employees per organisation to measure culture as a genuinely shared property with multilevel SEM, with power-planned, balanced groups. Fourth, measure cultural values directly and extend beyond large Western firms. The trade-off is cost and ethics, especially deception in simulations. A qualitative phase could also explain why communication seems to lower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To conclude: a valuable study that reframes employees as defenders and tests its model carefully across countries. But it shows associations among perceptions, not causes or real behaviour. For business research, the lesson is that survey-based SEM maps relationships well, while claims about culture and behaviour need multilevel, longitudinal and behavioural evidence.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slide: not presented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640080" y="731520"/>
            <a:ext cx="6858000" cy="365760"/>
          </a:xfrm>
          <a:prstGeom prst="rect">
            <a:avLst/>
          </a:prstGeom>
          <a:noFill/>
          <a:ln/>
        </p:spPr>
        <p:txBody>
          <a:bodyPr wrap="square" lIns="0" tIns="0" rIns="0" bIns="0" rtlCol="0" anchor="ctr"/>
          <a:lstStyle/>
          <a:p>
            <a:pPr indent="0" marL="0">
              <a:buNone/>
            </a:pPr>
            <a:r>
              <a:rPr lang="en-US" sz="1400" b="1" spc="200" kern="0" dirty="0">
                <a:solidFill>
                  <a:srgbClr val="E3F4F1"/>
                </a:solidFill>
                <a:latin typeface="Calibri" pitchFamily="34" charset="0"/>
                <a:ea typeface="Calibri" pitchFamily="34" charset="-122"/>
                <a:cs typeface="Calibri" pitchFamily="34" charset="-120"/>
              </a:rPr>
              <a:t>QUANTITATIVE RESEARCH CRITIQUE  ·  RS703</a:t>
            </a:r>
            <a:endParaRPr lang="en-US" sz="1400" dirty="0"/>
          </a:p>
        </p:txBody>
      </p:sp>
      <p:sp>
        <p:nvSpPr>
          <p:cNvPr id="3" name="Text 1"/>
          <p:cNvSpPr txBox="1"/>
          <p:nvPr/>
        </p:nvSpPr>
        <p:spPr>
          <a:xfrm>
            <a:off x="640080" y="1280160"/>
            <a:ext cx="713232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Who reports the phish?</a:t>
            </a:r>
            <a:endParaRPr lang="en-US" sz="4200" dirty="0"/>
          </a:p>
        </p:txBody>
      </p:sp>
      <p:sp>
        <p:nvSpPr>
          <p:cNvPr id="4" name="Text 2"/>
          <p:cNvSpPr txBox="1"/>
          <p:nvPr/>
        </p:nvSpPr>
        <p:spPr>
          <a:xfrm>
            <a:off x="640080" y="2377440"/>
            <a:ext cx="6675120" cy="10058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 critique of Petrič &amp; Just (2025): information security culture and employees’ reporting of phishing emails</a:t>
            </a:r>
            <a:endParaRPr lang="en-US" sz="2000" dirty="0"/>
          </a:p>
        </p:txBody>
      </p:sp>
      <p:sp>
        <p:nvSpPr>
          <p:cNvPr id="5" name="Shape 3"/>
          <p:cNvSpPr/>
          <p:nvPr/>
        </p:nvSpPr>
        <p:spPr>
          <a:xfrm>
            <a:off x="640080" y="3749040"/>
            <a:ext cx="6675120" cy="1143000"/>
          </a:xfrm>
          <a:prstGeom prst="roundRect">
            <a:avLst>
              <a:gd name="adj" fmla="val 9600"/>
            </a:avLst>
          </a:prstGeom>
          <a:solidFill>
            <a:srgbClr val="2A4A73"/>
          </a:solidFill>
          <a:ln w="12700">
            <a:solidFill>
              <a:srgbClr val="2A4A73"/>
            </a:solidFill>
            <a:prstDash val="solid"/>
          </a:ln>
        </p:spPr>
      </p:sp>
      <p:sp>
        <p:nvSpPr>
          <p:cNvPr id="6" name="Text 4"/>
          <p:cNvSpPr txBox="1"/>
          <p:nvPr/>
        </p:nvSpPr>
        <p:spPr>
          <a:xfrm>
            <a:off x="868680" y="3840480"/>
            <a:ext cx="6263640" cy="9601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Verdict: </a:t>
            </a:r>
            <a:pPr indent="0" marL="0">
              <a:buNone/>
            </a:pPr>
            <a:r>
              <a:rPr lang="en-US" sz="1600" dirty="0">
                <a:solidFill>
                  <a:srgbClr val="CADCFC"/>
                </a:solidFill>
                <a:latin typeface="Calibri" pitchFamily="34" charset="0"/>
                <a:ea typeface="Calibri" pitchFamily="34" charset="-122"/>
                <a:cs typeface="Calibri" pitchFamily="34" charset="-120"/>
              </a:rPr>
              <a:t>theoretically coherent and statistically sophisticated, but a cross-sectional, self-report design limits causal and behavioural claims.</a:t>
            </a:r>
            <a:endParaRPr lang="en-US" sz="1600" dirty="0"/>
          </a:p>
        </p:txBody>
      </p:sp>
      <p:sp>
        <p:nvSpPr>
          <p:cNvPr id="7" name="Text 5"/>
          <p:cNvSpPr txBox="1"/>
          <p:nvPr/>
        </p:nvSpPr>
        <p:spPr>
          <a:xfrm>
            <a:off x="640080" y="5760720"/>
            <a:ext cx="68580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[Your name]  ·  [Student ID]  ·  Journal of Cybersecurity, 11(1), tyaf011</a:t>
            </a:r>
            <a:endParaRPr lang="en-US" sz="1300" dirty="0"/>
          </a:p>
        </p:txBody>
      </p:sp>
      <p:sp>
        <p:nvSpPr>
          <p:cNvPr id="8" name="Shape 6"/>
          <p:cNvSpPr/>
          <p:nvPr/>
        </p:nvSpPr>
        <p:spPr>
          <a:xfrm>
            <a:off x="8138160" y="1188720"/>
            <a:ext cx="3291840" cy="3291840"/>
          </a:xfrm>
          <a:prstGeom prst="ellipse">
            <a:avLst/>
          </a:prstGeom>
          <a:solidFill>
            <a:srgbClr val="2A4A73"/>
          </a:solidFill>
          <a:ln w="12700">
            <a:solidFill>
              <a:srgbClr val="2A4A73"/>
            </a:solidFill>
            <a:prstDash val="solid"/>
          </a:ln>
        </p:spPr>
      </p:sp>
      <p:pic>
        <p:nvPicPr>
          <p:cNvPr id="9" name="Image 0" descr="preencoded.png">    </p:cNvPr>
          <p:cNvPicPr>
            <a:picLocks noChangeAspect="1"/>
          </p:cNvPicPr>
          <p:nvPr/>
        </p:nvPicPr>
        <p:blipFill>
          <a:blip r:embed="rId1"/>
          <a:stretch>
            <a:fillRect/>
          </a:stretch>
        </p:blipFill>
        <p:spPr>
          <a:xfrm>
            <a:off x="8915400" y="1874520"/>
            <a:ext cx="1737360" cy="1737360"/>
          </a:xfrm>
          <a:prstGeom prst="rect">
            <a:avLst/>
          </a:prstGeom>
        </p:spPr>
      </p:pic>
      <p:sp>
        <p:nvSpPr>
          <p:cNvPr id="10" name="Shape 7"/>
          <p:cNvSpPr/>
          <p:nvPr/>
        </p:nvSpPr>
        <p:spPr>
          <a:xfrm>
            <a:off x="10469880" y="1097280"/>
            <a:ext cx="1005840" cy="1005840"/>
          </a:xfrm>
          <a:prstGeom prst="ellipse">
            <a:avLst/>
          </a:prstGeom>
          <a:solidFill>
            <a:srgbClr val="2A9D8F"/>
          </a:solidFill>
          <a:ln w="12700">
            <a:solidFill>
              <a:srgbClr val="2A9D8F"/>
            </a:solidFill>
            <a:prstDash val="solid"/>
          </a:ln>
        </p:spPr>
      </p:sp>
      <p:pic>
        <p:nvPicPr>
          <p:cNvPr id="11" name="Image 1" descr="preencoded.png">    </p:cNvPr>
          <p:cNvPicPr>
            <a:picLocks noChangeAspect="1"/>
          </p:cNvPicPr>
          <p:nvPr/>
        </p:nvPicPr>
        <p:blipFill>
          <a:blip r:embed="rId2"/>
          <a:stretch>
            <a:fillRect/>
          </a:stretch>
        </p:blipFill>
        <p:spPr>
          <a:xfrm>
            <a:off x="10721340" y="1348740"/>
            <a:ext cx="502920" cy="502920"/>
          </a:xfrm>
          <a:prstGeom prst="rect">
            <a:avLst/>
          </a:prstGeom>
        </p:spPr>
      </p:pic>
      <p:sp>
        <p:nvSpPr>
          <p:cNvPr id="12" name="Shape 8"/>
          <p:cNvSpPr/>
          <p:nvPr/>
        </p:nvSpPr>
        <p:spPr>
          <a:xfrm>
            <a:off x="8001000" y="3611880"/>
            <a:ext cx="868680" cy="868680"/>
          </a:xfrm>
          <a:prstGeom prst="ellipse">
            <a:avLst/>
          </a:prstGeom>
          <a:solidFill>
            <a:srgbClr val="D1495B"/>
          </a:solidFill>
          <a:ln w="12700">
            <a:solidFill>
              <a:srgbClr val="D1495B"/>
            </a:solidFill>
            <a:prstDash val="solid"/>
          </a:ln>
        </p:spPr>
      </p:sp>
      <p:pic>
        <p:nvPicPr>
          <p:cNvPr id="13" name="Image 2" descr="preencoded.png">    </p:cNvPr>
          <p:cNvPicPr>
            <a:picLocks noChangeAspect="1"/>
          </p:cNvPicPr>
          <p:nvPr/>
        </p:nvPicPr>
        <p:blipFill>
          <a:blip r:embed="rId3"/>
          <a:stretch>
            <a:fillRect/>
          </a:stretch>
        </p:blipFill>
        <p:spPr>
          <a:xfrm>
            <a:off x="8218170" y="3829050"/>
            <a:ext cx="434340" cy="434340"/>
          </a:xfrm>
          <a:prstGeom prst="rect">
            <a:avLst/>
          </a:prstGeom>
        </p:spPr>
      </p:pic>
      <p:sp>
        <p:nvSpPr>
          <p:cNvPr id="14" name="Text 9"/>
          <p:cNvSpPr txBox="1"/>
          <p:nvPr/>
        </p:nvSpPr>
        <p:spPr>
          <a:xfrm>
            <a:off x="7680960" y="4754880"/>
            <a:ext cx="4206240" cy="365760"/>
          </a:xfrm>
          <a:prstGeom prst="rect">
            <a:avLst/>
          </a:prstGeom>
          <a:noFill/>
          <a:ln/>
        </p:spPr>
        <p:txBody>
          <a:bodyPr wrap="square" lIns="0" tIns="0" rIns="0" bIns="0"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employee spots  →  reports  →  SOC contains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The study at a glance</a:t>
            </a:r>
            <a:endParaRPr lang="en-US" sz="3400" dirty="0"/>
          </a:p>
        </p:txBody>
      </p:sp>
      <p:sp>
        <p:nvSpPr>
          <p:cNvPr id="3" name="Text 1"/>
          <p:cNvSpPr txBox="1"/>
          <p:nvPr/>
        </p:nvSpPr>
        <p:spPr>
          <a:xfrm>
            <a:off x="548640" y="1078992"/>
            <a:ext cx="11064240" cy="411480"/>
          </a:xfrm>
          <a:prstGeom prst="rect">
            <a:avLst/>
          </a:prstGeom>
          <a:noFill/>
          <a:ln/>
        </p:spPr>
        <p:txBody>
          <a:bodyPr wrap="square" lIns="0" tIns="0" rIns="0" bIns="0" rtlCol="0" anchor="ctr"/>
          <a:lstStyle/>
          <a:p>
            <a:pPr indent="0" marL="0">
              <a:buNone/>
            </a:pPr>
            <a:r>
              <a:rPr lang="en-US" sz="1600" i="1" dirty="0">
                <a:solidFill>
                  <a:srgbClr val="5B6770"/>
                </a:solidFill>
                <a:latin typeface="Calibri" pitchFamily="34" charset="0"/>
                <a:ea typeface="Calibri" pitchFamily="34" charset="-122"/>
                <a:cs typeface="Calibri" pitchFamily="34" charset="-120"/>
              </a:rPr>
              <a:t>From “how do we stop clicks?” to “how do we get employees to report?”</a:t>
            </a:r>
            <a:endParaRPr lang="en-US" sz="1600" dirty="0"/>
          </a:p>
        </p:txBody>
      </p:sp>
      <p:sp>
        <p:nvSpPr>
          <p:cNvPr id="4" name="Shape 2"/>
          <p:cNvSpPr/>
          <p:nvPr/>
        </p:nvSpPr>
        <p:spPr>
          <a:xfrm>
            <a:off x="548640" y="1783080"/>
            <a:ext cx="731520" cy="731520"/>
          </a:xfrm>
          <a:prstGeom prst="ellipse">
            <a:avLst/>
          </a:prstGeom>
          <a:solidFill>
            <a:srgbClr val="1F3A5F"/>
          </a:solidFill>
          <a:ln w="12700">
            <a:solidFill>
              <a:srgbClr val="1F3A5F"/>
            </a:solidFill>
            <a:prstDash val="solid"/>
          </a:ln>
        </p:spPr>
      </p:sp>
      <p:pic>
        <p:nvPicPr>
          <p:cNvPr id="5" name="Image 0" descr="preencoded.png">    </p:cNvPr>
          <p:cNvPicPr>
            <a:picLocks noChangeAspect="1"/>
          </p:cNvPicPr>
          <p:nvPr/>
        </p:nvPicPr>
        <p:blipFill>
          <a:blip r:embed="rId1"/>
          <a:stretch>
            <a:fillRect/>
          </a:stretch>
        </p:blipFill>
        <p:spPr>
          <a:xfrm>
            <a:off x="731520" y="1965960"/>
            <a:ext cx="365760" cy="365760"/>
          </a:xfrm>
          <a:prstGeom prst="rect">
            <a:avLst/>
          </a:prstGeom>
        </p:spPr>
      </p:pic>
      <p:sp>
        <p:nvSpPr>
          <p:cNvPr id="6" name="Text 3"/>
          <p:cNvSpPr txBox="1"/>
          <p:nvPr/>
        </p:nvSpPr>
        <p:spPr>
          <a:xfrm>
            <a:off x="1508760" y="1764792"/>
            <a:ext cx="5120640" cy="36576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Problem</a:t>
            </a:r>
            <a:endParaRPr lang="en-US" sz="1800" dirty="0"/>
          </a:p>
        </p:txBody>
      </p:sp>
      <p:sp>
        <p:nvSpPr>
          <p:cNvPr id="7" name="Text 4"/>
          <p:cNvSpPr txBox="1"/>
          <p:nvPr/>
        </p:nvSpPr>
        <p:spPr>
          <a:xfrm>
            <a:off x="1508760" y="2130552"/>
            <a:ext cx="5120640" cy="77724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Phishing susceptibility is well researched; the drivers of reporting are not.</a:t>
            </a:r>
            <a:endParaRPr lang="en-US" sz="1500" dirty="0"/>
          </a:p>
        </p:txBody>
      </p:sp>
      <p:sp>
        <p:nvSpPr>
          <p:cNvPr id="8" name="Shape 5"/>
          <p:cNvSpPr/>
          <p:nvPr/>
        </p:nvSpPr>
        <p:spPr>
          <a:xfrm>
            <a:off x="548640" y="3154680"/>
            <a:ext cx="731520" cy="731520"/>
          </a:xfrm>
          <a:prstGeom prst="ellipse">
            <a:avLst/>
          </a:prstGeom>
          <a:solidFill>
            <a:srgbClr val="1F3A5F"/>
          </a:solidFill>
          <a:ln w="12700">
            <a:solidFill>
              <a:srgbClr val="1F3A5F"/>
            </a:solidFill>
            <a:prstDash val="solid"/>
          </a:ln>
        </p:spPr>
      </p:sp>
      <p:pic>
        <p:nvPicPr>
          <p:cNvPr id="9" name="Image 1" descr="preencoded.png">    </p:cNvPr>
          <p:cNvPicPr>
            <a:picLocks noChangeAspect="1"/>
          </p:cNvPicPr>
          <p:nvPr/>
        </p:nvPicPr>
        <p:blipFill>
          <a:blip r:embed="rId2"/>
          <a:stretch>
            <a:fillRect/>
          </a:stretch>
        </p:blipFill>
        <p:spPr>
          <a:xfrm>
            <a:off x="731520" y="3337560"/>
            <a:ext cx="365760" cy="365760"/>
          </a:xfrm>
          <a:prstGeom prst="rect">
            <a:avLst/>
          </a:prstGeom>
        </p:spPr>
      </p:pic>
      <p:sp>
        <p:nvSpPr>
          <p:cNvPr id="10" name="Text 6"/>
          <p:cNvSpPr txBox="1"/>
          <p:nvPr/>
        </p:nvSpPr>
        <p:spPr>
          <a:xfrm>
            <a:off x="1508760" y="3136392"/>
            <a:ext cx="5120640" cy="36576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Objectives</a:t>
            </a:r>
            <a:endParaRPr lang="en-US" sz="1800" dirty="0"/>
          </a:p>
        </p:txBody>
      </p:sp>
      <p:sp>
        <p:nvSpPr>
          <p:cNvPr id="11" name="Text 7"/>
          <p:cNvSpPr txBox="1"/>
          <p:nvPr/>
        </p:nvSpPr>
        <p:spPr>
          <a:xfrm>
            <a:off x="1508760" y="3502152"/>
            <a:ext cx="5120640" cy="77724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Test whether four ISC components predict reporting via attitudes and responsibility, and whether the model holds in DE, UK and US.</a:t>
            </a:r>
            <a:endParaRPr lang="en-US" sz="1500" dirty="0"/>
          </a:p>
        </p:txBody>
      </p:sp>
      <p:sp>
        <p:nvSpPr>
          <p:cNvPr id="12" name="Shape 8"/>
          <p:cNvSpPr/>
          <p:nvPr/>
        </p:nvSpPr>
        <p:spPr>
          <a:xfrm>
            <a:off x="548640" y="4526280"/>
            <a:ext cx="731520" cy="731520"/>
          </a:xfrm>
          <a:prstGeom prst="ellipse">
            <a:avLst/>
          </a:prstGeom>
          <a:solidFill>
            <a:srgbClr val="1F3A5F"/>
          </a:solidFill>
          <a:ln w="12700">
            <a:solidFill>
              <a:srgbClr val="1F3A5F"/>
            </a:solidFill>
            <a:prstDash val="solid"/>
          </a:ln>
        </p:spPr>
      </p:sp>
      <p:pic>
        <p:nvPicPr>
          <p:cNvPr id="13" name="Image 2" descr="preencoded.png">    </p:cNvPr>
          <p:cNvPicPr>
            <a:picLocks noChangeAspect="1"/>
          </p:cNvPicPr>
          <p:nvPr/>
        </p:nvPicPr>
        <p:blipFill>
          <a:blip r:embed="rId3"/>
          <a:stretch>
            <a:fillRect/>
          </a:stretch>
        </p:blipFill>
        <p:spPr>
          <a:xfrm>
            <a:off x="731520" y="4709160"/>
            <a:ext cx="365760" cy="365760"/>
          </a:xfrm>
          <a:prstGeom prst="rect">
            <a:avLst/>
          </a:prstGeom>
        </p:spPr>
      </p:pic>
      <p:sp>
        <p:nvSpPr>
          <p:cNvPr id="14" name="Text 9"/>
          <p:cNvSpPr txBox="1"/>
          <p:nvPr/>
        </p:nvSpPr>
        <p:spPr>
          <a:xfrm>
            <a:off x="1508760" y="4507992"/>
            <a:ext cx="5120640" cy="36576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Significance</a:t>
            </a:r>
            <a:endParaRPr lang="en-US" sz="1800" dirty="0"/>
          </a:p>
        </p:txBody>
      </p:sp>
      <p:sp>
        <p:nvSpPr>
          <p:cNvPr id="15" name="Text 10"/>
          <p:cNvSpPr txBox="1"/>
          <p:nvPr/>
        </p:nvSpPr>
        <p:spPr>
          <a:xfrm>
            <a:off x="1508760" y="4873752"/>
            <a:ext cx="5120640" cy="77724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Timely reports let security teams contain attacks before financial loss and disruption.</a:t>
            </a:r>
            <a:endParaRPr lang="en-US" sz="1500" dirty="0"/>
          </a:p>
        </p:txBody>
      </p:sp>
      <p:sp>
        <p:nvSpPr>
          <p:cNvPr id="16" name="Shape 11"/>
          <p:cNvSpPr/>
          <p:nvPr/>
        </p:nvSpPr>
        <p:spPr>
          <a:xfrm>
            <a:off x="7223760" y="1691640"/>
            <a:ext cx="4389120" cy="1234440"/>
          </a:xfrm>
          <a:prstGeom prst="roundRect">
            <a:avLst>
              <a:gd name="adj" fmla="val 8889"/>
            </a:avLst>
          </a:prstGeom>
          <a:solidFill>
            <a:srgbClr val="F4F6F8"/>
          </a:solidFill>
          <a:ln w="12700">
            <a:solidFill>
              <a:srgbClr val="F4F6F8"/>
            </a:solidFill>
            <a:prstDash val="solid"/>
          </a:ln>
          <a:effectLst>
            <a:outerShdw sx="100000" sy="100000" kx="0" ky="0" algn="bl" rotWithShape="0" blurRad="101600" dist="25400" dir="5400000">
              <a:srgbClr val="000000">
                <a:alpha val="12000"/>
              </a:srgbClr>
            </a:outerShdw>
          </a:effectLst>
        </p:spPr>
      </p:sp>
      <p:sp>
        <p:nvSpPr>
          <p:cNvPr id="17" name="Text 12"/>
          <p:cNvSpPr txBox="1"/>
          <p:nvPr/>
        </p:nvSpPr>
        <p:spPr>
          <a:xfrm>
            <a:off x="7360920" y="1691640"/>
            <a:ext cx="2011680" cy="1234440"/>
          </a:xfrm>
          <a:prstGeom prst="rect">
            <a:avLst/>
          </a:prstGeom>
          <a:noFill/>
          <a:ln/>
        </p:spPr>
        <p:txBody>
          <a:bodyPr wrap="square" lIns="0" tIns="0" rIns="0" bIns="0" rtlCol="0" anchor="ctr"/>
          <a:lstStyle/>
          <a:p>
            <a:pPr algn="ctr" indent="0" marL="0">
              <a:buNone/>
            </a:pPr>
            <a:r>
              <a:rPr lang="en-US" sz="4800" b="1" dirty="0">
                <a:solidFill>
                  <a:srgbClr val="1F3A5F"/>
                </a:solidFill>
                <a:latin typeface="Cambria" pitchFamily="34" charset="0"/>
                <a:ea typeface="Cambria" pitchFamily="34" charset="-122"/>
                <a:cs typeface="Cambria" pitchFamily="34" charset="-120"/>
              </a:rPr>
              <a:t>1,017</a:t>
            </a:r>
            <a:endParaRPr lang="en-US" sz="4800" dirty="0"/>
          </a:p>
        </p:txBody>
      </p:sp>
      <p:sp>
        <p:nvSpPr>
          <p:cNvPr id="18" name="Text 13"/>
          <p:cNvSpPr txBox="1"/>
          <p:nvPr/>
        </p:nvSpPr>
        <p:spPr>
          <a:xfrm>
            <a:off x="9464040" y="1691640"/>
            <a:ext cx="2057400" cy="1234440"/>
          </a:xfrm>
          <a:prstGeom prst="rect">
            <a:avLst/>
          </a:prstGeom>
          <a:noFill/>
          <a:ln/>
        </p:spPr>
        <p:txBody>
          <a:bodyPr wrap="square" lIns="0" tIns="0" rIns="0" bIns="0" rtlCol="0" anchor="ctr"/>
          <a:lstStyle/>
          <a:p>
            <a:pPr indent="0" marL="0">
              <a:buNone/>
            </a:pPr>
            <a:r>
              <a:rPr lang="en-US" sz="1600" dirty="0">
                <a:solidFill>
                  <a:srgbClr val="1F3A5F"/>
                </a:solidFill>
                <a:latin typeface="Calibri" pitchFamily="34" charset="0"/>
                <a:ea typeface="Calibri" pitchFamily="34" charset="-122"/>
                <a:cs typeface="Calibri" pitchFamily="34" charset="-120"/>
              </a:rPr>
              <a:t>employees surveyed</a:t>
            </a:r>
            <a:endParaRPr lang="en-US" sz="1600" dirty="0"/>
          </a:p>
        </p:txBody>
      </p:sp>
      <p:sp>
        <p:nvSpPr>
          <p:cNvPr id="19" name="Shape 14"/>
          <p:cNvSpPr/>
          <p:nvPr/>
        </p:nvSpPr>
        <p:spPr>
          <a:xfrm>
            <a:off x="7223760" y="3154680"/>
            <a:ext cx="4389120" cy="1234440"/>
          </a:xfrm>
          <a:prstGeom prst="roundRect">
            <a:avLst>
              <a:gd name="adj" fmla="val 8889"/>
            </a:avLst>
          </a:prstGeom>
          <a:solidFill>
            <a:srgbClr val="F4F6F8"/>
          </a:solidFill>
          <a:ln w="12700">
            <a:solidFill>
              <a:srgbClr val="F4F6F8"/>
            </a:solidFill>
            <a:prstDash val="solid"/>
          </a:ln>
          <a:effectLst>
            <a:outerShdw sx="100000" sy="100000" kx="0" ky="0" algn="bl" rotWithShape="0" blurRad="101600" dist="25400" dir="5400000">
              <a:srgbClr val="000000">
                <a:alpha val="12000"/>
              </a:srgbClr>
            </a:outerShdw>
          </a:effectLst>
        </p:spPr>
      </p:sp>
      <p:sp>
        <p:nvSpPr>
          <p:cNvPr id="20" name="Text 15"/>
          <p:cNvSpPr txBox="1"/>
          <p:nvPr/>
        </p:nvSpPr>
        <p:spPr>
          <a:xfrm>
            <a:off x="7360920" y="3154680"/>
            <a:ext cx="2011680" cy="1234440"/>
          </a:xfrm>
          <a:prstGeom prst="rect">
            <a:avLst/>
          </a:prstGeom>
          <a:noFill/>
          <a:ln/>
        </p:spPr>
        <p:txBody>
          <a:bodyPr wrap="square" lIns="0" tIns="0" rIns="0" bIns="0" rtlCol="0" anchor="ctr"/>
          <a:lstStyle/>
          <a:p>
            <a:pPr algn="ctr" indent="0" marL="0">
              <a:buNone/>
            </a:pPr>
            <a:r>
              <a:rPr lang="en-US" sz="4800" b="1" dirty="0">
                <a:solidFill>
                  <a:srgbClr val="2A9D8F"/>
                </a:solidFill>
                <a:latin typeface="Cambria" pitchFamily="34" charset="0"/>
                <a:ea typeface="Cambria" pitchFamily="34" charset="-122"/>
                <a:cs typeface="Cambria" pitchFamily="34" charset="-120"/>
              </a:rPr>
              <a:t>3</a:t>
            </a:r>
            <a:endParaRPr lang="en-US" sz="4800" dirty="0"/>
          </a:p>
        </p:txBody>
      </p:sp>
      <p:sp>
        <p:nvSpPr>
          <p:cNvPr id="21" name="Text 16"/>
          <p:cNvSpPr txBox="1"/>
          <p:nvPr/>
        </p:nvSpPr>
        <p:spPr>
          <a:xfrm>
            <a:off x="9464040" y="3154680"/>
            <a:ext cx="2057400" cy="1234440"/>
          </a:xfrm>
          <a:prstGeom prst="rect">
            <a:avLst/>
          </a:prstGeom>
          <a:noFill/>
          <a:ln/>
        </p:spPr>
        <p:txBody>
          <a:bodyPr wrap="square" lIns="0" tIns="0" rIns="0" bIns="0" rtlCol="0" anchor="ctr"/>
          <a:lstStyle/>
          <a:p>
            <a:pPr indent="0" marL="0">
              <a:buNone/>
            </a:pPr>
            <a:r>
              <a:rPr lang="en-US" sz="1600" dirty="0">
                <a:solidFill>
                  <a:srgbClr val="1F3A5F"/>
                </a:solidFill>
                <a:latin typeface="Calibri" pitchFamily="34" charset="0"/>
                <a:ea typeface="Calibri" pitchFamily="34" charset="-122"/>
                <a:cs typeface="Calibri" pitchFamily="34" charset="-120"/>
              </a:rPr>
              <a:t>countries: DE · UK · US</a:t>
            </a:r>
            <a:endParaRPr lang="en-US" sz="1600" dirty="0"/>
          </a:p>
        </p:txBody>
      </p:sp>
      <p:sp>
        <p:nvSpPr>
          <p:cNvPr id="22" name="Shape 17"/>
          <p:cNvSpPr/>
          <p:nvPr/>
        </p:nvSpPr>
        <p:spPr>
          <a:xfrm>
            <a:off x="7223760" y="4617720"/>
            <a:ext cx="4389120" cy="1234440"/>
          </a:xfrm>
          <a:prstGeom prst="roundRect">
            <a:avLst>
              <a:gd name="adj" fmla="val 8889"/>
            </a:avLst>
          </a:prstGeom>
          <a:solidFill>
            <a:srgbClr val="F4F6F8"/>
          </a:solidFill>
          <a:ln w="12700">
            <a:solidFill>
              <a:srgbClr val="F4F6F8"/>
            </a:solidFill>
            <a:prstDash val="solid"/>
          </a:ln>
          <a:effectLst>
            <a:outerShdw sx="100000" sy="100000" kx="0" ky="0" algn="bl" rotWithShape="0" blurRad="101600" dist="25400" dir="5400000">
              <a:srgbClr val="000000">
                <a:alpha val="12000"/>
              </a:srgbClr>
            </a:outerShdw>
          </a:effectLst>
        </p:spPr>
      </p:sp>
      <p:sp>
        <p:nvSpPr>
          <p:cNvPr id="23" name="Text 18"/>
          <p:cNvSpPr txBox="1"/>
          <p:nvPr/>
        </p:nvSpPr>
        <p:spPr>
          <a:xfrm>
            <a:off x="7360920" y="4617720"/>
            <a:ext cx="2011680" cy="1234440"/>
          </a:xfrm>
          <a:prstGeom prst="rect">
            <a:avLst/>
          </a:prstGeom>
          <a:noFill/>
          <a:ln/>
        </p:spPr>
        <p:txBody>
          <a:bodyPr wrap="square" lIns="0" tIns="0" rIns="0" bIns="0" rtlCol="0" anchor="ctr"/>
          <a:lstStyle/>
          <a:p>
            <a:pPr algn="ctr" indent="0" marL="0">
              <a:buNone/>
            </a:pPr>
            <a:r>
              <a:rPr lang="en-US" sz="4800" b="1" dirty="0">
                <a:solidFill>
                  <a:srgbClr val="D1495B"/>
                </a:solidFill>
                <a:latin typeface="Cambria" pitchFamily="34" charset="0"/>
                <a:ea typeface="Cambria" pitchFamily="34" charset="-122"/>
                <a:cs typeface="Cambria" pitchFamily="34" charset="-120"/>
              </a:rPr>
              <a:t>4</a:t>
            </a:r>
            <a:endParaRPr lang="en-US" sz="4800" dirty="0"/>
          </a:p>
        </p:txBody>
      </p:sp>
      <p:sp>
        <p:nvSpPr>
          <p:cNvPr id="24" name="Text 19"/>
          <p:cNvSpPr txBox="1"/>
          <p:nvPr/>
        </p:nvSpPr>
        <p:spPr>
          <a:xfrm>
            <a:off x="9464040" y="4617720"/>
            <a:ext cx="2057400" cy="1234440"/>
          </a:xfrm>
          <a:prstGeom prst="rect">
            <a:avLst/>
          </a:prstGeom>
          <a:noFill/>
          <a:ln/>
        </p:spPr>
        <p:txBody>
          <a:bodyPr wrap="square" lIns="0" tIns="0" rIns="0" bIns="0" rtlCol="0" anchor="ctr"/>
          <a:lstStyle/>
          <a:p>
            <a:pPr indent="0" marL="0">
              <a:buNone/>
            </a:pPr>
            <a:r>
              <a:rPr lang="en-US" sz="1600" dirty="0">
                <a:solidFill>
                  <a:srgbClr val="1F3A5F"/>
                </a:solidFill>
                <a:latin typeface="Calibri" pitchFamily="34" charset="0"/>
                <a:ea typeface="Calibri" pitchFamily="34" charset="-122"/>
                <a:cs typeface="Calibri" pitchFamily="34" charset="-120"/>
              </a:rPr>
              <a:t>culture components tested</a:t>
            </a:r>
            <a:endParaRPr lang="en-US" sz="1600" dirty="0"/>
          </a:p>
        </p:txBody>
      </p:sp>
      <p:sp>
        <p:nvSpPr>
          <p:cNvPr id="25" name="Text 20"/>
          <p:cNvSpPr txBox="1"/>
          <p:nvPr/>
        </p:nvSpPr>
        <p:spPr>
          <a:xfrm>
            <a:off x="7955280" y="6400800"/>
            <a:ext cx="374904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Petrič &amp; Just (2025) critique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What they tested, and where it is vulnerable</a:t>
            </a:r>
            <a:endParaRPr lang="en-US" sz="3400" dirty="0"/>
          </a:p>
        </p:txBody>
      </p:sp>
      <p:sp>
        <p:nvSpPr>
          <p:cNvPr id="3" name="Text 1"/>
          <p:cNvSpPr txBox="1"/>
          <p:nvPr/>
        </p:nvSpPr>
        <p:spPr>
          <a:xfrm>
            <a:off x="548640" y="1078992"/>
            <a:ext cx="11064240" cy="411480"/>
          </a:xfrm>
          <a:prstGeom prst="rect">
            <a:avLst/>
          </a:prstGeom>
          <a:noFill/>
          <a:ln/>
        </p:spPr>
        <p:txBody>
          <a:bodyPr wrap="square" lIns="0" tIns="0" rIns="0" bIns="0" rtlCol="0" anchor="ctr"/>
          <a:lstStyle/>
          <a:p>
            <a:pPr indent="0" marL="0">
              <a:buNone/>
            </a:pPr>
            <a:r>
              <a:rPr lang="en-US" sz="1600" i="1" dirty="0">
                <a:solidFill>
                  <a:srgbClr val="5B6770"/>
                </a:solidFill>
                <a:latin typeface="Calibri" pitchFamily="34" charset="0"/>
                <a:ea typeface="Calibri" pitchFamily="34" charset="-122"/>
                <a:cs typeface="Calibri" pitchFamily="34" charset="-120"/>
              </a:rPr>
              <a:t>Multigroup SEM; red badges mark the four methodological concerns</a:t>
            </a:r>
            <a:endParaRPr lang="en-US" sz="1600" dirty="0"/>
          </a:p>
        </p:txBody>
      </p:sp>
      <p:pic>
        <p:nvPicPr>
          <p:cNvPr id="4" name="Image 0" descr="figure1_nolegend.png">    </p:cNvPr>
          <p:cNvPicPr>
            <a:picLocks noChangeAspect="1"/>
          </p:cNvPicPr>
          <p:nvPr/>
        </p:nvPicPr>
        <p:blipFill>
          <a:blip r:embed="rId1"/>
          <a:stretch>
            <a:fillRect/>
          </a:stretch>
        </p:blipFill>
        <p:spPr>
          <a:xfrm>
            <a:off x="548640" y="1600200"/>
            <a:ext cx="7498080" cy="3419856"/>
          </a:xfrm>
          <a:prstGeom prst="rect">
            <a:avLst/>
          </a:prstGeom>
        </p:spPr>
      </p:pic>
      <p:sp>
        <p:nvSpPr>
          <p:cNvPr id="5" name="Shape 2"/>
          <p:cNvSpPr/>
          <p:nvPr/>
        </p:nvSpPr>
        <p:spPr>
          <a:xfrm>
            <a:off x="8321040" y="1691640"/>
            <a:ext cx="3337560" cy="731520"/>
          </a:xfrm>
          <a:prstGeom prst="roundRect">
            <a:avLst>
              <a:gd name="adj" fmla="val 12500"/>
            </a:avLst>
          </a:prstGeom>
          <a:solidFill>
            <a:srgbClr val="FBE9EC"/>
          </a:solidFill>
          <a:ln w="12700">
            <a:solidFill>
              <a:srgbClr val="FBE9EC"/>
            </a:solidFill>
            <a:prstDash val="solid"/>
          </a:ln>
        </p:spPr>
      </p:sp>
      <p:sp>
        <p:nvSpPr>
          <p:cNvPr id="6" name="Shape 3"/>
          <p:cNvSpPr/>
          <p:nvPr/>
        </p:nvSpPr>
        <p:spPr>
          <a:xfrm>
            <a:off x="8458200" y="1865376"/>
            <a:ext cx="384048" cy="384048"/>
          </a:xfrm>
          <a:prstGeom prst="ellipse">
            <a:avLst/>
          </a:prstGeom>
          <a:solidFill>
            <a:srgbClr val="D1495B"/>
          </a:solidFill>
          <a:ln w="12700">
            <a:solidFill>
              <a:srgbClr val="D1495B"/>
            </a:solidFill>
            <a:prstDash val="solid"/>
          </a:ln>
        </p:spPr>
      </p:sp>
      <p:sp>
        <p:nvSpPr>
          <p:cNvPr id="7" name="Text 4"/>
          <p:cNvSpPr txBox="1"/>
          <p:nvPr/>
        </p:nvSpPr>
        <p:spPr>
          <a:xfrm>
            <a:off x="8458200" y="186537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p>
        </p:txBody>
      </p:sp>
      <p:sp>
        <p:nvSpPr>
          <p:cNvPr id="8" name="Text 5"/>
          <p:cNvSpPr txBox="1"/>
          <p:nvPr/>
        </p:nvSpPr>
        <p:spPr>
          <a:xfrm>
            <a:off x="8961120" y="1691640"/>
            <a:ext cx="2606040" cy="73152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Culture measured as individual perception, not a shared property</a:t>
            </a:r>
            <a:endParaRPr lang="en-US" sz="1300" dirty="0"/>
          </a:p>
        </p:txBody>
      </p:sp>
      <p:sp>
        <p:nvSpPr>
          <p:cNvPr id="9" name="Shape 6"/>
          <p:cNvSpPr/>
          <p:nvPr/>
        </p:nvSpPr>
        <p:spPr>
          <a:xfrm>
            <a:off x="8321040" y="2560320"/>
            <a:ext cx="3337560" cy="731520"/>
          </a:xfrm>
          <a:prstGeom prst="roundRect">
            <a:avLst>
              <a:gd name="adj" fmla="val 12500"/>
            </a:avLst>
          </a:prstGeom>
          <a:solidFill>
            <a:srgbClr val="FBE9EC"/>
          </a:solidFill>
          <a:ln w="12700">
            <a:solidFill>
              <a:srgbClr val="FBE9EC"/>
            </a:solidFill>
            <a:prstDash val="solid"/>
          </a:ln>
        </p:spPr>
      </p:sp>
      <p:sp>
        <p:nvSpPr>
          <p:cNvPr id="10" name="Shape 7"/>
          <p:cNvSpPr/>
          <p:nvPr/>
        </p:nvSpPr>
        <p:spPr>
          <a:xfrm>
            <a:off x="8458200" y="2734056"/>
            <a:ext cx="384048" cy="384048"/>
          </a:xfrm>
          <a:prstGeom prst="ellipse">
            <a:avLst/>
          </a:prstGeom>
          <a:solidFill>
            <a:srgbClr val="D1495B"/>
          </a:solidFill>
          <a:ln w="12700">
            <a:solidFill>
              <a:srgbClr val="D1495B"/>
            </a:solidFill>
            <a:prstDash val="solid"/>
          </a:ln>
        </p:spPr>
      </p:sp>
      <p:sp>
        <p:nvSpPr>
          <p:cNvPr id="11" name="Text 8"/>
          <p:cNvSpPr txBox="1"/>
          <p:nvPr/>
        </p:nvSpPr>
        <p:spPr>
          <a:xfrm>
            <a:off x="8458200" y="273405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p>
        </p:txBody>
      </p:sp>
      <p:sp>
        <p:nvSpPr>
          <p:cNvPr id="12" name="Text 9"/>
          <p:cNvSpPr txBox="1"/>
          <p:nvPr/>
        </p:nvSpPr>
        <p:spPr>
          <a:xfrm>
            <a:off x="8961120" y="2560320"/>
            <a:ext cx="2606040" cy="73152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Mediation inferred from a single time point</a:t>
            </a:r>
            <a:endParaRPr lang="en-US" sz="1300" dirty="0"/>
          </a:p>
        </p:txBody>
      </p:sp>
      <p:sp>
        <p:nvSpPr>
          <p:cNvPr id="13" name="Shape 10"/>
          <p:cNvSpPr/>
          <p:nvPr/>
        </p:nvSpPr>
        <p:spPr>
          <a:xfrm>
            <a:off x="8321040" y="3429000"/>
            <a:ext cx="3337560" cy="731520"/>
          </a:xfrm>
          <a:prstGeom prst="roundRect">
            <a:avLst>
              <a:gd name="adj" fmla="val 12500"/>
            </a:avLst>
          </a:prstGeom>
          <a:solidFill>
            <a:srgbClr val="FBE9EC"/>
          </a:solidFill>
          <a:ln w="12700">
            <a:solidFill>
              <a:srgbClr val="FBE9EC"/>
            </a:solidFill>
            <a:prstDash val="solid"/>
          </a:ln>
        </p:spPr>
      </p:sp>
      <p:sp>
        <p:nvSpPr>
          <p:cNvPr id="14" name="Shape 11"/>
          <p:cNvSpPr/>
          <p:nvPr/>
        </p:nvSpPr>
        <p:spPr>
          <a:xfrm>
            <a:off x="8458200" y="3602736"/>
            <a:ext cx="384048" cy="384048"/>
          </a:xfrm>
          <a:prstGeom prst="ellipse">
            <a:avLst/>
          </a:prstGeom>
          <a:solidFill>
            <a:srgbClr val="D1495B"/>
          </a:solidFill>
          <a:ln w="12700">
            <a:solidFill>
              <a:srgbClr val="D1495B"/>
            </a:solidFill>
            <a:prstDash val="solid"/>
          </a:ln>
        </p:spPr>
      </p:sp>
      <p:sp>
        <p:nvSpPr>
          <p:cNvPr id="15" name="Text 12"/>
          <p:cNvSpPr txBox="1"/>
          <p:nvPr/>
        </p:nvSpPr>
        <p:spPr>
          <a:xfrm>
            <a:off x="8458200" y="360273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C3</a:t>
            </a:r>
            <a:endParaRPr lang="en-US" sz="1100" dirty="0"/>
          </a:p>
        </p:txBody>
      </p:sp>
      <p:sp>
        <p:nvSpPr>
          <p:cNvPr id="16" name="Text 13"/>
          <p:cNvSpPr txBox="1"/>
          <p:nvPr/>
        </p:nvSpPr>
        <p:spPr>
          <a:xfrm>
            <a:off x="8961120" y="3429000"/>
            <a:ext cx="2606040" cy="73152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Outcome is self-reported, not observed</a:t>
            </a:r>
            <a:endParaRPr lang="en-US" sz="1300" dirty="0"/>
          </a:p>
        </p:txBody>
      </p:sp>
      <p:sp>
        <p:nvSpPr>
          <p:cNvPr id="17" name="Shape 14"/>
          <p:cNvSpPr/>
          <p:nvPr/>
        </p:nvSpPr>
        <p:spPr>
          <a:xfrm>
            <a:off x="8321040" y="4297680"/>
            <a:ext cx="3337560" cy="731520"/>
          </a:xfrm>
          <a:prstGeom prst="roundRect">
            <a:avLst>
              <a:gd name="adj" fmla="val 12500"/>
            </a:avLst>
          </a:prstGeom>
          <a:solidFill>
            <a:srgbClr val="FBE9EC"/>
          </a:solidFill>
          <a:ln w="12700">
            <a:solidFill>
              <a:srgbClr val="FBE9EC"/>
            </a:solidFill>
            <a:prstDash val="solid"/>
          </a:ln>
        </p:spPr>
      </p:sp>
      <p:sp>
        <p:nvSpPr>
          <p:cNvPr id="18" name="Shape 15"/>
          <p:cNvSpPr/>
          <p:nvPr/>
        </p:nvSpPr>
        <p:spPr>
          <a:xfrm>
            <a:off x="8458200" y="4471416"/>
            <a:ext cx="384048" cy="384048"/>
          </a:xfrm>
          <a:prstGeom prst="ellipse">
            <a:avLst/>
          </a:prstGeom>
          <a:solidFill>
            <a:srgbClr val="D1495B"/>
          </a:solidFill>
          <a:ln w="12700">
            <a:solidFill>
              <a:srgbClr val="D1495B"/>
            </a:solidFill>
            <a:prstDash val="solid"/>
          </a:ln>
        </p:spPr>
      </p:sp>
      <p:sp>
        <p:nvSpPr>
          <p:cNvPr id="19" name="Text 16"/>
          <p:cNvSpPr txBox="1"/>
          <p:nvPr/>
        </p:nvSpPr>
        <p:spPr>
          <a:xfrm>
            <a:off x="8458200" y="447141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C4</a:t>
            </a:r>
            <a:endParaRPr lang="en-US" sz="1100" dirty="0"/>
          </a:p>
        </p:txBody>
      </p:sp>
      <p:sp>
        <p:nvSpPr>
          <p:cNvPr id="20" name="Text 17"/>
          <p:cNvSpPr txBox="1"/>
          <p:nvPr/>
        </p:nvSpPr>
        <p:spPr>
          <a:xfrm>
            <a:off x="8961120" y="4297680"/>
            <a:ext cx="2606040" cy="73152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Panel sample, unequal n; country as proxy for culture</a:t>
            </a:r>
            <a:endParaRPr lang="en-US" sz="1300" dirty="0"/>
          </a:p>
        </p:txBody>
      </p:sp>
      <p:sp>
        <p:nvSpPr>
          <p:cNvPr id="21" name="Shape 18"/>
          <p:cNvSpPr/>
          <p:nvPr/>
        </p:nvSpPr>
        <p:spPr>
          <a:xfrm>
            <a:off x="548640" y="5303520"/>
            <a:ext cx="11109960" cy="822960"/>
          </a:xfrm>
          <a:prstGeom prst="roundRect">
            <a:avLst>
              <a:gd name="adj" fmla="val 11111"/>
            </a:avLst>
          </a:prstGeom>
          <a:solidFill>
            <a:srgbClr val="E3F4F1"/>
          </a:solidFill>
          <a:ln w="12700">
            <a:solidFill>
              <a:srgbClr val="E3F4F1"/>
            </a:solidFill>
            <a:prstDash val="solid"/>
          </a:ln>
        </p:spPr>
      </p:sp>
      <p:sp>
        <p:nvSpPr>
          <p:cNvPr id="22" name="Text 19"/>
          <p:cNvSpPr txBox="1"/>
          <p:nvPr/>
        </p:nvSpPr>
        <p:spPr>
          <a:xfrm>
            <a:off x="777240" y="5303520"/>
            <a:ext cx="10698480" cy="822960"/>
          </a:xfrm>
          <a:prstGeom prst="rect">
            <a:avLst/>
          </a:prstGeom>
          <a:noFill/>
          <a:ln/>
        </p:spPr>
        <p:txBody>
          <a:bodyPr wrap="square" lIns="0" tIns="0" rIns="0" bIns="0" rtlCol="0" anchor="ctr"/>
          <a:lstStyle/>
          <a:p>
            <a:pPr indent="0" marL="0">
              <a:buNone/>
            </a:pPr>
            <a:r>
              <a:rPr lang="en-US" sz="1500" b="1" dirty="0">
                <a:solidFill>
                  <a:srgbClr val="2A9D8F"/>
                </a:solidFill>
                <a:latin typeface="Calibri" pitchFamily="34" charset="0"/>
                <a:ea typeface="Calibri" pitchFamily="34" charset="-122"/>
                <a:cs typeface="Calibri" pitchFamily="34" charset="-120"/>
              </a:rPr>
              <a:t>Key finding: </a:t>
            </a:r>
            <a:pPr indent="0" marL="0">
              <a:buNone/>
            </a:pPr>
            <a:r>
              <a:rPr lang="en-US" sz="1500" dirty="0">
                <a:solidFill>
                  <a:srgbClr val="1F3A5F"/>
                </a:solidFill>
                <a:latin typeface="Calibri" pitchFamily="34" charset="0"/>
                <a:ea typeface="Calibri" pitchFamily="34" charset="-122"/>
                <a:cs typeface="Calibri" pitchFamily="34" charset="-120"/>
              </a:rPr>
              <a:t>norms, policy awareness and knowledge raise attitudes and responsibility, which raise reporting. Communication quality is “double-edged”: it lifts reporting directly but lowers responsibility and attitudes.</a:t>
            </a:r>
            <a:endParaRPr lang="en-US" sz="1500" dirty="0"/>
          </a:p>
        </p:txBody>
      </p:sp>
      <p:sp>
        <p:nvSpPr>
          <p:cNvPr id="23" name="Text 20"/>
          <p:cNvSpPr txBox="1"/>
          <p:nvPr/>
        </p:nvSpPr>
        <p:spPr>
          <a:xfrm>
            <a:off x="7955280" y="6400800"/>
            <a:ext cx="374904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Petrič &amp; Just (2025) critique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Methodology scorecard</a:t>
            </a:r>
            <a:endParaRPr lang="en-US" sz="3400" dirty="0"/>
          </a:p>
        </p:txBody>
      </p:sp>
      <p:sp>
        <p:nvSpPr>
          <p:cNvPr id="3" name="Text 1"/>
          <p:cNvSpPr txBox="1"/>
          <p:nvPr/>
        </p:nvSpPr>
        <p:spPr>
          <a:xfrm>
            <a:off x="548640" y="1078992"/>
            <a:ext cx="11064240" cy="411480"/>
          </a:xfrm>
          <a:prstGeom prst="rect">
            <a:avLst/>
          </a:prstGeom>
          <a:noFill/>
          <a:ln/>
        </p:spPr>
        <p:txBody>
          <a:bodyPr wrap="square" lIns="0" tIns="0" rIns="0" bIns="0" rtlCol="0" anchor="ctr"/>
          <a:lstStyle/>
          <a:p>
            <a:pPr indent="0" marL="0">
              <a:buNone/>
            </a:pPr>
            <a:r>
              <a:rPr lang="en-US" sz="1600" i="1" dirty="0">
                <a:solidFill>
                  <a:srgbClr val="5B6770"/>
                </a:solidFill>
                <a:latin typeface="Calibri" pitchFamily="34" charset="0"/>
                <a:ea typeface="Calibri" pitchFamily="34" charset="-122"/>
                <a:cs typeface="Calibri" pitchFamily="34" charset="-120"/>
              </a:rPr>
              <a:t>Each element judged against methods literature</a:t>
            </a:r>
            <a:endParaRPr lang="en-US" sz="1600" dirty="0"/>
          </a:p>
        </p:txBody>
      </p:sp>
      <p:sp>
        <p:nvSpPr>
          <p:cNvPr id="4" name="Text 2"/>
          <p:cNvSpPr txBox="1"/>
          <p:nvPr/>
        </p:nvSpPr>
        <p:spPr>
          <a:xfrm>
            <a:off x="548640" y="1645920"/>
            <a:ext cx="2011680" cy="365760"/>
          </a:xfrm>
          <a:prstGeom prst="rect">
            <a:avLst/>
          </a:prstGeom>
          <a:noFill/>
          <a:ln/>
        </p:spPr>
        <p:txBody>
          <a:bodyPr wrap="square" lIns="0" tIns="0" rIns="0" bIns="0" rtlCol="0" anchor="ctr"/>
          <a:lstStyle/>
          <a:p>
            <a:pPr indent="0" marL="0">
              <a:buNone/>
            </a:pPr>
            <a:r>
              <a:rPr lang="en-US" sz="1300" b="1" dirty="0">
                <a:solidFill>
                  <a:srgbClr val="5B6770"/>
                </a:solidFill>
                <a:latin typeface="Calibri" pitchFamily="34" charset="0"/>
                <a:ea typeface="Calibri" pitchFamily="34" charset="-122"/>
                <a:cs typeface="Calibri" pitchFamily="34" charset="-120"/>
              </a:rPr>
              <a:t>Element</a:t>
            </a:r>
            <a:endParaRPr lang="en-US" sz="1300" dirty="0"/>
          </a:p>
        </p:txBody>
      </p:sp>
      <p:sp>
        <p:nvSpPr>
          <p:cNvPr id="5" name="Text 3"/>
          <p:cNvSpPr txBox="1"/>
          <p:nvPr/>
        </p:nvSpPr>
        <p:spPr>
          <a:xfrm>
            <a:off x="2651760" y="1645920"/>
            <a:ext cx="3291840" cy="365760"/>
          </a:xfrm>
          <a:prstGeom prst="rect">
            <a:avLst/>
          </a:prstGeom>
          <a:noFill/>
          <a:ln/>
        </p:spPr>
        <p:txBody>
          <a:bodyPr wrap="square" lIns="0" tIns="0" rIns="0" bIns="0" rtlCol="0" anchor="ctr"/>
          <a:lstStyle/>
          <a:p>
            <a:pPr indent="0" marL="0">
              <a:buNone/>
            </a:pPr>
            <a:r>
              <a:rPr lang="en-US" sz="1300" b="1" dirty="0">
                <a:solidFill>
                  <a:srgbClr val="5B6770"/>
                </a:solidFill>
                <a:latin typeface="Calibri" pitchFamily="34" charset="0"/>
                <a:ea typeface="Calibri" pitchFamily="34" charset="-122"/>
                <a:cs typeface="Calibri" pitchFamily="34" charset="-120"/>
              </a:rPr>
              <a:t>What they did</a:t>
            </a:r>
            <a:endParaRPr lang="en-US" sz="1300" dirty="0"/>
          </a:p>
        </p:txBody>
      </p:sp>
      <p:sp>
        <p:nvSpPr>
          <p:cNvPr id="6" name="Text 4"/>
          <p:cNvSpPr txBox="1"/>
          <p:nvPr/>
        </p:nvSpPr>
        <p:spPr>
          <a:xfrm>
            <a:off x="6035040" y="1645920"/>
            <a:ext cx="1737360" cy="365760"/>
          </a:xfrm>
          <a:prstGeom prst="rect">
            <a:avLst/>
          </a:prstGeom>
          <a:noFill/>
          <a:ln/>
        </p:spPr>
        <p:txBody>
          <a:bodyPr wrap="square" lIns="0" tIns="0" rIns="0" bIns="0" rtlCol="0" anchor="ctr"/>
          <a:lstStyle/>
          <a:p>
            <a:pPr indent="0" marL="0">
              <a:buNone/>
            </a:pPr>
            <a:r>
              <a:rPr lang="en-US" sz="1300" b="1" dirty="0">
                <a:solidFill>
                  <a:srgbClr val="5B6770"/>
                </a:solidFill>
                <a:latin typeface="Calibri" pitchFamily="34" charset="0"/>
                <a:ea typeface="Calibri" pitchFamily="34" charset="-122"/>
                <a:cs typeface="Calibri" pitchFamily="34" charset="-120"/>
              </a:rPr>
              <a:t>Verdict</a:t>
            </a:r>
            <a:endParaRPr lang="en-US" sz="1300" dirty="0"/>
          </a:p>
        </p:txBody>
      </p:sp>
      <p:sp>
        <p:nvSpPr>
          <p:cNvPr id="7" name="Text 5"/>
          <p:cNvSpPr txBox="1"/>
          <p:nvPr/>
        </p:nvSpPr>
        <p:spPr>
          <a:xfrm>
            <a:off x="7863840" y="1645920"/>
            <a:ext cx="3794760" cy="365760"/>
          </a:xfrm>
          <a:prstGeom prst="rect">
            <a:avLst/>
          </a:prstGeom>
          <a:noFill/>
          <a:ln/>
        </p:spPr>
        <p:txBody>
          <a:bodyPr wrap="square" lIns="0" tIns="0" rIns="0" bIns="0" rtlCol="0" anchor="ctr"/>
          <a:lstStyle/>
          <a:p>
            <a:pPr indent="0" marL="0">
              <a:buNone/>
            </a:pPr>
            <a:r>
              <a:rPr lang="en-US" sz="1300" b="1" dirty="0">
                <a:solidFill>
                  <a:srgbClr val="5B6770"/>
                </a:solidFill>
                <a:latin typeface="Calibri" pitchFamily="34" charset="0"/>
                <a:ea typeface="Calibri" pitchFamily="34" charset="-122"/>
                <a:cs typeface="Calibri" pitchFamily="34" charset="-120"/>
              </a:rPr>
              <a:t>Why it matters</a:t>
            </a:r>
            <a:endParaRPr lang="en-US" sz="1300" dirty="0"/>
          </a:p>
        </p:txBody>
      </p:sp>
      <p:sp>
        <p:nvSpPr>
          <p:cNvPr id="8" name="Shape 6"/>
          <p:cNvSpPr/>
          <p:nvPr/>
        </p:nvSpPr>
        <p:spPr>
          <a:xfrm>
            <a:off x="457200" y="2103120"/>
            <a:ext cx="11292840" cy="896112"/>
          </a:xfrm>
          <a:prstGeom prst="roundRect">
            <a:avLst>
              <a:gd name="adj" fmla="val 10204"/>
            </a:avLst>
          </a:prstGeom>
          <a:solidFill>
            <a:srgbClr val="F4F6F8"/>
          </a:solidFill>
          <a:ln w="12700">
            <a:solidFill>
              <a:srgbClr val="F4F6F8"/>
            </a:solidFill>
            <a:prstDash val="solid"/>
          </a:ln>
        </p:spPr>
      </p:sp>
      <p:sp>
        <p:nvSpPr>
          <p:cNvPr id="9" name="Shape 7"/>
          <p:cNvSpPr/>
          <p:nvPr/>
        </p:nvSpPr>
        <p:spPr>
          <a:xfrm>
            <a:off x="594360" y="2276856"/>
            <a:ext cx="548640" cy="548640"/>
          </a:xfrm>
          <a:prstGeom prst="ellipse">
            <a:avLst/>
          </a:prstGeom>
          <a:solidFill>
            <a:srgbClr val="1F3A5F"/>
          </a:solidFill>
          <a:ln w="12700">
            <a:solidFill>
              <a:srgbClr val="1F3A5F"/>
            </a:solidFill>
            <a:prstDash val="solid"/>
          </a:ln>
        </p:spPr>
      </p:sp>
      <p:pic>
        <p:nvPicPr>
          <p:cNvPr id="10" name="Image 0" descr="preencoded.png">    </p:cNvPr>
          <p:cNvPicPr>
            <a:picLocks noChangeAspect="1"/>
          </p:cNvPicPr>
          <p:nvPr/>
        </p:nvPicPr>
        <p:blipFill>
          <a:blip r:embed="rId1"/>
          <a:stretch>
            <a:fillRect/>
          </a:stretch>
        </p:blipFill>
        <p:spPr>
          <a:xfrm>
            <a:off x="731520" y="2414016"/>
            <a:ext cx="274320" cy="274320"/>
          </a:xfrm>
          <a:prstGeom prst="rect">
            <a:avLst/>
          </a:prstGeom>
        </p:spPr>
      </p:pic>
      <p:sp>
        <p:nvSpPr>
          <p:cNvPr id="11" name="Text 8"/>
          <p:cNvSpPr txBox="1"/>
          <p:nvPr/>
        </p:nvSpPr>
        <p:spPr>
          <a:xfrm>
            <a:off x="1280160" y="2103120"/>
            <a:ext cx="1325880" cy="89611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Design</a:t>
            </a:r>
            <a:endParaRPr lang="en-US" sz="1500" dirty="0"/>
          </a:p>
        </p:txBody>
      </p:sp>
      <p:sp>
        <p:nvSpPr>
          <p:cNvPr id="12" name="Text 9"/>
          <p:cNvSpPr txBox="1"/>
          <p:nvPr/>
        </p:nvSpPr>
        <p:spPr>
          <a:xfrm>
            <a:off x="2651760" y="2103120"/>
            <a:ext cx="3246120" cy="896112"/>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Deductive, cross-sectional survey</a:t>
            </a:r>
            <a:endParaRPr lang="en-US" sz="1300" dirty="0"/>
          </a:p>
        </p:txBody>
      </p:sp>
      <p:sp>
        <p:nvSpPr>
          <p:cNvPr id="13" name="Shape 10"/>
          <p:cNvSpPr/>
          <p:nvPr/>
        </p:nvSpPr>
        <p:spPr>
          <a:xfrm>
            <a:off x="6035040" y="2340864"/>
            <a:ext cx="1645920" cy="420624"/>
          </a:xfrm>
          <a:prstGeom prst="roundRect">
            <a:avLst>
              <a:gd name="adj" fmla="val 50000"/>
            </a:avLst>
          </a:prstGeom>
          <a:solidFill>
            <a:srgbClr val="FDF3E1"/>
          </a:solidFill>
          <a:ln w="15875">
            <a:solidFill>
              <a:srgbClr val="E9A23B"/>
            </a:solidFill>
            <a:prstDash val="solid"/>
          </a:ln>
        </p:spPr>
      </p:sp>
      <p:sp>
        <p:nvSpPr>
          <p:cNvPr id="14" name="Text 11"/>
          <p:cNvSpPr txBox="1"/>
          <p:nvPr/>
        </p:nvSpPr>
        <p:spPr>
          <a:xfrm>
            <a:off x="6035040" y="2340864"/>
            <a:ext cx="1645920" cy="420624"/>
          </a:xfrm>
          <a:prstGeom prst="rect">
            <a:avLst/>
          </a:prstGeom>
          <a:noFill/>
          <a:ln/>
        </p:spPr>
        <p:txBody>
          <a:bodyPr wrap="square" lIns="0" tIns="0" rIns="0" bIns="0" rtlCol="0" anchor="ctr"/>
          <a:lstStyle/>
          <a:p>
            <a:pPr algn="ctr" indent="0" marL="0">
              <a:buNone/>
            </a:pPr>
            <a:r>
              <a:rPr lang="en-US" sz="1300" b="1" dirty="0">
                <a:solidFill>
                  <a:srgbClr val="9A6412"/>
                </a:solidFill>
                <a:latin typeface="Calibri" pitchFamily="34" charset="0"/>
                <a:ea typeface="Calibri" pitchFamily="34" charset="-122"/>
                <a:cs typeface="Calibri" pitchFamily="34" charset="-120"/>
              </a:rPr>
              <a:t>Fit, but limited</a:t>
            </a:r>
            <a:endParaRPr lang="en-US" sz="1300" dirty="0"/>
          </a:p>
        </p:txBody>
      </p:sp>
      <p:sp>
        <p:nvSpPr>
          <p:cNvPr id="15" name="Text 12"/>
          <p:cNvSpPr txBox="1"/>
          <p:nvPr/>
        </p:nvSpPr>
        <p:spPr>
          <a:xfrm>
            <a:off x="7863840" y="2103120"/>
            <a:ext cx="3749040" cy="896112"/>
          </a:xfrm>
          <a:prstGeom prst="rect">
            <a:avLst/>
          </a:prstGeom>
          <a:noFill/>
          <a:ln/>
        </p:spPr>
        <p:txBody>
          <a:bodyPr wrap="square" lIns="0" tIns="0" rIns="0" bIns="0" rtlCol="0" anchor="ctr"/>
          <a:lstStyle/>
          <a:p>
            <a:pPr indent="0" marL="0">
              <a:buNone/>
            </a:pPr>
            <a:r>
              <a:rPr lang="en-US" sz="1250" dirty="0">
                <a:solidFill>
                  <a:srgbClr val="5B6770"/>
                </a:solidFill>
                <a:latin typeface="Calibri" pitchFamily="34" charset="0"/>
                <a:ea typeface="Calibri" pitchFamily="34" charset="-122"/>
                <a:cs typeface="Calibri" pitchFamily="34" charset="-120"/>
              </a:rPr>
              <a:t>Suits theory testing, but mediation needs time order (Maxwell &amp; Cole, 2007)</a:t>
            </a:r>
            <a:endParaRPr lang="en-US" sz="1250" dirty="0"/>
          </a:p>
        </p:txBody>
      </p:sp>
      <p:sp>
        <p:nvSpPr>
          <p:cNvPr id="16" name="Shape 13"/>
          <p:cNvSpPr/>
          <p:nvPr/>
        </p:nvSpPr>
        <p:spPr>
          <a:xfrm>
            <a:off x="457200" y="3127248"/>
            <a:ext cx="11292840" cy="896112"/>
          </a:xfrm>
          <a:prstGeom prst="roundRect">
            <a:avLst>
              <a:gd name="adj" fmla="val 10204"/>
            </a:avLst>
          </a:prstGeom>
          <a:solidFill>
            <a:srgbClr val="F4F6F8"/>
          </a:solidFill>
          <a:ln w="12700">
            <a:solidFill>
              <a:srgbClr val="F4F6F8"/>
            </a:solidFill>
            <a:prstDash val="solid"/>
          </a:ln>
        </p:spPr>
      </p:sp>
      <p:sp>
        <p:nvSpPr>
          <p:cNvPr id="17" name="Shape 14"/>
          <p:cNvSpPr/>
          <p:nvPr/>
        </p:nvSpPr>
        <p:spPr>
          <a:xfrm>
            <a:off x="594360" y="3300984"/>
            <a:ext cx="548640" cy="548640"/>
          </a:xfrm>
          <a:prstGeom prst="ellipse">
            <a:avLst/>
          </a:prstGeom>
          <a:solidFill>
            <a:srgbClr val="1F3A5F"/>
          </a:solidFill>
          <a:ln w="12700">
            <a:solidFill>
              <a:srgbClr val="1F3A5F"/>
            </a:solidFill>
            <a:prstDash val="solid"/>
          </a:ln>
        </p:spPr>
      </p:sp>
      <p:pic>
        <p:nvPicPr>
          <p:cNvPr id="18" name="Image 1" descr="preencoded.png">    </p:cNvPr>
          <p:cNvPicPr>
            <a:picLocks noChangeAspect="1"/>
          </p:cNvPicPr>
          <p:nvPr/>
        </p:nvPicPr>
        <p:blipFill>
          <a:blip r:embed="rId2"/>
          <a:stretch>
            <a:fillRect/>
          </a:stretch>
        </p:blipFill>
        <p:spPr>
          <a:xfrm>
            <a:off x="731520" y="3438144"/>
            <a:ext cx="274320" cy="274320"/>
          </a:xfrm>
          <a:prstGeom prst="rect">
            <a:avLst/>
          </a:prstGeom>
        </p:spPr>
      </p:pic>
      <p:sp>
        <p:nvSpPr>
          <p:cNvPr id="19" name="Text 15"/>
          <p:cNvSpPr txBox="1"/>
          <p:nvPr/>
        </p:nvSpPr>
        <p:spPr>
          <a:xfrm>
            <a:off x="1280160" y="3127248"/>
            <a:ext cx="1325880" cy="89611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Sampling</a:t>
            </a:r>
            <a:endParaRPr lang="en-US" sz="1500" dirty="0"/>
          </a:p>
        </p:txBody>
      </p:sp>
      <p:sp>
        <p:nvSpPr>
          <p:cNvPr id="20" name="Text 16"/>
          <p:cNvSpPr txBox="1"/>
          <p:nvPr/>
        </p:nvSpPr>
        <p:spPr>
          <a:xfrm>
            <a:off x="2651760" y="3127248"/>
            <a:ext cx="3246120" cy="896112"/>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Online panel, orgs ≥ 50 staff; n = 306 / 205 / 506</a:t>
            </a:r>
            <a:endParaRPr lang="en-US" sz="1300" dirty="0"/>
          </a:p>
        </p:txBody>
      </p:sp>
      <p:sp>
        <p:nvSpPr>
          <p:cNvPr id="21" name="Shape 17"/>
          <p:cNvSpPr/>
          <p:nvPr/>
        </p:nvSpPr>
        <p:spPr>
          <a:xfrm>
            <a:off x="6035040" y="3364992"/>
            <a:ext cx="1645920" cy="420624"/>
          </a:xfrm>
          <a:prstGeom prst="roundRect">
            <a:avLst>
              <a:gd name="adj" fmla="val 50000"/>
            </a:avLst>
          </a:prstGeom>
          <a:solidFill>
            <a:srgbClr val="FBE9EC"/>
          </a:solidFill>
          <a:ln w="15875">
            <a:solidFill>
              <a:srgbClr val="D1495B"/>
            </a:solidFill>
            <a:prstDash val="solid"/>
          </a:ln>
        </p:spPr>
      </p:sp>
      <p:sp>
        <p:nvSpPr>
          <p:cNvPr id="22" name="Text 18"/>
          <p:cNvSpPr txBox="1"/>
          <p:nvPr/>
        </p:nvSpPr>
        <p:spPr>
          <a:xfrm>
            <a:off x="6035040" y="3364992"/>
            <a:ext cx="1645920" cy="420624"/>
          </a:xfrm>
          <a:prstGeom prst="rect">
            <a:avLst/>
          </a:prstGeom>
          <a:noFill/>
          <a:ln/>
        </p:spPr>
        <p:txBody>
          <a:bodyPr wrap="square" lIns="0" tIns="0" rIns="0" bIns="0" rtlCol="0" anchor="ctr"/>
          <a:lstStyle/>
          <a:p>
            <a:pPr algn="ctr" indent="0" marL="0">
              <a:buNone/>
            </a:pPr>
            <a:r>
              <a:rPr lang="en-US" sz="1300" b="1" dirty="0">
                <a:solidFill>
                  <a:srgbClr val="D1495B"/>
                </a:solidFill>
                <a:latin typeface="Calibri" pitchFamily="34" charset="0"/>
                <a:ea typeface="Calibri" pitchFamily="34" charset="-122"/>
                <a:cs typeface="Calibri" pitchFamily="34" charset="-120"/>
              </a:rPr>
              <a:t>Weak</a:t>
            </a:r>
            <a:endParaRPr lang="en-US" sz="1300" dirty="0"/>
          </a:p>
        </p:txBody>
      </p:sp>
      <p:sp>
        <p:nvSpPr>
          <p:cNvPr id="23" name="Text 19"/>
          <p:cNvSpPr txBox="1"/>
          <p:nvPr/>
        </p:nvSpPr>
        <p:spPr>
          <a:xfrm>
            <a:off x="7863840" y="3127248"/>
            <a:ext cx="3749040" cy="896112"/>
          </a:xfrm>
          <a:prstGeom prst="rect">
            <a:avLst/>
          </a:prstGeom>
          <a:noFill/>
          <a:ln/>
        </p:spPr>
        <p:txBody>
          <a:bodyPr wrap="square" lIns="0" tIns="0" rIns="0" bIns="0" rtlCol="0" anchor="ctr"/>
          <a:lstStyle/>
          <a:p>
            <a:pPr indent="0" marL="0">
              <a:buNone/>
            </a:pPr>
            <a:r>
              <a:rPr lang="en-US" sz="1250" dirty="0">
                <a:solidFill>
                  <a:srgbClr val="5B6770"/>
                </a:solidFill>
                <a:latin typeface="Calibri" pitchFamily="34" charset="0"/>
                <a:ea typeface="Calibri" pitchFamily="34" charset="-122"/>
                <a:cs typeface="Calibri" pitchFamily="34" charset="-120"/>
              </a:rPr>
              <a:t>Non-probability, self-selected; unequal groups cut power (Callegaro et al., 2014)</a:t>
            </a:r>
            <a:endParaRPr lang="en-US" sz="1250" dirty="0"/>
          </a:p>
        </p:txBody>
      </p:sp>
      <p:sp>
        <p:nvSpPr>
          <p:cNvPr id="24" name="Shape 20"/>
          <p:cNvSpPr/>
          <p:nvPr/>
        </p:nvSpPr>
        <p:spPr>
          <a:xfrm>
            <a:off x="457200" y="4151376"/>
            <a:ext cx="11292840" cy="896112"/>
          </a:xfrm>
          <a:prstGeom prst="roundRect">
            <a:avLst>
              <a:gd name="adj" fmla="val 10204"/>
            </a:avLst>
          </a:prstGeom>
          <a:solidFill>
            <a:srgbClr val="F4F6F8"/>
          </a:solidFill>
          <a:ln w="12700">
            <a:solidFill>
              <a:srgbClr val="F4F6F8"/>
            </a:solidFill>
            <a:prstDash val="solid"/>
          </a:ln>
        </p:spPr>
      </p:sp>
      <p:sp>
        <p:nvSpPr>
          <p:cNvPr id="25" name="Shape 21"/>
          <p:cNvSpPr/>
          <p:nvPr/>
        </p:nvSpPr>
        <p:spPr>
          <a:xfrm>
            <a:off x="594360" y="4325112"/>
            <a:ext cx="548640" cy="548640"/>
          </a:xfrm>
          <a:prstGeom prst="ellipse">
            <a:avLst/>
          </a:prstGeom>
          <a:solidFill>
            <a:srgbClr val="1F3A5F"/>
          </a:solidFill>
          <a:ln w="12700">
            <a:solidFill>
              <a:srgbClr val="1F3A5F"/>
            </a:solidFill>
            <a:prstDash val="solid"/>
          </a:ln>
        </p:spPr>
      </p:sp>
      <p:pic>
        <p:nvPicPr>
          <p:cNvPr id="26" name="Image 2" descr="preencoded.png">    </p:cNvPr>
          <p:cNvPicPr>
            <a:picLocks noChangeAspect="1"/>
          </p:cNvPicPr>
          <p:nvPr/>
        </p:nvPicPr>
        <p:blipFill>
          <a:blip r:embed="rId3"/>
          <a:stretch>
            <a:fillRect/>
          </a:stretch>
        </p:blipFill>
        <p:spPr>
          <a:xfrm>
            <a:off x="731520" y="4462272"/>
            <a:ext cx="274320" cy="274320"/>
          </a:xfrm>
          <a:prstGeom prst="rect">
            <a:avLst/>
          </a:prstGeom>
        </p:spPr>
      </p:pic>
      <p:sp>
        <p:nvSpPr>
          <p:cNvPr id="27" name="Text 22"/>
          <p:cNvSpPr txBox="1"/>
          <p:nvPr/>
        </p:nvSpPr>
        <p:spPr>
          <a:xfrm>
            <a:off x="1280160" y="4151376"/>
            <a:ext cx="1325880" cy="89611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Data collection</a:t>
            </a:r>
            <a:endParaRPr lang="en-US" sz="1500" dirty="0"/>
          </a:p>
        </p:txBody>
      </p:sp>
      <p:sp>
        <p:nvSpPr>
          <p:cNvPr id="28" name="Text 23"/>
          <p:cNvSpPr txBox="1"/>
          <p:nvPr/>
        </p:nvSpPr>
        <p:spPr>
          <a:xfrm>
            <a:off x="2651760" y="4151376"/>
            <a:ext cx="3246120" cy="896112"/>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One self-report questionnaire for all constructs</a:t>
            </a:r>
            <a:endParaRPr lang="en-US" sz="1300" dirty="0"/>
          </a:p>
        </p:txBody>
      </p:sp>
      <p:sp>
        <p:nvSpPr>
          <p:cNvPr id="29" name="Shape 24"/>
          <p:cNvSpPr/>
          <p:nvPr/>
        </p:nvSpPr>
        <p:spPr>
          <a:xfrm>
            <a:off x="6035040" y="4389120"/>
            <a:ext cx="1645920" cy="420624"/>
          </a:xfrm>
          <a:prstGeom prst="roundRect">
            <a:avLst>
              <a:gd name="adj" fmla="val 50000"/>
            </a:avLst>
          </a:prstGeom>
          <a:solidFill>
            <a:srgbClr val="FBE9EC"/>
          </a:solidFill>
          <a:ln w="15875">
            <a:solidFill>
              <a:srgbClr val="D1495B"/>
            </a:solidFill>
            <a:prstDash val="solid"/>
          </a:ln>
        </p:spPr>
      </p:sp>
      <p:sp>
        <p:nvSpPr>
          <p:cNvPr id="30" name="Text 25"/>
          <p:cNvSpPr txBox="1"/>
          <p:nvPr/>
        </p:nvSpPr>
        <p:spPr>
          <a:xfrm>
            <a:off x="6035040" y="4389120"/>
            <a:ext cx="1645920" cy="420624"/>
          </a:xfrm>
          <a:prstGeom prst="rect">
            <a:avLst/>
          </a:prstGeom>
          <a:noFill/>
          <a:ln/>
        </p:spPr>
        <p:txBody>
          <a:bodyPr wrap="square" lIns="0" tIns="0" rIns="0" bIns="0" rtlCol="0" anchor="ctr"/>
          <a:lstStyle/>
          <a:p>
            <a:pPr algn="ctr" indent="0" marL="0">
              <a:buNone/>
            </a:pPr>
            <a:r>
              <a:rPr lang="en-US" sz="1300" b="1" dirty="0">
                <a:solidFill>
                  <a:srgbClr val="D1495B"/>
                </a:solidFill>
                <a:latin typeface="Calibri" pitchFamily="34" charset="0"/>
                <a:ea typeface="Calibri" pitchFamily="34" charset="-122"/>
                <a:cs typeface="Calibri" pitchFamily="34" charset="-120"/>
              </a:rPr>
              <a:t>Weak</a:t>
            </a:r>
            <a:endParaRPr lang="en-US" sz="1300" dirty="0"/>
          </a:p>
        </p:txBody>
      </p:sp>
      <p:sp>
        <p:nvSpPr>
          <p:cNvPr id="31" name="Text 26"/>
          <p:cNvSpPr txBox="1"/>
          <p:nvPr/>
        </p:nvSpPr>
        <p:spPr>
          <a:xfrm>
            <a:off x="7863840" y="4151376"/>
            <a:ext cx="3749040" cy="896112"/>
          </a:xfrm>
          <a:prstGeom prst="rect">
            <a:avLst/>
          </a:prstGeom>
          <a:noFill/>
          <a:ln/>
        </p:spPr>
        <p:txBody>
          <a:bodyPr wrap="square" lIns="0" tIns="0" rIns="0" bIns="0" rtlCol="0" anchor="ctr"/>
          <a:lstStyle/>
          <a:p>
            <a:pPr indent="0" marL="0">
              <a:buNone/>
            </a:pPr>
            <a:r>
              <a:rPr lang="en-US" sz="1250" dirty="0">
                <a:solidFill>
                  <a:srgbClr val="5B6770"/>
                </a:solidFill>
                <a:latin typeface="Calibri" pitchFamily="34" charset="0"/>
                <a:ea typeface="Calibri" pitchFamily="34" charset="-122"/>
                <a:cs typeface="Calibri" pitchFamily="34" charset="-120"/>
              </a:rPr>
              <a:t>Common method &amp; social desirability bias (Podsakoff et al., 2003)</a:t>
            </a:r>
            <a:endParaRPr lang="en-US" sz="1250" dirty="0"/>
          </a:p>
        </p:txBody>
      </p:sp>
      <p:sp>
        <p:nvSpPr>
          <p:cNvPr id="32" name="Shape 27"/>
          <p:cNvSpPr/>
          <p:nvPr/>
        </p:nvSpPr>
        <p:spPr>
          <a:xfrm>
            <a:off x="457200" y="5175504"/>
            <a:ext cx="11292840" cy="896112"/>
          </a:xfrm>
          <a:prstGeom prst="roundRect">
            <a:avLst>
              <a:gd name="adj" fmla="val 10204"/>
            </a:avLst>
          </a:prstGeom>
          <a:solidFill>
            <a:srgbClr val="F4F6F8"/>
          </a:solidFill>
          <a:ln w="12700">
            <a:solidFill>
              <a:srgbClr val="F4F6F8"/>
            </a:solidFill>
            <a:prstDash val="solid"/>
          </a:ln>
        </p:spPr>
      </p:sp>
      <p:sp>
        <p:nvSpPr>
          <p:cNvPr id="33" name="Shape 28"/>
          <p:cNvSpPr/>
          <p:nvPr/>
        </p:nvSpPr>
        <p:spPr>
          <a:xfrm>
            <a:off x="594360" y="5349240"/>
            <a:ext cx="548640" cy="548640"/>
          </a:xfrm>
          <a:prstGeom prst="ellipse">
            <a:avLst/>
          </a:prstGeom>
          <a:solidFill>
            <a:srgbClr val="1F3A5F"/>
          </a:solidFill>
          <a:ln w="12700">
            <a:solidFill>
              <a:srgbClr val="1F3A5F"/>
            </a:solidFill>
            <a:prstDash val="solid"/>
          </a:ln>
        </p:spPr>
      </p:sp>
      <p:pic>
        <p:nvPicPr>
          <p:cNvPr id="34" name="Image 3" descr="preencoded.png">    </p:cNvPr>
          <p:cNvPicPr>
            <a:picLocks noChangeAspect="1"/>
          </p:cNvPicPr>
          <p:nvPr/>
        </p:nvPicPr>
        <p:blipFill>
          <a:blip r:embed="rId4"/>
          <a:stretch>
            <a:fillRect/>
          </a:stretch>
        </p:blipFill>
        <p:spPr>
          <a:xfrm>
            <a:off x="731520" y="5486400"/>
            <a:ext cx="274320" cy="274320"/>
          </a:xfrm>
          <a:prstGeom prst="rect">
            <a:avLst/>
          </a:prstGeom>
        </p:spPr>
      </p:pic>
      <p:sp>
        <p:nvSpPr>
          <p:cNvPr id="35" name="Text 29"/>
          <p:cNvSpPr txBox="1"/>
          <p:nvPr/>
        </p:nvSpPr>
        <p:spPr>
          <a:xfrm>
            <a:off x="1280160" y="5175504"/>
            <a:ext cx="1325880" cy="89611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Statistics</a:t>
            </a:r>
            <a:endParaRPr lang="en-US" sz="1500" dirty="0"/>
          </a:p>
        </p:txBody>
      </p:sp>
      <p:sp>
        <p:nvSpPr>
          <p:cNvPr id="36" name="Text 30"/>
          <p:cNvSpPr txBox="1"/>
          <p:nvPr/>
        </p:nvSpPr>
        <p:spPr>
          <a:xfrm>
            <a:off x="2651760" y="5175504"/>
            <a:ext cx="3246120" cy="896112"/>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Multigroup SEM with invariance testing</a:t>
            </a:r>
            <a:endParaRPr lang="en-US" sz="1300" dirty="0"/>
          </a:p>
        </p:txBody>
      </p:sp>
      <p:sp>
        <p:nvSpPr>
          <p:cNvPr id="37" name="Shape 31"/>
          <p:cNvSpPr/>
          <p:nvPr/>
        </p:nvSpPr>
        <p:spPr>
          <a:xfrm>
            <a:off x="6035040" y="5413248"/>
            <a:ext cx="1645920" cy="420624"/>
          </a:xfrm>
          <a:prstGeom prst="roundRect">
            <a:avLst>
              <a:gd name="adj" fmla="val 50000"/>
            </a:avLst>
          </a:prstGeom>
          <a:solidFill>
            <a:srgbClr val="E3F4F1"/>
          </a:solidFill>
          <a:ln w="15875">
            <a:solidFill>
              <a:srgbClr val="2A9D8F"/>
            </a:solidFill>
            <a:prstDash val="solid"/>
          </a:ln>
        </p:spPr>
      </p:sp>
      <p:sp>
        <p:nvSpPr>
          <p:cNvPr id="38" name="Text 32"/>
          <p:cNvSpPr txBox="1"/>
          <p:nvPr/>
        </p:nvSpPr>
        <p:spPr>
          <a:xfrm>
            <a:off x="6035040" y="5413248"/>
            <a:ext cx="1645920" cy="420624"/>
          </a:xfrm>
          <a:prstGeom prst="rect">
            <a:avLst/>
          </a:prstGeom>
          <a:noFill/>
          <a:ln/>
        </p:spPr>
        <p:txBody>
          <a:bodyPr wrap="square" lIns="0" tIns="0" rIns="0" bIns="0" rtlCol="0" anchor="ctr"/>
          <a:lstStyle/>
          <a:p>
            <a:pPr algn="ctr" indent="0" marL="0">
              <a:buNone/>
            </a:pPr>
            <a:r>
              <a:rPr lang="en-US" sz="1300" b="1" dirty="0">
                <a:solidFill>
                  <a:srgbClr val="2A9D8F"/>
                </a:solidFill>
                <a:latin typeface="Calibri" pitchFamily="34" charset="0"/>
                <a:ea typeface="Calibri" pitchFamily="34" charset="-122"/>
                <a:cs typeface="Calibri" pitchFamily="34" charset="-120"/>
              </a:rPr>
              <a:t>Strong</a:t>
            </a:r>
            <a:endParaRPr lang="en-US" sz="1300" dirty="0"/>
          </a:p>
        </p:txBody>
      </p:sp>
      <p:sp>
        <p:nvSpPr>
          <p:cNvPr id="39" name="Text 33"/>
          <p:cNvSpPr txBox="1"/>
          <p:nvPr/>
        </p:nvSpPr>
        <p:spPr>
          <a:xfrm>
            <a:off x="7863840" y="5175504"/>
            <a:ext cx="3749040" cy="896112"/>
          </a:xfrm>
          <a:prstGeom prst="rect">
            <a:avLst/>
          </a:prstGeom>
          <a:noFill/>
          <a:ln/>
        </p:spPr>
        <p:txBody>
          <a:bodyPr wrap="square" lIns="0" tIns="0" rIns="0" bIns="0" rtlCol="0" anchor="ctr"/>
          <a:lstStyle/>
          <a:p>
            <a:pPr indent="0" marL="0">
              <a:buNone/>
            </a:pPr>
            <a:r>
              <a:rPr lang="en-US" sz="1250" dirty="0">
                <a:solidFill>
                  <a:srgbClr val="5B6770"/>
                </a:solidFill>
                <a:latin typeface="Calibri" pitchFamily="34" charset="0"/>
                <a:ea typeface="Calibri" pitchFamily="34" charset="-122"/>
                <a:cs typeface="Calibri" pitchFamily="34" charset="-120"/>
              </a:rPr>
              <a:t>Invariance is a prerequisite for valid cross-country comparison (Vandenberg &amp; Lance, 2000)</a:t>
            </a:r>
            <a:endParaRPr lang="en-US" sz="1250" dirty="0"/>
          </a:p>
        </p:txBody>
      </p:sp>
      <p:sp>
        <p:nvSpPr>
          <p:cNvPr id="40" name="Text 34"/>
          <p:cNvSpPr txBox="1"/>
          <p:nvPr/>
        </p:nvSpPr>
        <p:spPr>
          <a:xfrm>
            <a:off x="7955280" y="6400800"/>
            <a:ext cx="374904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Petrič &amp; Just (2025) critique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Sampling: who was actually asked?</a:t>
            </a:r>
            <a:endParaRPr lang="en-US" sz="3400" dirty="0"/>
          </a:p>
        </p:txBody>
      </p:sp>
      <p:sp>
        <p:nvSpPr>
          <p:cNvPr id="3" name="Text 1"/>
          <p:cNvSpPr txBox="1"/>
          <p:nvPr/>
        </p:nvSpPr>
        <p:spPr>
          <a:xfrm>
            <a:off x="548640" y="1078992"/>
            <a:ext cx="11064240" cy="411480"/>
          </a:xfrm>
          <a:prstGeom prst="rect">
            <a:avLst/>
          </a:prstGeom>
          <a:noFill/>
          <a:ln/>
        </p:spPr>
        <p:txBody>
          <a:bodyPr wrap="square" lIns="0" tIns="0" rIns="0" bIns="0" rtlCol="0" anchor="ctr"/>
          <a:lstStyle/>
          <a:p>
            <a:pPr indent="0" marL="0">
              <a:buNone/>
            </a:pPr>
            <a:r>
              <a:rPr lang="en-US" sz="1600" i="1" dirty="0">
                <a:solidFill>
                  <a:srgbClr val="5B6770"/>
                </a:solidFill>
                <a:latin typeface="Calibri" pitchFamily="34" charset="0"/>
                <a:ea typeface="Calibri" pitchFamily="34" charset="-122"/>
                <a:cs typeface="Calibri" pitchFamily="34" charset="-120"/>
              </a:rPr>
              <a:t>Large overall, but uneven and non-probability</a:t>
            </a:r>
            <a:endParaRPr lang="en-US" sz="1600" dirty="0"/>
          </a:p>
        </p:txBody>
      </p:sp>
      <p:graphicFrame>
        <p:nvGraphicFramePr>
          <p:cNvPr id="4" name="Chart 0" descr=""/>
          <p:cNvGraphicFramePr/>
          <p:nvPr/>
        </p:nvGraphicFramePr>
        <p:xfrm>
          <a:off x="548640" y="164592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783080"/>
            <a:ext cx="640080" cy="640080"/>
          </a:xfrm>
          <a:prstGeom prst="ellipse">
            <a:avLst/>
          </a:prstGeom>
          <a:solidFill>
            <a:srgbClr val="D1495B"/>
          </a:solidFill>
          <a:ln w="12700">
            <a:solidFill>
              <a:srgbClr val="D1495B"/>
            </a:solidFill>
            <a:prstDash val="solid"/>
          </a:ln>
        </p:spPr>
      </p:sp>
      <p:pic>
        <p:nvPicPr>
          <p:cNvPr id="6" name="Image 0" descr="preencoded.png">    </p:cNvPr>
          <p:cNvPicPr>
            <a:picLocks noChangeAspect="1"/>
          </p:cNvPicPr>
          <p:nvPr/>
        </p:nvPicPr>
        <p:blipFill>
          <a:blip r:embed="rId2"/>
          <a:stretch>
            <a:fillRect/>
          </a:stretch>
        </p:blipFill>
        <p:spPr>
          <a:xfrm>
            <a:off x="7109460" y="1943100"/>
            <a:ext cx="320040" cy="320040"/>
          </a:xfrm>
          <a:prstGeom prst="rect">
            <a:avLst/>
          </a:prstGeom>
        </p:spPr>
      </p:pic>
      <p:sp>
        <p:nvSpPr>
          <p:cNvPr id="7" name="Text 3"/>
          <p:cNvSpPr txBox="1"/>
          <p:nvPr/>
        </p:nvSpPr>
        <p:spPr>
          <a:xfrm>
            <a:off x="7772400" y="1737360"/>
            <a:ext cx="39319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UK group is 60% smaller than the US group</a:t>
            </a:r>
            <a:endParaRPr lang="en-US" sz="1600" dirty="0"/>
          </a:p>
        </p:txBody>
      </p:sp>
      <p:sp>
        <p:nvSpPr>
          <p:cNvPr id="8" name="Text 4"/>
          <p:cNvSpPr txBox="1"/>
          <p:nvPr/>
        </p:nvSpPr>
        <p:spPr>
          <a:xfrm>
            <a:off x="7772400" y="2148840"/>
            <a:ext cx="3931920" cy="73152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Less precise UK paths and less power to detect country differences.</a:t>
            </a:r>
            <a:endParaRPr lang="en-US" sz="1400" dirty="0"/>
          </a:p>
        </p:txBody>
      </p:sp>
      <p:sp>
        <p:nvSpPr>
          <p:cNvPr id="9" name="Shape 5"/>
          <p:cNvSpPr/>
          <p:nvPr/>
        </p:nvSpPr>
        <p:spPr>
          <a:xfrm>
            <a:off x="6949440" y="3200400"/>
            <a:ext cx="640080" cy="640080"/>
          </a:xfrm>
          <a:prstGeom prst="ellipse">
            <a:avLst/>
          </a:prstGeom>
          <a:solidFill>
            <a:srgbClr val="1F3A5F"/>
          </a:solidFill>
          <a:ln w="12700">
            <a:solidFill>
              <a:srgbClr val="1F3A5F"/>
            </a:solidFill>
            <a:prstDash val="solid"/>
          </a:ln>
        </p:spPr>
      </p:sp>
      <p:pic>
        <p:nvPicPr>
          <p:cNvPr id="10" name="Image 1" descr="preencoded.png">    </p:cNvPr>
          <p:cNvPicPr>
            <a:picLocks noChangeAspect="1"/>
          </p:cNvPicPr>
          <p:nvPr/>
        </p:nvPicPr>
        <p:blipFill>
          <a:blip r:embed="rId3"/>
          <a:stretch>
            <a:fillRect/>
          </a:stretch>
        </p:blipFill>
        <p:spPr>
          <a:xfrm>
            <a:off x="7109460" y="3360420"/>
            <a:ext cx="320040" cy="320040"/>
          </a:xfrm>
          <a:prstGeom prst="rect">
            <a:avLst/>
          </a:prstGeom>
        </p:spPr>
      </p:pic>
      <p:sp>
        <p:nvSpPr>
          <p:cNvPr id="11" name="Text 6"/>
          <p:cNvSpPr txBox="1"/>
          <p:nvPr/>
        </p:nvSpPr>
        <p:spPr>
          <a:xfrm>
            <a:off x="7772400" y="3154680"/>
            <a:ext cx="39319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Online panel members self-select</a:t>
            </a:r>
            <a:endParaRPr lang="en-US" sz="1600" dirty="0"/>
          </a:p>
        </p:txBody>
      </p:sp>
      <p:sp>
        <p:nvSpPr>
          <p:cNvPr id="12" name="Text 7"/>
          <p:cNvSpPr txBox="1"/>
          <p:nvPr/>
        </p:nvSpPr>
        <p:spPr>
          <a:xfrm>
            <a:off x="7772400" y="3566160"/>
            <a:ext cx="3931920" cy="73152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May be more digitally literate and security-aware than typical staff.</a:t>
            </a:r>
            <a:endParaRPr lang="en-US" sz="1400" dirty="0"/>
          </a:p>
        </p:txBody>
      </p:sp>
      <p:sp>
        <p:nvSpPr>
          <p:cNvPr id="13" name="Shape 8"/>
          <p:cNvSpPr/>
          <p:nvPr/>
        </p:nvSpPr>
        <p:spPr>
          <a:xfrm>
            <a:off x="6949440" y="4617720"/>
            <a:ext cx="640080" cy="640080"/>
          </a:xfrm>
          <a:prstGeom prst="ellipse">
            <a:avLst/>
          </a:prstGeom>
          <a:solidFill>
            <a:srgbClr val="1F3A5F"/>
          </a:solidFill>
          <a:ln w="12700">
            <a:solidFill>
              <a:srgbClr val="1F3A5F"/>
            </a:solidFill>
            <a:prstDash val="solid"/>
          </a:ln>
        </p:spPr>
      </p:sp>
      <p:pic>
        <p:nvPicPr>
          <p:cNvPr id="14" name="Image 2" descr="preencoded.png">    </p:cNvPr>
          <p:cNvPicPr>
            <a:picLocks noChangeAspect="1"/>
          </p:cNvPicPr>
          <p:nvPr/>
        </p:nvPicPr>
        <p:blipFill>
          <a:blip r:embed="rId4"/>
          <a:stretch>
            <a:fillRect/>
          </a:stretch>
        </p:blipFill>
        <p:spPr>
          <a:xfrm>
            <a:off x="7109460" y="4777740"/>
            <a:ext cx="320040" cy="320040"/>
          </a:xfrm>
          <a:prstGeom prst="rect">
            <a:avLst/>
          </a:prstGeom>
        </p:spPr>
      </p:pic>
      <p:sp>
        <p:nvSpPr>
          <p:cNvPr id="15" name="Text 9"/>
          <p:cNvSpPr txBox="1"/>
          <p:nvPr/>
        </p:nvSpPr>
        <p:spPr>
          <a:xfrm>
            <a:off x="7772400" y="4572000"/>
            <a:ext cx="39319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One voice per organisation (apparently)</a:t>
            </a:r>
            <a:endParaRPr lang="en-US" sz="1600" dirty="0"/>
          </a:p>
        </p:txBody>
      </p:sp>
      <p:sp>
        <p:nvSpPr>
          <p:cNvPr id="16" name="Text 10"/>
          <p:cNvSpPr txBox="1"/>
          <p:nvPr/>
        </p:nvSpPr>
        <p:spPr>
          <a:xfrm>
            <a:off x="7772400" y="4983480"/>
            <a:ext cx="3931920" cy="73152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An organisational culture is inferred from individual perception.</a:t>
            </a:r>
            <a:endParaRPr lang="en-US" sz="1400" dirty="0"/>
          </a:p>
        </p:txBody>
      </p:sp>
      <p:sp>
        <p:nvSpPr>
          <p:cNvPr id="17" name="Text 11"/>
          <p:cNvSpPr txBox="1"/>
          <p:nvPr/>
        </p:nvSpPr>
        <p:spPr>
          <a:xfrm>
            <a:off x="7955280" y="6400800"/>
            <a:ext cx="374904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Petrič &amp; Just (2025) critique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Strengths vs limitations</a:t>
            </a:r>
            <a:endParaRPr lang="en-US" sz="3400" dirty="0"/>
          </a:p>
        </p:txBody>
      </p:sp>
      <p:sp>
        <p:nvSpPr>
          <p:cNvPr id="3" name="Text 1"/>
          <p:cNvSpPr txBox="1"/>
          <p:nvPr/>
        </p:nvSpPr>
        <p:spPr>
          <a:xfrm>
            <a:off x="548640" y="1078992"/>
            <a:ext cx="11064240" cy="411480"/>
          </a:xfrm>
          <a:prstGeom prst="rect">
            <a:avLst/>
          </a:prstGeom>
          <a:noFill/>
          <a:ln/>
        </p:spPr>
        <p:txBody>
          <a:bodyPr wrap="square" lIns="0" tIns="0" rIns="0" bIns="0" rtlCol="0" anchor="ctr"/>
          <a:lstStyle/>
          <a:p>
            <a:pPr indent="0" marL="0">
              <a:buNone/>
            </a:pPr>
            <a:r>
              <a:rPr lang="en-US" sz="1600" i="1" dirty="0">
                <a:solidFill>
                  <a:srgbClr val="5B6770"/>
                </a:solidFill>
                <a:latin typeface="Calibri" pitchFamily="34" charset="0"/>
                <a:ea typeface="Calibri" pitchFamily="34" charset="-122"/>
                <a:cs typeface="Calibri" pitchFamily="34" charset="-120"/>
              </a:rPr>
              <a:t>Judged on validity, reliability and generalisability</a:t>
            </a:r>
            <a:endParaRPr lang="en-US" sz="1600" dirty="0"/>
          </a:p>
        </p:txBody>
      </p:sp>
      <p:sp>
        <p:nvSpPr>
          <p:cNvPr id="4" name="Shape 2"/>
          <p:cNvSpPr/>
          <p:nvPr/>
        </p:nvSpPr>
        <p:spPr>
          <a:xfrm>
            <a:off x="548640" y="1645920"/>
            <a:ext cx="4480560" cy="4526280"/>
          </a:xfrm>
          <a:prstGeom prst="roundRect">
            <a:avLst>
              <a:gd name="adj" fmla="val 2449"/>
            </a:avLst>
          </a:prstGeom>
          <a:solidFill>
            <a:srgbClr val="E3F4F1"/>
          </a:solidFill>
          <a:ln w="12700">
            <a:solidFill>
              <a:srgbClr val="E3F4F1"/>
            </a:solidFill>
            <a:prstDash val="solid"/>
          </a:ln>
        </p:spPr>
      </p:sp>
      <p:sp>
        <p:nvSpPr>
          <p:cNvPr id="5" name="Shape 3"/>
          <p:cNvSpPr/>
          <p:nvPr/>
        </p:nvSpPr>
        <p:spPr>
          <a:xfrm>
            <a:off x="777240" y="1828800"/>
            <a:ext cx="548640" cy="548640"/>
          </a:xfrm>
          <a:prstGeom prst="ellipse">
            <a:avLst/>
          </a:prstGeom>
          <a:solidFill>
            <a:srgbClr val="2A9D8F"/>
          </a:solidFill>
          <a:ln w="12700">
            <a:solidFill>
              <a:srgbClr val="2A9D8F"/>
            </a:solidFill>
            <a:prstDash val="solid"/>
          </a:ln>
        </p:spPr>
      </p:sp>
      <p:pic>
        <p:nvPicPr>
          <p:cNvPr id="6" name="Image 0" descr="preencoded.png">    </p:cNvPr>
          <p:cNvPicPr>
            <a:picLocks noChangeAspect="1"/>
          </p:cNvPicPr>
          <p:nvPr/>
        </p:nvPicPr>
        <p:blipFill>
          <a:blip r:embed="rId1"/>
          <a:stretch>
            <a:fillRect/>
          </a:stretch>
        </p:blipFill>
        <p:spPr>
          <a:xfrm>
            <a:off x="914400" y="1965960"/>
            <a:ext cx="274320" cy="274320"/>
          </a:xfrm>
          <a:prstGeom prst="rect">
            <a:avLst/>
          </a:prstGeom>
        </p:spPr>
      </p:pic>
      <p:sp>
        <p:nvSpPr>
          <p:cNvPr id="7" name="Text 4"/>
          <p:cNvSpPr txBox="1"/>
          <p:nvPr/>
        </p:nvSpPr>
        <p:spPr>
          <a:xfrm>
            <a:off x="1463040" y="1828800"/>
            <a:ext cx="3200400" cy="548640"/>
          </a:xfrm>
          <a:prstGeom prst="rect">
            <a:avLst/>
          </a:prstGeom>
          <a:noFill/>
          <a:ln/>
        </p:spPr>
        <p:txBody>
          <a:bodyPr wrap="square" lIns="0" tIns="0" rIns="0" bIns="0" rtlCol="0" anchor="ctr"/>
          <a:lstStyle/>
          <a:p>
            <a:pPr indent="0" marL="0">
              <a:buNone/>
            </a:pPr>
            <a:r>
              <a:rPr lang="en-US" sz="2200" b="1" dirty="0">
                <a:solidFill>
                  <a:srgbClr val="2A9D8F"/>
                </a:solidFill>
                <a:latin typeface="Cambria" pitchFamily="34" charset="0"/>
                <a:ea typeface="Cambria" pitchFamily="34" charset="-122"/>
                <a:cs typeface="Cambria" pitchFamily="34" charset="-120"/>
              </a:rPr>
              <a:t>Strengths</a:t>
            </a:r>
            <a:endParaRPr lang="en-US" sz="2200" dirty="0"/>
          </a:p>
        </p:txBody>
      </p:sp>
      <p:sp>
        <p:nvSpPr>
          <p:cNvPr id="8" name="Text 5"/>
          <p:cNvSpPr txBox="1"/>
          <p:nvPr/>
        </p:nvSpPr>
        <p:spPr>
          <a:xfrm>
            <a:off x="777240" y="2560320"/>
            <a:ext cx="406908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3A5F"/>
                </a:solidFill>
                <a:latin typeface="Calibri" pitchFamily="34" charset="0"/>
                <a:ea typeface="Calibri" pitchFamily="34" charset="-122"/>
                <a:cs typeface="Calibri" pitchFamily="34" charset="-120"/>
              </a:rPr>
              <a:t>Theory-driven, parsimonious model with manageable levers</a:t>
            </a:r>
            <a:endParaRPr lang="en-US" sz="1600" dirty="0"/>
          </a:p>
          <a:p>
            <a:pPr marL="342900" indent="-342900">
              <a:spcAft>
                <a:spcPts val="1000"/>
              </a:spcAft>
              <a:buSzPct val="100000"/>
              <a:buChar char="•"/>
            </a:pPr>
            <a:r>
              <a:rPr lang="en-US" sz="1600" dirty="0">
                <a:solidFill>
                  <a:srgbClr val="1F3A5F"/>
                </a:solidFill>
                <a:latin typeface="Calibri" pitchFamily="34" charset="0"/>
                <a:ea typeface="Calibri" pitchFamily="34" charset="-122"/>
                <a:cs typeface="Calibri" pitchFamily="34" charset="-120"/>
              </a:rPr>
              <a:t>Large three-country sample with demonstrated invariance</a:t>
            </a:r>
            <a:endParaRPr lang="en-US" sz="1600" dirty="0"/>
          </a:p>
          <a:p>
            <a:pPr marL="342900" indent="-342900">
              <a:spcAft>
                <a:spcPts val="1000"/>
              </a:spcAft>
              <a:buSzPct val="100000"/>
              <a:buChar char="•"/>
            </a:pPr>
            <a:r>
              <a:rPr lang="en-US" sz="1600" dirty="0">
                <a:solidFill>
                  <a:srgbClr val="1F3A5F"/>
                </a:solidFill>
                <a:latin typeface="Calibri" pitchFamily="34" charset="0"/>
                <a:ea typeface="Calibri" pitchFamily="34" charset="-122"/>
                <a:cs typeface="Calibri" pitchFamily="34" charset="-120"/>
              </a:rPr>
              <a:t>Indirect paths reveal the “double-edged” communication effect</a:t>
            </a:r>
            <a:endParaRPr lang="en-US" sz="1600" dirty="0"/>
          </a:p>
          <a:p>
            <a:pPr marL="342900" indent="-342900">
              <a:spcAft>
                <a:spcPts val="1000"/>
              </a:spcAft>
              <a:buSzPct val="100000"/>
              <a:buChar char="•"/>
            </a:pPr>
            <a:r>
              <a:rPr lang="en-US" sz="1600" dirty="0">
                <a:solidFill>
                  <a:srgbClr val="1F3A5F"/>
                </a:solidFill>
                <a:latin typeface="Calibri" pitchFamily="34" charset="0"/>
                <a:ea typeface="Calibri" pitchFamily="34" charset="-122"/>
                <a:cs typeface="Calibri" pitchFamily="34" charset="-120"/>
              </a:rPr>
              <a:t>Authors are candid about the weak outcome measure</a:t>
            </a:r>
            <a:endParaRPr lang="en-US" sz="1600" dirty="0"/>
          </a:p>
        </p:txBody>
      </p:sp>
      <p:sp>
        <p:nvSpPr>
          <p:cNvPr id="9" name="Text 6"/>
          <p:cNvSpPr txBox="1"/>
          <p:nvPr/>
        </p:nvSpPr>
        <p:spPr>
          <a:xfrm>
            <a:off x="5394960" y="1645920"/>
            <a:ext cx="6217920" cy="457200"/>
          </a:xfrm>
          <a:prstGeom prst="rect">
            <a:avLst/>
          </a:prstGeom>
          <a:noFill/>
          <a:ln/>
        </p:spPr>
        <p:txBody>
          <a:bodyPr wrap="square" lIns="0" tIns="0" rIns="0" bIns="0" rtlCol="0" anchor="ctr"/>
          <a:lstStyle/>
          <a:p>
            <a:pPr indent="0" marL="0">
              <a:buNone/>
            </a:pPr>
            <a:r>
              <a:rPr lang="en-US" sz="2200" b="1" dirty="0">
                <a:solidFill>
                  <a:srgbClr val="D1495B"/>
                </a:solidFill>
                <a:latin typeface="Cambria" pitchFamily="34" charset="0"/>
                <a:ea typeface="Cambria" pitchFamily="34" charset="-122"/>
                <a:cs typeface="Cambria" pitchFamily="34" charset="-120"/>
              </a:rPr>
              <a:t>Limitations</a:t>
            </a:r>
            <a:endParaRPr lang="en-US" sz="2200" dirty="0"/>
          </a:p>
        </p:txBody>
      </p:sp>
      <p:sp>
        <p:nvSpPr>
          <p:cNvPr id="10" name="Shape 7"/>
          <p:cNvSpPr/>
          <p:nvPr/>
        </p:nvSpPr>
        <p:spPr>
          <a:xfrm>
            <a:off x="5394960" y="2194560"/>
            <a:ext cx="6263640" cy="685800"/>
          </a:xfrm>
          <a:prstGeom prst="roundRect">
            <a:avLst>
              <a:gd name="adj" fmla="val 13333"/>
            </a:avLst>
          </a:prstGeom>
          <a:solidFill>
            <a:srgbClr val="F4F6F8"/>
          </a:solidFill>
          <a:ln w="12700">
            <a:solidFill>
              <a:srgbClr val="F4F6F8"/>
            </a:solidFill>
            <a:prstDash val="solid"/>
          </a:ln>
        </p:spPr>
      </p:sp>
      <p:sp>
        <p:nvSpPr>
          <p:cNvPr id="11" name="Text 8"/>
          <p:cNvSpPr txBox="1"/>
          <p:nvPr/>
        </p:nvSpPr>
        <p:spPr>
          <a:xfrm>
            <a:off x="5532120" y="2194560"/>
            <a:ext cx="1874520" cy="685800"/>
          </a:xfrm>
          <a:prstGeom prst="rect">
            <a:avLst/>
          </a:prstGeom>
          <a:noFill/>
          <a:ln/>
        </p:spPr>
        <p:txBody>
          <a:bodyPr wrap="square" lIns="0" tIns="0" rIns="0" bIns="0" rtlCol="0" anchor="ctr"/>
          <a:lstStyle/>
          <a:p>
            <a:pPr indent="0" marL="0">
              <a:buNone/>
            </a:pPr>
            <a:r>
              <a:rPr lang="en-US" sz="1350" b="1" dirty="0">
                <a:solidFill>
                  <a:srgbClr val="D1495B"/>
                </a:solidFill>
                <a:latin typeface="Calibri" pitchFamily="34" charset="0"/>
                <a:ea typeface="Calibri" pitchFamily="34" charset="-122"/>
                <a:cs typeface="Calibri" pitchFamily="34" charset="-120"/>
              </a:rPr>
              <a:t>Internal validity</a:t>
            </a:r>
            <a:endParaRPr lang="en-US" sz="1350" dirty="0"/>
          </a:p>
        </p:txBody>
      </p:sp>
      <p:sp>
        <p:nvSpPr>
          <p:cNvPr id="12" name="Text 9"/>
          <p:cNvSpPr txBox="1"/>
          <p:nvPr/>
        </p:nvSpPr>
        <p:spPr>
          <a:xfrm>
            <a:off x="7452360" y="2194560"/>
            <a:ext cx="4114800" cy="68580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No temporal order: reporting may shape attitudes, not vice versa (Shadish et al., 2002)</a:t>
            </a:r>
            <a:endParaRPr lang="en-US" sz="1300" dirty="0"/>
          </a:p>
        </p:txBody>
      </p:sp>
      <p:sp>
        <p:nvSpPr>
          <p:cNvPr id="13" name="Shape 10"/>
          <p:cNvSpPr/>
          <p:nvPr/>
        </p:nvSpPr>
        <p:spPr>
          <a:xfrm>
            <a:off x="5394960" y="2990088"/>
            <a:ext cx="6263640" cy="685800"/>
          </a:xfrm>
          <a:prstGeom prst="roundRect">
            <a:avLst>
              <a:gd name="adj" fmla="val 13333"/>
            </a:avLst>
          </a:prstGeom>
          <a:solidFill>
            <a:srgbClr val="F4F6F8"/>
          </a:solidFill>
          <a:ln w="12700">
            <a:solidFill>
              <a:srgbClr val="F4F6F8"/>
            </a:solidFill>
            <a:prstDash val="solid"/>
          </a:ln>
        </p:spPr>
      </p:sp>
      <p:sp>
        <p:nvSpPr>
          <p:cNvPr id="14" name="Text 11"/>
          <p:cNvSpPr txBox="1"/>
          <p:nvPr/>
        </p:nvSpPr>
        <p:spPr>
          <a:xfrm>
            <a:off x="5532120" y="2990088"/>
            <a:ext cx="1874520" cy="685800"/>
          </a:xfrm>
          <a:prstGeom prst="rect">
            <a:avLst/>
          </a:prstGeom>
          <a:noFill/>
          <a:ln/>
        </p:spPr>
        <p:txBody>
          <a:bodyPr wrap="square" lIns="0" tIns="0" rIns="0" bIns="0" rtlCol="0" anchor="ctr"/>
          <a:lstStyle/>
          <a:p>
            <a:pPr indent="0" marL="0">
              <a:buNone/>
            </a:pPr>
            <a:r>
              <a:rPr lang="en-US" sz="1350" b="1" dirty="0">
                <a:solidFill>
                  <a:srgbClr val="D1495B"/>
                </a:solidFill>
                <a:latin typeface="Calibri" pitchFamily="34" charset="0"/>
                <a:ea typeface="Calibri" pitchFamily="34" charset="-122"/>
                <a:cs typeface="Calibri" pitchFamily="34" charset="-120"/>
              </a:rPr>
              <a:t>Construct validity</a:t>
            </a:r>
            <a:endParaRPr lang="en-US" sz="1350" dirty="0"/>
          </a:p>
        </p:txBody>
      </p:sp>
      <p:sp>
        <p:nvSpPr>
          <p:cNvPr id="15" name="Text 12"/>
          <p:cNvSpPr txBox="1"/>
          <p:nvPr/>
        </p:nvSpPr>
        <p:spPr>
          <a:xfrm>
            <a:off x="7452360" y="2990088"/>
            <a:ext cx="4114800" cy="68580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Self-reported reporting ≠ behaviour: the intention–behaviour gap (Sheeran, 2002)</a:t>
            </a:r>
            <a:endParaRPr lang="en-US" sz="1300" dirty="0"/>
          </a:p>
        </p:txBody>
      </p:sp>
      <p:sp>
        <p:nvSpPr>
          <p:cNvPr id="16" name="Shape 13"/>
          <p:cNvSpPr/>
          <p:nvPr/>
        </p:nvSpPr>
        <p:spPr>
          <a:xfrm>
            <a:off x="5394960" y="3785616"/>
            <a:ext cx="6263640" cy="685800"/>
          </a:xfrm>
          <a:prstGeom prst="roundRect">
            <a:avLst>
              <a:gd name="adj" fmla="val 13333"/>
            </a:avLst>
          </a:prstGeom>
          <a:solidFill>
            <a:srgbClr val="F4F6F8"/>
          </a:solidFill>
          <a:ln w="12700">
            <a:solidFill>
              <a:srgbClr val="F4F6F8"/>
            </a:solidFill>
            <a:prstDash val="solid"/>
          </a:ln>
        </p:spPr>
      </p:sp>
      <p:sp>
        <p:nvSpPr>
          <p:cNvPr id="17" name="Text 14"/>
          <p:cNvSpPr txBox="1"/>
          <p:nvPr/>
        </p:nvSpPr>
        <p:spPr>
          <a:xfrm>
            <a:off x="5532120" y="3785616"/>
            <a:ext cx="1874520" cy="685800"/>
          </a:xfrm>
          <a:prstGeom prst="rect">
            <a:avLst/>
          </a:prstGeom>
          <a:noFill/>
          <a:ln/>
        </p:spPr>
        <p:txBody>
          <a:bodyPr wrap="square" lIns="0" tIns="0" rIns="0" bIns="0" rtlCol="0" anchor="ctr"/>
          <a:lstStyle/>
          <a:p>
            <a:pPr indent="0" marL="0">
              <a:buNone/>
            </a:pPr>
            <a:r>
              <a:rPr lang="en-US" sz="1350" b="1" dirty="0">
                <a:solidFill>
                  <a:srgbClr val="D1495B"/>
                </a:solidFill>
                <a:latin typeface="Calibri" pitchFamily="34" charset="0"/>
                <a:ea typeface="Calibri" pitchFamily="34" charset="-122"/>
                <a:cs typeface="Calibri" pitchFamily="34" charset="-120"/>
              </a:rPr>
              <a:t>Reliability</a:t>
            </a:r>
            <a:endParaRPr lang="en-US" sz="1350" dirty="0"/>
          </a:p>
        </p:txBody>
      </p:sp>
      <p:sp>
        <p:nvSpPr>
          <p:cNvPr id="18" name="Text 15"/>
          <p:cNvSpPr txBox="1"/>
          <p:nvPr/>
        </p:nvSpPr>
        <p:spPr>
          <a:xfrm>
            <a:off x="7452360" y="3785616"/>
            <a:ext cx="4114800" cy="68580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One occasion only; shared-method variance may inflate estimates</a:t>
            </a:r>
            <a:endParaRPr lang="en-US" sz="1300" dirty="0"/>
          </a:p>
        </p:txBody>
      </p:sp>
      <p:sp>
        <p:nvSpPr>
          <p:cNvPr id="19" name="Shape 16"/>
          <p:cNvSpPr/>
          <p:nvPr/>
        </p:nvSpPr>
        <p:spPr>
          <a:xfrm>
            <a:off x="5394960" y="4581144"/>
            <a:ext cx="6263640" cy="685800"/>
          </a:xfrm>
          <a:prstGeom prst="roundRect">
            <a:avLst>
              <a:gd name="adj" fmla="val 13333"/>
            </a:avLst>
          </a:prstGeom>
          <a:solidFill>
            <a:srgbClr val="F4F6F8"/>
          </a:solidFill>
          <a:ln w="12700">
            <a:solidFill>
              <a:srgbClr val="F4F6F8"/>
            </a:solidFill>
            <a:prstDash val="solid"/>
          </a:ln>
        </p:spPr>
      </p:sp>
      <p:sp>
        <p:nvSpPr>
          <p:cNvPr id="20" name="Text 17"/>
          <p:cNvSpPr txBox="1"/>
          <p:nvPr/>
        </p:nvSpPr>
        <p:spPr>
          <a:xfrm>
            <a:off x="5532120" y="4581144"/>
            <a:ext cx="1874520" cy="685800"/>
          </a:xfrm>
          <a:prstGeom prst="rect">
            <a:avLst/>
          </a:prstGeom>
          <a:noFill/>
          <a:ln/>
        </p:spPr>
        <p:txBody>
          <a:bodyPr wrap="square" lIns="0" tIns="0" rIns="0" bIns="0" rtlCol="0" anchor="ctr"/>
          <a:lstStyle/>
          <a:p>
            <a:pPr indent="0" marL="0">
              <a:buNone/>
            </a:pPr>
            <a:r>
              <a:rPr lang="en-US" sz="1350" b="1" dirty="0">
                <a:solidFill>
                  <a:srgbClr val="D1495B"/>
                </a:solidFill>
                <a:latin typeface="Calibri" pitchFamily="34" charset="0"/>
                <a:ea typeface="Calibri" pitchFamily="34" charset="-122"/>
                <a:cs typeface="Calibri" pitchFamily="34" charset="-120"/>
              </a:rPr>
              <a:t>Statistical conclusion</a:t>
            </a:r>
            <a:endParaRPr lang="en-US" sz="1350" dirty="0"/>
          </a:p>
        </p:txBody>
      </p:sp>
      <p:sp>
        <p:nvSpPr>
          <p:cNvPr id="21" name="Text 18"/>
          <p:cNvSpPr txBox="1"/>
          <p:nvPr/>
        </p:nvSpPr>
        <p:spPr>
          <a:xfrm>
            <a:off x="7452360" y="4581144"/>
            <a:ext cx="4114800" cy="68580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N &gt; 1,000 makes tiny paths significant; report effect sizes</a:t>
            </a:r>
            <a:endParaRPr lang="en-US" sz="1300" dirty="0"/>
          </a:p>
        </p:txBody>
      </p:sp>
      <p:sp>
        <p:nvSpPr>
          <p:cNvPr id="22" name="Shape 19"/>
          <p:cNvSpPr/>
          <p:nvPr/>
        </p:nvSpPr>
        <p:spPr>
          <a:xfrm>
            <a:off x="5394960" y="5376672"/>
            <a:ext cx="6263640" cy="685800"/>
          </a:xfrm>
          <a:prstGeom prst="roundRect">
            <a:avLst>
              <a:gd name="adj" fmla="val 13333"/>
            </a:avLst>
          </a:prstGeom>
          <a:solidFill>
            <a:srgbClr val="F4F6F8"/>
          </a:solidFill>
          <a:ln w="12700">
            <a:solidFill>
              <a:srgbClr val="F4F6F8"/>
            </a:solidFill>
            <a:prstDash val="solid"/>
          </a:ln>
        </p:spPr>
      </p:sp>
      <p:sp>
        <p:nvSpPr>
          <p:cNvPr id="23" name="Text 20"/>
          <p:cNvSpPr txBox="1"/>
          <p:nvPr/>
        </p:nvSpPr>
        <p:spPr>
          <a:xfrm>
            <a:off x="5532120" y="5376672"/>
            <a:ext cx="1874520" cy="685800"/>
          </a:xfrm>
          <a:prstGeom prst="rect">
            <a:avLst/>
          </a:prstGeom>
          <a:noFill/>
          <a:ln/>
        </p:spPr>
        <p:txBody>
          <a:bodyPr wrap="square" lIns="0" tIns="0" rIns="0" bIns="0" rtlCol="0" anchor="ctr"/>
          <a:lstStyle/>
          <a:p>
            <a:pPr indent="0" marL="0">
              <a:buNone/>
            </a:pPr>
            <a:r>
              <a:rPr lang="en-US" sz="1350" b="1" dirty="0">
                <a:solidFill>
                  <a:srgbClr val="D1495B"/>
                </a:solidFill>
                <a:latin typeface="Calibri" pitchFamily="34" charset="0"/>
                <a:ea typeface="Calibri" pitchFamily="34" charset="-122"/>
                <a:cs typeface="Calibri" pitchFamily="34" charset="-120"/>
              </a:rPr>
              <a:t>Generalisability</a:t>
            </a:r>
            <a:endParaRPr lang="en-US" sz="1350" dirty="0"/>
          </a:p>
        </p:txBody>
      </p:sp>
      <p:sp>
        <p:nvSpPr>
          <p:cNvPr id="24" name="Text 21"/>
          <p:cNvSpPr txBox="1"/>
          <p:nvPr/>
        </p:nvSpPr>
        <p:spPr>
          <a:xfrm>
            <a:off x="7452360" y="5376672"/>
            <a:ext cx="4114800" cy="685800"/>
          </a:xfrm>
          <a:prstGeom prst="rect">
            <a:avLst/>
          </a:prstGeom>
          <a:noFill/>
          <a:ln/>
        </p:spPr>
        <p:txBody>
          <a:bodyPr wrap="square" lIns="0" tIns="0" rIns="0" bIns="0" rtlCol="0" anchor="ctr"/>
          <a:lstStyle/>
          <a:p>
            <a:pPr indent="0" marL="0">
              <a:buNone/>
            </a:pPr>
            <a:r>
              <a:rPr lang="en-US" sz="1300" dirty="0">
                <a:solidFill>
                  <a:srgbClr val="1F3A5F"/>
                </a:solidFill>
                <a:latin typeface="Calibri" pitchFamily="34" charset="0"/>
                <a:ea typeface="Calibri" pitchFamily="34" charset="-122"/>
                <a:cs typeface="Calibri" pitchFamily="34" charset="-120"/>
              </a:rPr>
              <a:t>Three Western economies, larger firms; country ≠ culture</a:t>
            </a:r>
            <a:endParaRPr lang="en-US" sz="1300" dirty="0"/>
          </a:p>
        </p:txBody>
      </p:sp>
      <p:sp>
        <p:nvSpPr>
          <p:cNvPr id="25" name="Text 22"/>
          <p:cNvSpPr txBox="1"/>
          <p:nvPr/>
        </p:nvSpPr>
        <p:spPr>
          <a:xfrm>
            <a:off x="7955280" y="6400800"/>
            <a:ext cx="374904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Petrič &amp; Just (2025) critique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Four evidence-based improvements</a:t>
            </a:r>
            <a:endParaRPr lang="en-US" sz="3400" dirty="0"/>
          </a:p>
        </p:txBody>
      </p:sp>
      <p:sp>
        <p:nvSpPr>
          <p:cNvPr id="3" name="Text 1"/>
          <p:cNvSpPr txBox="1"/>
          <p:nvPr/>
        </p:nvSpPr>
        <p:spPr>
          <a:xfrm>
            <a:off x="548640" y="1078992"/>
            <a:ext cx="11064240" cy="411480"/>
          </a:xfrm>
          <a:prstGeom prst="rect">
            <a:avLst/>
          </a:prstGeom>
          <a:noFill/>
          <a:ln/>
        </p:spPr>
        <p:txBody>
          <a:bodyPr wrap="square" lIns="0" tIns="0" rIns="0" bIns="0" rtlCol="0" anchor="ctr"/>
          <a:lstStyle/>
          <a:p>
            <a:pPr indent="0" marL="0">
              <a:buNone/>
            </a:pPr>
            <a:r>
              <a:rPr lang="en-US" sz="1600" i="1" dirty="0">
                <a:solidFill>
                  <a:srgbClr val="5B6770"/>
                </a:solidFill>
                <a:latin typeface="Calibri" pitchFamily="34" charset="0"/>
                <a:ea typeface="Calibri" pitchFamily="34" charset="-122"/>
                <a:cs typeface="Calibri" pitchFamily="34" charset="-120"/>
              </a:rPr>
              <a:t>Each targets a specific concern</a:t>
            </a:r>
            <a:endParaRPr lang="en-US" sz="1600" dirty="0"/>
          </a:p>
        </p:txBody>
      </p:sp>
      <p:sp>
        <p:nvSpPr>
          <p:cNvPr id="4" name="Shape 2"/>
          <p:cNvSpPr/>
          <p:nvPr/>
        </p:nvSpPr>
        <p:spPr>
          <a:xfrm>
            <a:off x="548640" y="1645920"/>
            <a:ext cx="5440680" cy="1783080"/>
          </a:xfrm>
          <a:prstGeom prst="roundRect">
            <a:avLst>
              <a:gd name="adj" fmla="val 6154"/>
            </a:avLst>
          </a:prstGeom>
          <a:solidFill>
            <a:srgbClr val="FFFFFF"/>
          </a:solidFill>
          <a:ln w="12700">
            <a:solidFill>
              <a:srgbClr val="DDE3E8"/>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920240"/>
            <a:ext cx="731520" cy="731520"/>
          </a:xfrm>
          <a:prstGeom prst="ellipse">
            <a:avLst/>
          </a:prstGeom>
          <a:solidFill>
            <a:srgbClr val="2A9D8F"/>
          </a:solidFill>
          <a:ln w="12700">
            <a:solidFill>
              <a:srgbClr val="2A9D8F"/>
            </a:solidFill>
            <a:prstDash val="solid"/>
          </a:ln>
        </p:spPr>
      </p:sp>
      <p:pic>
        <p:nvPicPr>
          <p:cNvPr id="6" name="Image 0" descr="preencoded.png">    </p:cNvPr>
          <p:cNvPicPr>
            <a:picLocks noChangeAspect="1"/>
          </p:cNvPicPr>
          <p:nvPr/>
        </p:nvPicPr>
        <p:blipFill>
          <a:blip r:embed="rId1"/>
          <a:stretch>
            <a:fillRect/>
          </a:stretch>
        </p:blipFill>
        <p:spPr>
          <a:xfrm>
            <a:off x="960120" y="2103120"/>
            <a:ext cx="365760" cy="365760"/>
          </a:xfrm>
          <a:prstGeom prst="rect">
            <a:avLst/>
          </a:prstGeom>
        </p:spPr>
      </p:pic>
      <p:sp>
        <p:nvSpPr>
          <p:cNvPr id="7" name="Text 4"/>
          <p:cNvSpPr txBox="1"/>
          <p:nvPr/>
        </p:nvSpPr>
        <p:spPr>
          <a:xfrm>
            <a:off x="1737360" y="1874520"/>
            <a:ext cx="3566160" cy="45720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Measure real behaviour</a:t>
            </a:r>
            <a:endParaRPr lang="en-US" sz="1800" dirty="0"/>
          </a:p>
        </p:txBody>
      </p:sp>
      <p:sp>
        <p:nvSpPr>
          <p:cNvPr id="8" name="Text 5"/>
          <p:cNvSpPr txBox="1"/>
          <p:nvPr/>
        </p:nvSpPr>
        <p:spPr>
          <a:xfrm>
            <a:off x="1737360" y="2359152"/>
            <a:ext cx="4023360" cy="91440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Link surveys to simulated-phishing report logs (Lain et al., 2022)</a:t>
            </a:r>
            <a:endParaRPr lang="en-US" sz="1400" dirty="0"/>
          </a:p>
        </p:txBody>
      </p:sp>
      <p:sp>
        <p:nvSpPr>
          <p:cNvPr id="9" name="Shape 6"/>
          <p:cNvSpPr/>
          <p:nvPr/>
        </p:nvSpPr>
        <p:spPr>
          <a:xfrm>
            <a:off x="5440680" y="1874520"/>
            <a:ext cx="384048" cy="384048"/>
          </a:xfrm>
          <a:prstGeom prst="ellipse">
            <a:avLst/>
          </a:prstGeom>
          <a:solidFill>
            <a:srgbClr val="D1495B"/>
          </a:solidFill>
          <a:ln w="12700">
            <a:solidFill>
              <a:srgbClr val="D1495B"/>
            </a:solidFill>
            <a:prstDash val="solid"/>
          </a:ln>
        </p:spPr>
      </p:sp>
      <p:sp>
        <p:nvSpPr>
          <p:cNvPr id="10" name="Text 7"/>
          <p:cNvSpPr txBox="1"/>
          <p:nvPr/>
        </p:nvSpPr>
        <p:spPr>
          <a:xfrm>
            <a:off x="5440680" y="18745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C3</a:t>
            </a:r>
            <a:endParaRPr lang="en-US" sz="1100" dirty="0"/>
          </a:p>
        </p:txBody>
      </p:sp>
      <p:sp>
        <p:nvSpPr>
          <p:cNvPr id="11" name="Shape 8"/>
          <p:cNvSpPr/>
          <p:nvPr/>
        </p:nvSpPr>
        <p:spPr>
          <a:xfrm>
            <a:off x="6217920" y="1645920"/>
            <a:ext cx="5440680" cy="1783080"/>
          </a:xfrm>
          <a:prstGeom prst="roundRect">
            <a:avLst>
              <a:gd name="adj" fmla="val 6154"/>
            </a:avLst>
          </a:prstGeom>
          <a:solidFill>
            <a:srgbClr val="FFFFFF"/>
          </a:solidFill>
          <a:ln w="12700">
            <a:solidFill>
              <a:srgbClr val="DDE3E8"/>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446520" y="1920240"/>
            <a:ext cx="731520" cy="731520"/>
          </a:xfrm>
          <a:prstGeom prst="ellipse">
            <a:avLst/>
          </a:prstGeom>
          <a:solidFill>
            <a:srgbClr val="2A9D8F"/>
          </a:solidFill>
          <a:ln w="12700">
            <a:solidFill>
              <a:srgbClr val="2A9D8F"/>
            </a:solidFill>
            <a:prstDash val="solid"/>
          </a:ln>
        </p:spPr>
      </p:sp>
      <p:pic>
        <p:nvPicPr>
          <p:cNvPr id="13" name="Image 1" descr="preencoded.png">    </p:cNvPr>
          <p:cNvPicPr>
            <a:picLocks noChangeAspect="1"/>
          </p:cNvPicPr>
          <p:nvPr/>
        </p:nvPicPr>
        <p:blipFill>
          <a:blip r:embed="rId2"/>
          <a:stretch>
            <a:fillRect/>
          </a:stretch>
        </p:blipFill>
        <p:spPr>
          <a:xfrm>
            <a:off x="6629400" y="2103120"/>
            <a:ext cx="365760" cy="365760"/>
          </a:xfrm>
          <a:prstGeom prst="rect">
            <a:avLst/>
          </a:prstGeom>
        </p:spPr>
      </p:pic>
      <p:sp>
        <p:nvSpPr>
          <p:cNvPr id="14" name="Text 10"/>
          <p:cNvSpPr txBox="1"/>
          <p:nvPr/>
        </p:nvSpPr>
        <p:spPr>
          <a:xfrm>
            <a:off x="7406640" y="1874520"/>
            <a:ext cx="3566160" cy="45720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Separate the time points</a:t>
            </a:r>
            <a:endParaRPr lang="en-US" sz="1800" dirty="0"/>
          </a:p>
        </p:txBody>
      </p:sp>
      <p:sp>
        <p:nvSpPr>
          <p:cNvPr id="15" name="Text 11"/>
          <p:cNvSpPr txBox="1"/>
          <p:nvPr/>
        </p:nvSpPr>
        <p:spPr>
          <a:xfrm>
            <a:off x="7406640" y="2359152"/>
            <a:ext cx="4023360" cy="91440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Culture at T1 → attitudes at T2 → reporting at T3 (Maxwell &amp; Cole, 2007)</a:t>
            </a:r>
            <a:endParaRPr lang="en-US" sz="1400" dirty="0"/>
          </a:p>
        </p:txBody>
      </p:sp>
      <p:sp>
        <p:nvSpPr>
          <p:cNvPr id="16" name="Shape 12"/>
          <p:cNvSpPr/>
          <p:nvPr/>
        </p:nvSpPr>
        <p:spPr>
          <a:xfrm>
            <a:off x="11109960" y="1874520"/>
            <a:ext cx="384048" cy="384048"/>
          </a:xfrm>
          <a:prstGeom prst="ellipse">
            <a:avLst/>
          </a:prstGeom>
          <a:solidFill>
            <a:srgbClr val="D1495B"/>
          </a:solidFill>
          <a:ln w="12700">
            <a:solidFill>
              <a:srgbClr val="D1495B"/>
            </a:solidFill>
            <a:prstDash val="solid"/>
          </a:ln>
        </p:spPr>
      </p:sp>
      <p:sp>
        <p:nvSpPr>
          <p:cNvPr id="17" name="Text 13"/>
          <p:cNvSpPr txBox="1"/>
          <p:nvPr/>
        </p:nvSpPr>
        <p:spPr>
          <a:xfrm>
            <a:off x="11109960" y="18745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p>
        </p:txBody>
      </p:sp>
      <p:sp>
        <p:nvSpPr>
          <p:cNvPr id="18" name="Shape 14"/>
          <p:cNvSpPr/>
          <p:nvPr/>
        </p:nvSpPr>
        <p:spPr>
          <a:xfrm>
            <a:off x="548640" y="3657600"/>
            <a:ext cx="5440680" cy="1783080"/>
          </a:xfrm>
          <a:prstGeom prst="roundRect">
            <a:avLst>
              <a:gd name="adj" fmla="val 6154"/>
            </a:avLst>
          </a:prstGeom>
          <a:solidFill>
            <a:srgbClr val="FFFFFF"/>
          </a:solidFill>
          <a:ln w="12700">
            <a:solidFill>
              <a:srgbClr val="DDE3E8"/>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777240" y="3931920"/>
            <a:ext cx="731520" cy="731520"/>
          </a:xfrm>
          <a:prstGeom prst="ellipse">
            <a:avLst/>
          </a:prstGeom>
          <a:solidFill>
            <a:srgbClr val="2A9D8F"/>
          </a:solidFill>
          <a:ln w="12700">
            <a:solidFill>
              <a:srgbClr val="2A9D8F"/>
            </a:solidFill>
            <a:prstDash val="solid"/>
          </a:ln>
        </p:spPr>
      </p:sp>
      <p:pic>
        <p:nvPicPr>
          <p:cNvPr id="20" name="Image 2" descr="preencoded.png">    </p:cNvPr>
          <p:cNvPicPr>
            <a:picLocks noChangeAspect="1"/>
          </p:cNvPicPr>
          <p:nvPr/>
        </p:nvPicPr>
        <p:blipFill>
          <a:blip r:embed="rId3"/>
          <a:stretch>
            <a:fillRect/>
          </a:stretch>
        </p:blipFill>
        <p:spPr>
          <a:xfrm>
            <a:off x="960120" y="4114800"/>
            <a:ext cx="365760" cy="365760"/>
          </a:xfrm>
          <a:prstGeom prst="rect">
            <a:avLst/>
          </a:prstGeom>
        </p:spPr>
      </p:pic>
      <p:sp>
        <p:nvSpPr>
          <p:cNvPr id="21" name="Text 16"/>
          <p:cNvSpPr txBox="1"/>
          <p:nvPr/>
        </p:nvSpPr>
        <p:spPr>
          <a:xfrm>
            <a:off x="1737360" y="3886200"/>
            <a:ext cx="3566160" cy="45720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Go multilevel</a:t>
            </a:r>
            <a:endParaRPr lang="en-US" sz="1800" dirty="0"/>
          </a:p>
        </p:txBody>
      </p:sp>
      <p:sp>
        <p:nvSpPr>
          <p:cNvPr id="22" name="Text 17"/>
          <p:cNvSpPr txBox="1"/>
          <p:nvPr/>
        </p:nvSpPr>
        <p:spPr>
          <a:xfrm>
            <a:off x="1737360" y="4370832"/>
            <a:ext cx="4023360" cy="91440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Several employees per organisation; multilevel SEM; power-planned strata (Faul et al., 2007)</a:t>
            </a:r>
            <a:endParaRPr lang="en-US" sz="1400" dirty="0"/>
          </a:p>
        </p:txBody>
      </p:sp>
      <p:sp>
        <p:nvSpPr>
          <p:cNvPr id="23" name="Shape 18"/>
          <p:cNvSpPr/>
          <p:nvPr/>
        </p:nvSpPr>
        <p:spPr>
          <a:xfrm>
            <a:off x="5440680" y="3886200"/>
            <a:ext cx="384048" cy="384048"/>
          </a:xfrm>
          <a:prstGeom prst="ellipse">
            <a:avLst/>
          </a:prstGeom>
          <a:solidFill>
            <a:srgbClr val="D1495B"/>
          </a:solidFill>
          <a:ln w="12700">
            <a:solidFill>
              <a:srgbClr val="D1495B"/>
            </a:solidFill>
            <a:prstDash val="solid"/>
          </a:ln>
        </p:spPr>
      </p:sp>
      <p:sp>
        <p:nvSpPr>
          <p:cNvPr id="24" name="Text 19"/>
          <p:cNvSpPr txBox="1"/>
          <p:nvPr/>
        </p:nvSpPr>
        <p:spPr>
          <a:xfrm>
            <a:off x="5440680" y="3886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p>
        </p:txBody>
      </p:sp>
      <p:sp>
        <p:nvSpPr>
          <p:cNvPr id="25" name="Shape 20"/>
          <p:cNvSpPr/>
          <p:nvPr/>
        </p:nvSpPr>
        <p:spPr>
          <a:xfrm>
            <a:off x="6217920" y="3657600"/>
            <a:ext cx="5440680" cy="1783080"/>
          </a:xfrm>
          <a:prstGeom prst="roundRect">
            <a:avLst>
              <a:gd name="adj" fmla="val 6154"/>
            </a:avLst>
          </a:prstGeom>
          <a:solidFill>
            <a:srgbClr val="FFFFFF"/>
          </a:solidFill>
          <a:ln w="12700">
            <a:solidFill>
              <a:srgbClr val="DDE3E8"/>
            </a:solidFill>
            <a:prstDash val="solid"/>
          </a:ln>
          <a:effectLst>
            <a:outerShdw sx="100000" sy="100000" kx="0" ky="0" algn="bl" rotWithShape="0" blurRad="101600" dist="25400" dir="5400000">
              <a:srgbClr val="000000">
                <a:alpha val="12000"/>
              </a:srgbClr>
            </a:outerShdw>
          </a:effectLst>
        </p:spPr>
      </p:sp>
      <p:sp>
        <p:nvSpPr>
          <p:cNvPr id="26" name="Shape 21"/>
          <p:cNvSpPr/>
          <p:nvPr/>
        </p:nvSpPr>
        <p:spPr>
          <a:xfrm>
            <a:off x="6446520" y="3931920"/>
            <a:ext cx="731520" cy="731520"/>
          </a:xfrm>
          <a:prstGeom prst="ellipse">
            <a:avLst/>
          </a:prstGeom>
          <a:solidFill>
            <a:srgbClr val="2A9D8F"/>
          </a:solidFill>
          <a:ln w="12700">
            <a:solidFill>
              <a:srgbClr val="2A9D8F"/>
            </a:solidFill>
            <a:prstDash val="solid"/>
          </a:ln>
        </p:spPr>
      </p:sp>
      <p:pic>
        <p:nvPicPr>
          <p:cNvPr id="27" name="Image 3" descr="preencoded.png">    </p:cNvPr>
          <p:cNvPicPr>
            <a:picLocks noChangeAspect="1"/>
          </p:cNvPicPr>
          <p:nvPr/>
        </p:nvPicPr>
        <p:blipFill>
          <a:blip r:embed="rId4"/>
          <a:stretch>
            <a:fillRect/>
          </a:stretch>
        </p:blipFill>
        <p:spPr>
          <a:xfrm>
            <a:off x="6629400" y="4114800"/>
            <a:ext cx="365760" cy="365760"/>
          </a:xfrm>
          <a:prstGeom prst="rect">
            <a:avLst/>
          </a:prstGeom>
        </p:spPr>
      </p:pic>
      <p:sp>
        <p:nvSpPr>
          <p:cNvPr id="28" name="Text 22"/>
          <p:cNvSpPr txBox="1"/>
          <p:nvPr/>
        </p:nvSpPr>
        <p:spPr>
          <a:xfrm>
            <a:off x="7406640" y="3886200"/>
            <a:ext cx="3566160" cy="45720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Measure culture, widen reach</a:t>
            </a:r>
            <a:endParaRPr lang="en-US" sz="1800" dirty="0"/>
          </a:p>
        </p:txBody>
      </p:sp>
      <p:sp>
        <p:nvSpPr>
          <p:cNvPr id="29" name="Text 23"/>
          <p:cNvSpPr txBox="1"/>
          <p:nvPr/>
        </p:nvSpPr>
        <p:spPr>
          <a:xfrm>
            <a:off x="7406640" y="4370832"/>
            <a:ext cx="4023360" cy="91440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Measure cultural values directly; add non-Western and smaller firms</a:t>
            </a:r>
            <a:endParaRPr lang="en-US" sz="1400" dirty="0"/>
          </a:p>
        </p:txBody>
      </p:sp>
      <p:sp>
        <p:nvSpPr>
          <p:cNvPr id="30" name="Shape 24"/>
          <p:cNvSpPr/>
          <p:nvPr/>
        </p:nvSpPr>
        <p:spPr>
          <a:xfrm>
            <a:off x="11109960" y="3886200"/>
            <a:ext cx="384048" cy="384048"/>
          </a:xfrm>
          <a:prstGeom prst="ellipse">
            <a:avLst/>
          </a:prstGeom>
          <a:solidFill>
            <a:srgbClr val="D1495B"/>
          </a:solidFill>
          <a:ln w="12700">
            <a:solidFill>
              <a:srgbClr val="D1495B"/>
            </a:solidFill>
            <a:prstDash val="solid"/>
          </a:ln>
        </p:spPr>
      </p:sp>
      <p:sp>
        <p:nvSpPr>
          <p:cNvPr id="31" name="Text 25"/>
          <p:cNvSpPr txBox="1"/>
          <p:nvPr/>
        </p:nvSpPr>
        <p:spPr>
          <a:xfrm>
            <a:off x="11109960" y="38862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C4</a:t>
            </a:r>
            <a:endParaRPr lang="en-US" sz="1100" dirty="0"/>
          </a:p>
        </p:txBody>
      </p:sp>
      <p:sp>
        <p:nvSpPr>
          <p:cNvPr id="32" name="Text 26"/>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400" b="1" dirty="0">
                <a:solidFill>
                  <a:srgbClr val="D1495B"/>
                </a:solidFill>
                <a:latin typeface="Calibri" pitchFamily="34" charset="0"/>
                <a:ea typeface="Calibri" pitchFamily="34" charset="-122"/>
                <a:cs typeface="Calibri" pitchFamily="34" charset="-120"/>
              </a:rPr>
              <a:t>Trade-off: </a:t>
            </a:r>
            <a:pPr indent="0" marL="0">
              <a:buNone/>
            </a:pPr>
            <a:r>
              <a:rPr lang="en-US" sz="1400" i="1" dirty="0">
                <a:solidFill>
                  <a:srgbClr val="1F3A5F"/>
                </a:solidFill>
                <a:latin typeface="Calibri" pitchFamily="34" charset="0"/>
                <a:ea typeface="Calibri" pitchFamily="34" charset="-122"/>
                <a:cs typeface="Calibri" pitchFamily="34" charset="-120"/>
              </a:rPr>
              <a:t>stronger causal and behavioural evidence costs more and raises ethical questions about deception in phishing simulations.</a:t>
            </a:r>
            <a:endParaRPr lang="en-US" sz="1400" dirty="0"/>
          </a:p>
        </p:txBody>
      </p:sp>
      <p:sp>
        <p:nvSpPr>
          <p:cNvPr id="33" name="Text 27"/>
          <p:cNvSpPr txBox="1"/>
          <p:nvPr/>
        </p:nvSpPr>
        <p:spPr>
          <a:xfrm>
            <a:off x="7955280" y="6400800"/>
            <a:ext cx="374904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Petrič &amp; Just (2025) critique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640080" y="54864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So what for business research?</a:t>
            </a:r>
            <a:endParaRPr lang="en-US" sz="3600" dirty="0"/>
          </a:p>
        </p:txBody>
      </p:sp>
      <p:sp>
        <p:nvSpPr>
          <p:cNvPr id="3" name="Shape 1"/>
          <p:cNvSpPr/>
          <p:nvPr/>
        </p:nvSpPr>
        <p:spPr>
          <a:xfrm>
            <a:off x="640080" y="1737360"/>
            <a:ext cx="3474720" cy="3291840"/>
          </a:xfrm>
          <a:prstGeom prst="roundRect">
            <a:avLst>
              <a:gd name="adj" fmla="val 3889"/>
            </a:avLst>
          </a:prstGeom>
          <a:solidFill>
            <a:srgbClr val="2A4A73"/>
          </a:solidFill>
          <a:ln w="12700">
            <a:solidFill>
              <a:srgbClr val="2A4A73"/>
            </a:solidFill>
            <a:prstDash val="solid"/>
          </a:ln>
        </p:spPr>
      </p:sp>
      <p:sp>
        <p:nvSpPr>
          <p:cNvPr id="4" name="Shape 2"/>
          <p:cNvSpPr/>
          <p:nvPr/>
        </p:nvSpPr>
        <p:spPr>
          <a:xfrm>
            <a:off x="914400" y="2011680"/>
            <a:ext cx="777240" cy="777240"/>
          </a:xfrm>
          <a:prstGeom prst="ellipse">
            <a:avLst/>
          </a:prstGeom>
          <a:solidFill>
            <a:srgbClr val="2A9D8F"/>
          </a:solidFill>
          <a:ln w="12700">
            <a:solidFill>
              <a:srgbClr val="2A9D8F"/>
            </a:solidFill>
            <a:prstDash val="solid"/>
          </a:ln>
        </p:spPr>
      </p:sp>
      <p:pic>
        <p:nvPicPr>
          <p:cNvPr id="5" name="Image 0" descr="preencoded.png">    </p:cNvPr>
          <p:cNvPicPr>
            <a:picLocks noChangeAspect="1"/>
          </p:cNvPicPr>
          <p:nvPr/>
        </p:nvPicPr>
        <p:blipFill>
          <a:blip r:embed="rId1"/>
          <a:stretch>
            <a:fillRect/>
          </a:stretch>
        </p:blipFill>
        <p:spPr>
          <a:xfrm>
            <a:off x="1108710" y="2205990"/>
            <a:ext cx="388620" cy="388620"/>
          </a:xfrm>
          <a:prstGeom prst="rect">
            <a:avLst/>
          </a:prstGeom>
        </p:spPr>
      </p:pic>
      <p:sp>
        <p:nvSpPr>
          <p:cNvPr id="6" name="Text 3"/>
          <p:cNvSpPr txBox="1"/>
          <p:nvPr/>
        </p:nvSpPr>
        <p:spPr>
          <a:xfrm>
            <a:off x="914400" y="2971800"/>
            <a:ext cx="292608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Valuable contribution</a:t>
            </a:r>
            <a:endParaRPr lang="en-US" sz="1900" dirty="0"/>
          </a:p>
        </p:txBody>
      </p:sp>
      <p:sp>
        <p:nvSpPr>
          <p:cNvPr id="7" name="Text 4"/>
          <p:cNvSpPr txBox="1"/>
          <p:nvPr/>
        </p:nvSpPr>
        <p:spPr>
          <a:xfrm>
            <a:off x="914400" y="3474720"/>
            <a:ext cx="2926080" cy="137160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Reframes employees as active defenders and tests the model rigorously across three countries.</a:t>
            </a:r>
            <a:endParaRPr lang="en-US" sz="1500" dirty="0"/>
          </a:p>
        </p:txBody>
      </p:sp>
      <p:sp>
        <p:nvSpPr>
          <p:cNvPr id="8" name="Shape 5"/>
          <p:cNvSpPr/>
          <p:nvPr/>
        </p:nvSpPr>
        <p:spPr>
          <a:xfrm>
            <a:off x="4389120" y="1737360"/>
            <a:ext cx="3474720" cy="3291840"/>
          </a:xfrm>
          <a:prstGeom prst="roundRect">
            <a:avLst>
              <a:gd name="adj" fmla="val 3889"/>
            </a:avLst>
          </a:prstGeom>
          <a:solidFill>
            <a:srgbClr val="2A4A73"/>
          </a:solidFill>
          <a:ln w="12700">
            <a:solidFill>
              <a:srgbClr val="2A4A73"/>
            </a:solidFill>
            <a:prstDash val="solid"/>
          </a:ln>
        </p:spPr>
      </p:sp>
      <p:sp>
        <p:nvSpPr>
          <p:cNvPr id="9" name="Shape 6"/>
          <p:cNvSpPr/>
          <p:nvPr/>
        </p:nvSpPr>
        <p:spPr>
          <a:xfrm>
            <a:off x="4663440" y="2011680"/>
            <a:ext cx="777240" cy="777240"/>
          </a:xfrm>
          <a:prstGeom prst="ellipse">
            <a:avLst/>
          </a:prstGeom>
          <a:solidFill>
            <a:srgbClr val="D1495B"/>
          </a:solidFill>
          <a:ln w="12700">
            <a:solidFill>
              <a:srgbClr val="D1495B"/>
            </a:solidFill>
            <a:prstDash val="solid"/>
          </a:ln>
        </p:spPr>
      </p:sp>
      <p:pic>
        <p:nvPicPr>
          <p:cNvPr id="10" name="Image 1" descr="preencoded.png">    </p:cNvPr>
          <p:cNvPicPr>
            <a:picLocks noChangeAspect="1"/>
          </p:cNvPicPr>
          <p:nvPr/>
        </p:nvPicPr>
        <p:blipFill>
          <a:blip r:embed="rId2"/>
          <a:stretch>
            <a:fillRect/>
          </a:stretch>
        </p:blipFill>
        <p:spPr>
          <a:xfrm>
            <a:off x="4857750" y="2205990"/>
            <a:ext cx="388620" cy="388620"/>
          </a:xfrm>
          <a:prstGeom prst="rect">
            <a:avLst/>
          </a:prstGeom>
        </p:spPr>
      </p:pic>
      <p:sp>
        <p:nvSpPr>
          <p:cNvPr id="11" name="Text 7"/>
          <p:cNvSpPr txBox="1"/>
          <p:nvPr/>
        </p:nvSpPr>
        <p:spPr>
          <a:xfrm>
            <a:off x="4663440" y="2971800"/>
            <a:ext cx="292608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Association, not causation</a:t>
            </a:r>
            <a:endParaRPr lang="en-US" sz="1900" dirty="0"/>
          </a:p>
        </p:txBody>
      </p:sp>
      <p:sp>
        <p:nvSpPr>
          <p:cNvPr id="12" name="Text 8"/>
          <p:cNvSpPr txBox="1"/>
          <p:nvPr/>
        </p:nvSpPr>
        <p:spPr>
          <a:xfrm>
            <a:off x="4663440" y="3474720"/>
            <a:ext cx="2926080" cy="137160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A cross-sectional, self-report design shows links between perceptions, not what drives behaviour.</a:t>
            </a:r>
            <a:endParaRPr lang="en-US" sz="1500" dirty="0"/>
          </a:p>
        </p:txBody>
      </p:sp>
      <p:sp>
        <p:nvSpPr>
          <p:cNvPr id="13" name="Shape 9"/>
          <p:cNvSpPr/>
          <p:nvPr/>
        </p:nvSpPr>
        <p:spPr>
          <a:xfrm>
            <a:off x="8138160" y="1737360"/>
            <a:ext cx="3474720" cy="3291840"/>
          </a:xfrm>
          <a:prstGeom prst="roundRect">
            <a:avLst>
              <a:gd name="adj" fmla="val 3889"/>
            </a:avLst>
          </a:prstGeom>
          <a:solidFill>
            <a:srgbClr val="2A4A73"/>
          </a:solidFill>
          <a:ln w="12700">
            <a:solidFill>
              <a:srgbClr val="2A4A73"/>
            </a:solidFill>
            <a:prstDash val="solid"/>
          </a:ln>
        </p:spPr>
      </p:sp>
      <p:sp>
        <p:nvSpPr>
          <p:cNvPr id="14" name="Shape 10"/>
          <p:cNvSpPr/>
          <p:nvPr/>
        </p:nvSpPr>
        <p:spPr>
          <a:xfrm>
            <a:off x="8412480" y="2011680"/>
            <a:ext cx="777240" cy="777240"/>
          </a:xfrm>
          <a:prstGeom prst="ellipse">
            <a:avLst/>
          </a:prstGeom>
          <a:solidFill>
            <a:srgbClr val="2A9D8F"/>
          </a:solidFill>
          <a:ln w="12700">
            <a:solidFill>
              <a:srgbClr val="2A9D8F"/>
            </a:solidFill>
            <a:prstDash val="solid"/>
          </a:ln>
        </p:spPr>
      </p:sp>
      <p:pic>
        <p:nvPicPr>
          <p:cNvPr id="15" name="Image 2" descr="preencoded.png">    </p:cNvPr>
          <p:cNvPicPr>
            <a:picLocks noChangeAspect="1"/>
          </p:cNvPicPr>
          <p:nvPr/>
        </p:nvPicPr>
        <p:blipFill>
          <a:blip r:embed="rId3"/>
          <a:stretch>
            <a:fillRect/>
          </a:stretch>
        </p:blipFill>
        <p:spPr>
          <a:xfrm>
            <a:off x="8606790" y="2205990"/>
            <a:ext cx="388620" cy="388620"/>
          </a:xfrm>
          <a:prstGeom prst="rect">
            <a:avLst/>
          </a:prstGeom>
        </p:spPr>
      </p:pic>
      <p:sp>
        <p:nvSpPr>
          <p:cNvPr id="16" name="Text 11"/>
          <p:cNvSpPr txBox="1"/>
          <p:nvPr/>
        </p:nvSpPr>
        <p:spPr>
          <a:xfrm>
            <a:off x="8412480" y="2971800"/>
            <a:ext cx="292608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Next step</a:t>
            </a:r>
            <a:endParaRPr lang="en-US" sz="1900" dirty="0"/>
          </a:p>
        </p:txBody>
      </p:sp>
      <p:sp>
        <p:nvSpPr>
          <p:cNvPr id="17" name="Text 12"/>
          <p:cNvSpPr txBox="1"/>
          <p:nvPr/>
        </p:nvSpPr>
        <p:spPr>
          <a:xfrm>
            <a:off x="8412480" y="3474720"/>
            <a:ext cx="2926080" cy="137160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Multilevel, longitudinal and behavioural designs; managers should pilot the levers as testable hypotheses.</a:t>
            </a:r>
            <a:endParaRPr lang="en-US" sz="1500" dirty="0"/>
          </a:p>
        </p:txBody>
      </p:sp>
      <p:sp>
        <p:nvSpPr>
          <p:cNvPr id="18" name="Text 13"/>
          <p:cNvSpPr txBox="1"/>
          <p:nvPr/>
        </p:nvSpPr>
        <p:spPr>
          <a:xfrm>
            <a:off x="640080" y="5486400"/>
            <a:ext cx="10972800" cy="548640"/>
          </a:xfrm>
          <a:prstGeom prst="rect">
            <a:avLst/>
          </a:prstGeom>
          <a:noFill/>
          <a:ln/>
        </p:spPr>
        <p:txBody>
          <a:bodyPr wrap="square" lIns="0" tIns="0" rIns="0" bIns="0" rtlCol="0" anchor="ctr"/>
          <a:lstStyle/>
          <a:p>
            <a:pPr indent="0" marL="0">
              <a:buNone/>
            </a:pPr>
            <a:r>
              <a:rPr lang="en-US" sz="2400" i="1" dirty="0">
                <a:solidFill>
                  <a:srgbClr val="E3F4F1"/>
                </a:solidFill>
                <a:latin typeface="Cambria" pitchFamily="34" charset="0"/>
                <a:ea typeface="Cambria" pitchFamily="34" charset="-122"/>
                <a:cs typeface="Cambria" pitchFamily="34" charset="-120"/>
              </a:rPr>
              <a:t>Thank you. Questions?</a:t>
            </a:r>
            <a:endParaRPr lang="en-US" sz="2400" dirty="0"/>
          </a:p>
        </p:txBody>
      </p:sp>
      <p:sp>
        <p:nvSpPr>
          <p:cNvPr id="19" name="Text 14"/>
          <p:cNvSpPr txBox="1"/>
          <p:nvPr/>
        </p:nvSpPr>
        <p:spPr>
          <a:xfrm>
            <a:off x="7955280" y="6400800"/>
            <a:ext cx="374904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Petrič &amp; Just (2025) critique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References</a:t>
            </a:r>
            <a:endParaRPr lang="en-US" sz="3400" dirty="0"/>
          </a:p>
        </p:txBody>
      </p:sp>
      <p:sp>
        <p:nvSpPr>
          <p:cNvPr id="3" name="Text 1"/>
          <p:cNvSpPr txBox="1"/>
          <p:nvPr/>
        </p:nvSpPr>
        <p:spPr>
          <a:xfrm>
            <a:off x="548640" y="1234440"/>
            <a:ext cx="11109960" cy="5120640"/>
          </a:xfrm>
          <a:prstGeom prst="rect">
            <a:avLst/>
          </a:prstGeom>
          <a:noFill/>
          <a:ln/>
        </p:spPr>
        <p:txBody>
          <a:bodyPr wrap="square" lIns="0" tIns="0" rIns="0" bIns="0" rtlCol="0" anchor="t"/>
          <a:lstStyle/>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Brislin, R. W. (1970). Back-translation for cross-cultural research. Journal of Cross-Cultural Psychology, 1(3), 185–216. https://doi.org/10.1177/135910457000100301</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Callegaro, M., Baker, R., Bethlehem, J., Göritz, A. S., Krosnick, J. A., &amp; Lavrakas, P. J. (Eds.). (2014). Online panel research: A data quality perspective. Wiley.</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Faul, F., Erdfelder, E., Lang, A.-G., &amp; Buchner, A. (2007). G*Power 3: A flexible statistical power analysis program for the social, behavioral, and biomedical sciences. Behavior Research Methods, 39(2), 175–191. https://doi.org/10.3758/BF03193146</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Henseler, J., Ringle, C. M., &amp; Sarstedt, M. (2015). A new criterion for assessing discriminant validity in variance-based structural equation modeling. Journal of the Academy of Marketing Science, 43(1), 115–135. https://doi.org/10.1007/s11747-014-0403-8</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Lain, D., Kostiainen, K., &amp; Čapkun, S. (2022). Phishing in organizations: Findings from a large-scale and long-term study. In 2022 IEEE Symposium on Security and Privacy (pp. 842–859). IEEE. https://doi.org/10.1109/SP46214.2022.9833766</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Maxwell, S. E., &amp; Cole, D. A. (2007). Bias in cross-sectional analyses of longitudinal mediation. Psychological Methods, 12(1), 23–44. https://doi.org/10.1037/1082-989X.12.1.23</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Petrič, G., &amp; Just, J. N. (2025). Information security culture and phishing-reporting model: Structural equivalence across Germany, UK, and USA. Journal of Cybersecurity, 11(1), Article tyaf011. https://doi.org/10.1093/cybsec/tyaf011</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Podsakoff, P. M., MacKenzie, S. B., Lee, J.-Y., &amp; Podsakoff, N. P. (2003). Common method biases in behavioral research: A critical review of the literature and recommended remedies. Journal of Applied Psychology, 88(5), 879–903. https://doi.org/10.1037/0021-9010.88.5.879</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Saunders, M. N. K., Lewis, P., &amp; Thornhill, A. (2023). Research methods for business students (9th ed.). Pearson.</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Shadish, W. R., Cook, T. D., &amp; Campbell, D. T. (2002). Experimental and quasi-experimental designs for generalized causal inference. Houghton Mifflin.</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Sheeran, P. (2002). Intention–behavior relations: A conceptual and empirical review. European Review of Social Psychology, 12(1), 1–36. https://doi.org/10.1080/14792772143000003</a:t>
            </a:r>
            <a:endParaRPr lang="en-US" sz="1050" dirty="0"/>
          </a:p>
          <a:p>
            <a:pPr indent="0" marL="0">
              <a:spcAft>
                <a:spcPts val="500"/>
              </a:spcAft>
              <a:buNone/>
            </a:pPr>
            <a:r>
              <a:rPr lang="en-US" sz="1050" dirty="0">
                <a:solidFill>
                  <a:srgbClr val="1F3A5F"/>
                </a:solidFill>
                <a:latin typeface="Calibri" pitchFamily="34" charset="0"/>
                <a:ea typeface="Calibri" pitchFamily="34" charset="-122"/>
                <a:cs typeface="Calibri" pitchFamily="34" charset="-120"/>
              </a:rPr>
              <a:t>Vandenberg, R. J., &amp; Lance, C. E. (2000). A review and synthesis of the measurement invariance literature: Suggestions, practices, and recommendations for organizational research. Organizational Research Methods, 3(1), 4–70. https://doi.org/10.1177/109442810031002</a:t>
            </a:r>
            <a:endParaRPr lang="en-US" sz="1050" dirty="0"/>
          </a:p>
        </p:txBody>
      </p:sp>
      <p:sp>
        <p:nvSpPr>
          <p:cNvPr id="4" name="Text 2"/>
          <p:cNvSpPr txBox="1"/>
          <p:nvPr/>
        </p:nvSpPr>
        <p:spPr>
          <a:xfrm>
            <a:off x="7955280" y="6400800"/>
            <a:ext cx="374904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Petrič &amp; Just (2025) critique  ·  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Critique of Petrič &amp; Just (2025)</dc:title>
  <dc:subject>PptxGenJS Presentation</dc:subject>
  <dc:creator>PptxGenJS</dc:creator>
  <cp:lastModifiedBy>PptxGenJS</cp:lastModifiedBy>
  <cp:revision>1</cp:revision>
  <dcterms:created xsi:type="dcterms:W3CDTF">2026-09-29T18:46:17Z</dcterms:created>
  <dcterms:modified xsi:type="dcterms:W3CDTF">2026-09-29T18:46:17Z</dcterms:modified>
</cp:coreProperties>
</file>